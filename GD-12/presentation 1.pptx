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4A5568"/>
                </a:solidFill>
                <a:latin typeface="Arial"/>
              </a:rPr>
              <a:t>Detection Rate by Fraud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Detection Rate (%)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CVV Fraud</c:v>
                  </c:pt>
                  <c:pt idx="1">
                    <c:v>Card Cloning</c:v>
                  </c:pt>
                  <c:pt idx="2">
                    <c:v>Acct. Takeover</c:v>
                  </c:pt>
                  <c:pt idx="3">
                    <c:v>Synthetic ID</c:v>
                  </c:pt>
                  <c:pt idx="4">
                    <c:v>Velocity Attack</c:v>
                  </c:pt>
                  <c:pt idx="5">
                    <c:v>Geo Anomaly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</c:v>
                </c:pt>
                <c:pt idx="1">
                  <c:v>94</c:v>
                </c:pt>
                <c:pt idx="2">
                  <c:v>89</c:v>
                </c:pt>
                <c:pt idx="3">
                  <c:v>85</c:v>
                </c:pt>
                <c:pt idx="4">
                  <c:v>92</c:v>
                </c:pt>
                <c:pt idx="5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8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77640" y="0"/>
            <a:ext cx="73152" cy="51435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34747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4747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34747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0" y="34747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97480" y="34747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37947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7947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08760" y="37947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37947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7480" y="37947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41148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1148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08760" y="41148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03120" y="41148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97480" y="41148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44348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4348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08760" y="44348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03120" y="44348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97480" y="44348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75488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475488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08760" y="475488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03120" y="475488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7480" y="475488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50749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50749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08760" y="50749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03120" y="50749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7480" y="50749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02920"/>
            <a:ext cx="640080" cy="6400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47548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20040" y="12801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320040" y="2011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400" kern="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_AI</a:t>
            </a:r>
            <a:endParaRPr lang="en-US" sz="3400" dirty="0"/>
          </a:p>
        </p:txBody>
      </p:sp>
      <p:sp>
        <p:nvSpPr>
          <p:cNvPr id="38" name="Shape 36"/>
          <p:cNvSpPr/>
          <p:nvPr/>
        </p:nvSpPr>
        <p:spPr>
          <a:xfrm>
            <a:off x="320040" y="2743200"/>
            <a:ext cx="256032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28346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System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v2.4.1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297680" y="5943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Card Fraud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System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4297680" y="20574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AI-powered platform combining machine learning anomaly detection with Claude AI expert analysis to identify and prevent fraudulent transactions in real time.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297680" y="3246120"/>
            <a:ext cx="2011680" cy="713232"/>
          </a:xfrm>
          <a:prstGeom prst="rect">
            <a:avLst/>
          </a:prstGeom>
          <a:solidFill>
            <a:srgbClr val="F7F8FC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297680" y="3246120"/>
            <a:ext cx="54864" cy="71323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34840" y="33009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94.7%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4434840" y="3666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92240" y="3246120"/>
            <a:ext cx="2011680" cy="713232"/>
          </a:xfrm>
          <a:prstGeom prst="rect">
            <a:avLst/>
          </a:prstGeom>
          <a:solidFill>
            <a:srgbClr val="F7F8FC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92240" y="3246120"/>
            <a:ext cx="54864" cy="71323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29400" y="33009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98.1%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629400" y="3666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297680" y="4069080"/>
            <a:ext cx="2011680" cy="713232"/>
          </a:xfrm>
          <a:prstGeom prst="rect">
            <a:avLst/>
          </a:prstGeom>
          <a:solidFill>
            <a:srgbClr val="F7F8FC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297680" y="4069080"/>
            <a:ext cx="54864" cy="71323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34840" y="41239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&lt;400ms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4434840" y="44897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492240" y="4069080"/>
            <a:ext cx="2011680" cy="713232"/>
          </a:xfrm>
          <a:prstGeom prst="rect">
            <a:avLst/>
          </a:prstGeom>
          <a:solidFill>
            <a:srgbClr val="F7F8FC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492240" y="4069080"/>
            <a:ext cx="54864" cy="71323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29400" y="41239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6629400" y="44897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Signals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114800" cy="749808"/>
          </a:xfrm>
          <a:prstGeom prst="rect">
            <a:avLst/>
          </a:prstGeom>
          <a:solidFill>
            <a:srgbClr val="F7F8FC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389888"/>
            <a:ext cx="438912" cy="43891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898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" y="13258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6367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challenge of credit card fraud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4114800" cy="749808"/>
          </a:xfrm>
          <a:prstGeom prst="rect">
            <a:avLst/>
          </a:prstGeom>
          <a:solidFill>
            <a:srgbClr val="F7F8FC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56048" y="1389888"/>
            <a:ext cx="438912" cy="43891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3898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04688" y="13258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04688" y="16367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SENTINEL_AI platform overview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2304288"/>
            <a:ext cx="438912" cy="43891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5568" y="22402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25511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ML Engine, Claude AI layers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1488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56048" y="2304288"/>
            <a:ext cx="438912" cy="43891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22402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Detection Engine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04688" y="25511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10-signal risk scoring methodology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63240"/>
            <a:ext cx="4114800" cy="749808"/>
          </a:xfrm>
          <a:prstGeom prst="rect">
            <a:avLst/>
          </a:prstGeom>
          <a:solidFill>
            <a:srgbClr val="F7F8FC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" y="3218688"/>
            <a:ext cx="438912" cy="43891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218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15568" y="31546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&amp; UI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15568" y="34655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Three-tab dashboard walkthrough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063240"/>
            <a:ext cx="4114800" cy="749808"/>
          </a:xfrm>
          <a:prstGeom prst="rect">
            <a:avLst/>
          </a:prstGeom>
          <a:solidFill>
            <a:srgbClr val="F7F8FC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56048" y="3218688"/>
            <a:ext cx="438912" cy="43891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3218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04688" y="31546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04688" y="34655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AUC-ROC benchmarks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9776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66928" y="4133088"/>
            <a:ext cx="438912" cy="43891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4133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15568" y="40690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15568" y="43799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ML algorithms, Anthropic API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39776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956048" y="4133088"/>
            <a:ext cx="438912" cy="43891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4133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04688" y="40690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504688" y="43799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Impact, scalability, and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4630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046720" y="14630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0" y="1188720"/>
            <a:ext cx="27432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9AA5B4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26187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$32B+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200400" y="20574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card fraud globally each year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26060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834640"/>
            <a:ext cx="2606040" cy="5486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926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" y="3456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Gap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803904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Fraudsters operate in milliseconds. Legacy rule-based systems cannot adapt to novel attack vectors without manual re-tuning.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72968" y="2834640"/>
            <a:ext cx="26060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2834640"/>
            <a:ext cx="260604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72968" y="2926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55848" y="3456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Crisis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55848" y="3803904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 positives block legitimate customers. Low thresholds miss fraud. Striking the right balance requires advanced ML.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80176" y="2834640"/>
            <a:ext cx="26060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80176" y="2834640"/>
            <a:ext cx="2606040" cy="54864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0176" y="2926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163056" y="3456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Scale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63056" y="3803904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fraud exploits multi-channel vectors, synthetic identities, and social engineering simultaneously across regions.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4630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046720" y="14630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1508760" cy="1371600"/>
          </a:xfrm>
          <a:prstGeom prst="rect">
            <a:avLst/>
          </a:prstGeom>
          <a:solidFill>
            <a:srgbClr val="F7F8FC"/>
          </a:solidFill>
          <a:ln w="19050">
            <a:solidFill>
              <a:srgbClr val="2B6CB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15568"/>
            <a:ext cx="1508760" cy="5486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070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173736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38528" y="1764792"/>
            <a:ext cx="173736" cy="36576"/>
          </a:xfrm>
          <a:prstGeom prst="rect">
            <a:avLst/>
          </a:prstGeom>
          <a:solidFill>
            <a:srgbClr val="A0AEC0"/>
          </a:solidFill>
          <a:ln w="12700">
            <a:solidFill>
              <a:srgbClr val="A0AE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30552" y="1115568"/>
            <a:ext cx="1508760" cy="1371600"/>
          </a:xfrm>
          <a:prstGeom prst="rect">
            <a:avLst/>
          </a:prstGeom>
          <a:solidFill>
            <a:srgbClr val="F7F8FC"/>
          </a:solidFill>
          <a:ln w="19050">
            <a:solidFill>
              <a:srgbClr val="2C3E6B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30552" y="1115568"/>
            <a:ext cx="1508760" cy="54864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30552" y="12070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30552" y="173736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0" y="1764792"/>
            <a:ext cx="173736" cy="36576"/>
          </a:xfrm>
          <a:prstGeom prst="rect">
            <a:avLst/>
          </a:prstGeom>
          <a:solidFill>
            <a:srgbClr val="A0AEC0"/>
          </a:solidFill>
          <a:ln w="12700">
            <a:solidFill>
              <a:srgbClr val="A0AE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9624" y="1115568"/>
            <a:ext cx="1508760" cy="1371600"/>
          </a:xfrm>
          <a:prstGeom prst="rect">
            <a:avLst/>
          </a:prstGeom>
          <a:solidFill>
            <a:srgbClr val="F7F8FC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9624" y="1115568"/>
            <a:ext cx="150876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9624" y="12070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849624" y="173736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76672" y="1764792"/>
            <a:ext cx="173736" cy="36576"/>
          </a:xfrm>
          <a:prstGeom prst="rect">
            <a:avLst/>
          </a:prstGeom>
          <a:solidFill>
            <a:srgbClr val="A0AEC0"/>
          </a:solidFill>
          <a:ln w="12700">
            <a:solidFill>
              <a:srgbClr val="A0AE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68696" y="1115568"/>
            <a:ext cx="1508760" cy="1371600"/>
          </a:xfrm>
          <a:prstGeom prst="rect">
            <a:avLst/>
          </a:prstGeom>
          <a:solidFill>
            <a:srgbClr val="F7F8FC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68696" y="1115568"/>
            <a:ext cx="15087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68696" y="12070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568696" y="173736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95744" y="1764792"/>
            <a:ext cx="173736" cy="36576"/>
          </a:xfrm>
          <a:prstGeom prst="rect">
            <a:avLst/>
          </a:prstGeom>
          <a:solidFill>
            <a:srgbClr val="A0AEC0"/>
          </a:solidFill>
          <a:ln w="12700">
            <a:solidFill>
              <a:srgbClr val="A0AE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87768" y="1115568"/>
            <a:ext cx="1508760" cy="1371600"/>
          </a:xfrm>
          <a:prstGeom prst="rect">
            <a:avLst/>
          </a:prstGeom>
          <a:solidFill>
            <a:srgbClr val="F7F8FC"/>
          </a:solidFill>
          <a:ln w="19050">
            <a:solidFill>
              <a:srgbClr val="2D6A4F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87768" y="1115568"/>
            <a:ext cx="1508760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87768" y="12070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287768" y="173736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Alert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2743200"/>
            <a:ext cx="4160520" cy="1005840"/>
          </a:xfrm>
          <a:prstGeom prst="rect">
            <a:avLst/>
          </a:prstGeom>
          <a:solidFill>
            <a:srgbClr val="F7F8FC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2743200"/>
            <a:ext cx="64008" cy="10058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28163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10-Signal Risk Engine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" y="312724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CVV failure, billing mismatch, velocity abuse, geo-anomaly, unusual hour, high amount, new merchant, category drift, round-amount, and rapid succession.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2743200"/>
            <a:ext cx="4160520" cy="1005840"/>
          </a:xfrm>
          <a:prstGeom prst="rect">
            <a:avLst/>
          </a:prstGeom>
          <a:solidFill>
            <a:srgbClr val="F7F8FC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2743200"/>
            <a:ext cx="64008" cy="100584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28163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3-Tier Verdict System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83480" y="312724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(0–39), SUSPICIOUS (40–69), FRAUD (70–100) — each with confidence score and processing time under 400 ms.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11480" y="3858768"/>
            <a:ext cx="4160520" cy="1005840"/>
          </a:xfrm>
          <a:prstGeom prst="rect">
            <a:avLst/>
          </a:prstGeom>
          <a:solidFill>
            <a:srgbClr val="F7F8FC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11480" y="3858768"/>
            <a:ext cx="64008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39319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AI Integration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94360" y="424281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transaction receives live, plain-language expert commentary from Claude API — translating risk scores into actionable analyst insights.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00600" y="3858768"/>
            <a:ext cx="4160520" cy="1005840"/>
          </a:xfrm>
          <a:prstGeom prst="rect">
            <a:avLst/>
          </a:prstGeom>
          <a:solidFill>
            <a:srgbClr val="F7F8FC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00600" y="3858768"/>
            <a:ext cx="64008" cy="10058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39319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Analytics Dashboard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983480" y="424281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stats bar, transaction history log, fraud-by-category charts, 24-hour heatmap, model performance metrics (Precision 94.7%, AUC-ROC 98.1%).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4630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046720" y="14630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2724912" cy="5669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11556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444752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JSX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" y="1737360"/>
            <a:ext cx="25420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" y="1737360"/>
            <a:ext cx="45720" cy="43891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73736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Form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2267712"/>
            <a:ext cx="25420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" y="2267712"/>
            <a:ext cx="45720" cy="43891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226771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Gauge (SVG)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" y="2798064"/>
            <a:ext cx="25420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2798064"/>
            <a:ext cx="45720" cy="43891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279806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Badge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" y="3328416"/>
            <a:ext cx="25420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" y="3328416"/>
            <a:ext cx="45720" cy="43891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332841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Table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" y="3858768"/>
            <a:ext cx="25420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" y="3858768"/>
            <a:ext cx="45720" cy="43891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385876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Charts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" y="4389120"/>
            <a:ext cx="25420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" y="4389120"/>
            <a:ext cx="45720" cy="43891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" y="438912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 Panel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27248" y="2148840"/>
            <a:ext cx="118872" cy="36576"/>
          </a:xfrm>
          <a:prstGeom prst="rect">
            <a:avLst/>
          </a:prstGeom>
          <a:solidFill>
            <a:srgbClr val="A0AEC0"/>
          </a:solidFill>
          <a:ln w="12700">
            <a:solidFill>
              <a:srgbClr val="A0AE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64408" y="1115568"/>
            <a:ext cx="2724912" cy="5669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64408" y="111556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ENGINE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64408" y="1444752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In-Browser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55848" y="1737360"/>
            <a:ext cx="25420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55848" y="1737360"/>
            <a:ext cx="45720" cy="43891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65576" y="173736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55848" y="2267712"/>
            <a:ext cx="25420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55848" y="2267712"/>
            <a:ext cx="45720" cy="43891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65576" y="226771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55848" y="2798064"/>
            <a:ext cx="25420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355848" y="2798064"/>
            <a:ext cx="45720" cy="43891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65576" y="279806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(10x)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355848" y="3328416"/>
            <a:ext cx="25420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355848" y="3328416"/>
            <a:ext cx="45720" cy="43891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65576" y="332841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Normalizer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355848" y="3858768"/>
            <a:ext cx="25420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355848" y="3858768"/>
            <a:ext cx="45720" cy="43891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65576" y="385876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Calc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355848" y="4389120"/>
            <a:ext cx="25420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355848" y="4389120"/>
            <a:ext cx="45720" cy="43891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65576" y="438912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Aggregator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07608" y="2148840"/>
            <a:ext cx="118872" cy="36576"/>
          </a:xfrm>
          <a:prstGeom prst="rect">
            <a:avLst/>
          </a:prstGeom>
          <a:solidFill>
            <a:srgbClr val="A0AEC0"/>
          </a:solidFill>
          <a:ln w="12700">
            <a:solidFill>
              <a:srgbClr val="A0AEC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44768" y="1115568"/>
            <a:ext cx="2724912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144768" y="111556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AI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144768" y="1444752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236208" y="1737360"/>
            <a:ext cx="25420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236208" y="1737360"/>
            <a:ext cx="4572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45936" y="173736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Analysis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36208" y="2267712"/>
            <a:ext cx="25420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236208" y="2267712"/>
            <a:ext cx="4572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45936" y="226771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Insight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36208" y="2798064"/>
            <a:ext cx="25420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236208" y="2798064"/>
            <a:ext cx="4572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45936" y="279806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Explanation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236208" y="3328416"/>
            <a:ext cx="25420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236208" y="3328416"/>
            <a:ext cx="4572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45936" y="332841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236208" y="3858768"/>
            <a:ext cx="25420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236208" y="3858768"/>
            <a:ext cx="4572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45936" y="385876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Commentary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236208" y="4389120"/>
            <a:ext cx="25420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236208" y="4389120"/>
            <a:ext cx="4572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45936" y="438912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Rationale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4630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Detection Engine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046720" y="14630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Signals &amp; Weights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4937760" cy="310896"/>
          </a:xfrm>
          <a:prstGeom prst="rect">
            <a:avLst/>
          </a:prstGeom>
          <a:solidFill>
            <a:srgbClr val="F7F8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CVV Verification Failed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47872" y="1591056"/>
            <a:ext cx="1371600" cy="9144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47872" y="1591056"/>
            <a:ext cx="123444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48132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828800"/>
            <a:ext cx="4937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8288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Address Mismatch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47872" y="1938528"/>
            <a:ext cx="1371600" cy="9144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47872" y="1938528"/>
            <a:ext cx="109728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82880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2176272"/>
            <a:ext cx="4937760" cy="310896"/>
          </a:xfrm>
          <a:prstGeom prst="rect">
            <a:avLst/>
          </a:prstGeom>
          <a:solidFill>
            <a:srgbClr val="F7F8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1762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Velocity (5+ tx/24h)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47872" y="2286000"/>
            <a:ext cx="1371600" cy="9144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47872" y="2286000"/>
            <a:ext cx="96012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1762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2523744"/>
            <a:ext cx="4937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52374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&gt; $5,000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47872" y="2633472"/>
            <a:ext cx="1371600" cy="9144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47872" y="2633472"/>
            <a:ext cx="96012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52374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871216"/>
            <a:ext cx="4937760" cy="310896"/>
          </a:xfrm>
          <a:prstGeom prst="rect">
            <a:avLst/>
          </a:prstGeom>
          <a:solidFill>
            <a:srgbClr val="F7F8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87121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Succession (&lt; 60s)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547872" y="2980944"/>
            <a:ext cx="1371600" cy="9144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47872" y="2980944"/>
            <a:ext cx="822960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87121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3218688"/>
            <a:ext cx="4937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21868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Transaction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547872" y="3328416"/>
            <a:ext cx="1371600" cy="9144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47872" y="3328416"/>
            <a:ext cx="685800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21868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" y="3566160"/>
            <a:ext cx="4937760" cy="310896"/>
          </a:xfrm>
          <a:prstGeom prst="rect">
            <a:avLst/>
          </a:prstGeom>
          <a:solidFill>
            <a:srgbClr val="F7F8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5661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Hour (00:00–04:00)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547872" y="3675888"/>
            <a:ext cx="1371600" cy="9144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47872" y="3675888"/>
            <a:ext cx="548640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356616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1480" y="3913632"/>
            <a:ext cx="4937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91363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Merchant Category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547872" y="4023360"/>
            <a:ext cx="1371600" cy="9144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47872" y="4023360"/>
            <a:ext cx="411480" cy="914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0" y="391363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4261104"/>
            <a:ext cx="4937760" cy="310896"/>
          </a:xfrm>
          <a:prstGeom prst="rect">
            <a:avLst/>
          </a:prstGeom>
          <a:solidFill>
            <a:srgbClr val="F7F8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426110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Unknown Merchant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547872" y="4370832"/>
            <a:ext cx="1371600" cy="9144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47872" y="4370832"/>
            <a:ext cx="274320" cy="914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37760" y="426110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11480" y="4608576"/>
            <a:ext cx="4937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46085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Round Amount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547872" y="4718304"/>
            <a:ext cx="1371600" cy="9144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47872" y="4718304"/>
            <a:ext cx="219456" cy="914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460857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623560" y="11155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 Tiers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623560" y="1481328"/>
            <a:ext cx="3200400" cy="1097280"/>
          </a:xfrm>
          <a:prstGeom prst="rect">
            <a:avLst/>
          </a:prstGeom>
          <a:solidFill>
            <a:srgbClr val="F7F8FC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5623560" y="1481328"/>
            <a:ext cx="32004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42432" y="159105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5742432" y="190195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70 – 100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742432" y="212140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immediately. Flag account. Alert fraud team. Generate incident report.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623560" y="2688336"/>
            <a:ext cx="3200400" cy="1097280"/>
          </a:xfrm>
          <a:prstGeom prst="rect">
            <a:avLst/>
          </a:prstGeom>
          <a:solidFill>
            <a:srgbClr val="F7F8FC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5623560" y="2688336"/>
            <a:ext cx="320040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42432" y="279806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SUSPICIOUS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5742432" y="310896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40 – 69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742432" y="3328416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step-up authentication. Log for pattern review. Optional soft decline.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623560" y="3895344"/>
            <a:ext cx="3200400" cy="1097280"/>
          </a:xfrm>
          <a:prstGeom prst="rect">
            <a:avLst/>
          </a:prstGeom>
          <a:solidFill>
            <a:srgbClr val="F7F8FC"/>
          </a:solidFill>
          <a:ln w="19050">
            <a:solidFill>
              <a:srgbClr val="2D6A4F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5623560" y="3895344"/>
            <a:ext cx="3200400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42432" y="40050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LEGITIMATE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5742432" y="431596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 – 39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742432" y="4535424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transaction. Record in audit log with confidence score attached.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4630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&amp; UI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046720" y="14630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272491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115568"/>
            <a:ext cx="2724912" cy="5486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07008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21208" y="16824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Tab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10-input transaction form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SVG risk gauge (0–100)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/ SUSPICIOUS / LEGITIMATE badge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Enumerated risk flag list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64408" y="1115568"/>
            <a:ext cx="272491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1115568"/>
            <a:ext cx="2724912" cy="54864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207008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01568" y="16824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Tab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47288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transaction ledger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verdict rows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Merchant, category, amount display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row reveal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44768" y="1115568"/>
            <a:ext cx="272491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115568"/>
            <a:ext cx="2724912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1207008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81928" y="16824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Patterns Tab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27648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by category bar chart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distribution heatmap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fraud origin countries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metrics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3054096"/>
            <a:ext cx="272491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3054096"/>
            <a:ext cx="2724912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145536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21208" y="36210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Insight Panel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395020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integration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analyst commentary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Per-transaction AI insight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non-blocking calls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64408" y="3054096"/>
            <a:ext cx="272491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64408" y="3054096"/>
            <a:ext cx="2724912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3145536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401568" y="36210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Stats Bar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47288" y="395020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 analyzed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count tracker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flag counter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value blocked ($)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44768" y="3054096"/>
            <a:ext cx="272491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44768" y="3054096"/>
            <a:ext cx="2724912" cy="54864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44768" y="3145536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281928" y="36210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Design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27648" y="395020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dark-navy branding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Monochrome terminal motif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Scan-line overlay animation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Military-grade visual identity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4630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046720" y="14630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1920240" cy="1389888"/>
          </a:xfrm>
          <a:prstGeom prst="rect">
            <a:avLst/>
          </a:prstGeom>
          <a:solidFill>
            <a:srgbClr val="F7F8FC"/>
          </a:solidFill>
          <a:ln w="19050">
            <a:solidFill>
              <a:srgbClr val="2D6A4F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115568"/>
            <a:ext cx="1920240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070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94.7%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84048" y="18836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1579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fraud / all flagged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87168" y="1115568"/>
            <a:ext cx="1920240" cy="1389888"/>
          </a:xfrm>
          <a:prstGeom prst="rect">
            <a:avLst/>
          </a:prstGeom>
          <a:solidFill>
            <a:srgbClr val="F7F8FC"/>
          </a:solidFill>
          <a:ln w="19050">
            <a:solidFill>
              <a:srgbClr val="2B6CB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1115568"/>
            <a:ext cx="1920240" cy="5486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2070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91.2%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487168" y="18836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87168" y="21579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caught / all actual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90288" y="1115568"/>
            <a:ext cx="1920240" cy="1389888"/>
          </a:xfrm>
          <a:prstGeom prst="rect">
            <a:avLst/>
          </a:prstGeom>
          <a:solidFill>
            <a:srgbClr val="F7F8FC"/>
          </a:solidFill>
          <a:ln w="19050">
            <a:solidFill>
              <a:srgbClr val="2C3E6B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90288" y="1115568"/>
            <a:ext cx="1920240" cy="54864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12070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3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92.9%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590288" y="18836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Score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90288" y="21579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P &amp; 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693408" y="1115568"/>
            <a:ext cx="1920240" cy="1389888"/>
          </a:xfrm>
          <a:prstGeom prst="rect">
            <a:avLst/>
          </a:prstGeom>
          <a:solidFill>
            <a:srgbClr val="F7F8FC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93408" y="1115568"/>
            <a:ext cx="192024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3408" y="12070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98.1%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693408" y="18836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AUC-ROC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93408" y="21579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ROC curve</a:t>
            </a:r>
            <a:endParaRPr lang="en-US" sz="85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384048" y="2743200"/>
          <a:ext cx="51206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Shape 24"/>
          <p:cNvSpPr/>
          <p:nvPr/>
        </p:nvSpPr>
        <p:spPr>
          <a:xfrm>
            <a:off x="5715000" y="2743200"/>
            <a:ext cx="1600200" cy="960120"/>
          </a:xfrm>
          <a:prstGeom prst="rect">
            <a:avLst/>
          </a:prstGeom>
          <a:solidFill>
            <a:srgbClr val="F7F8FC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715000" y="2743200"/>
            <a:ext cx="160020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15000" y="28346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2.3%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5715000" y="33375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7452360" y="2743200"/>
            <a:ext cx="1600200" cy="960120"/>
          </a:xfrm>
          <a:prstGeom prst="rect">
            <a:avLst/>
          </a:prstGeom>
          <a:solidFill>
            <a:srgbClr val="F7F8FC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7452360" y="2743200"/>
            <a:ext cx="160020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452360" y="28346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&lt;400ms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7452360" y="33375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Response Time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5715000" y="3822192"/>
            <a:ext cx="1600200" cy="960120"/>
          </a:xfrm>
          <a:prstGeom prst="rect">
            <a:avLst/>
          </a:prstGeom>
          <a:solidFill>
            <a:srgbClr val="F7F8FC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715000" y="3822192"/>
            <a:ext cx="1600200" cy="4572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715000" y="391363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847+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5715000" y="4416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Analyzed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7452360" y="3822192"/>
            <a:ext cx="1600200" cy="960120"/>
          </a:xfrm>
          <a:prstGeom prst="rect">
            <a:avLst/>
          </a:prstGeom>
          <a:solidFill>
            <a:srgbClr val="F7F8FC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52360" y="3822192"/>
            <a:ext cx="1600200" cy="45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452360" y="391363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$127K+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7452360" y="4416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Blocked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4630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046720" y="14630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2724912" cy="6400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115568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" y="1481328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CSS-in-JS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" y="1828800"/>
            <a:ext cx="25420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" y="1828800"/>
            <a:ext cx="54864" cy="71323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9019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18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" y="223113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framework &amp; state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" y="2633472"/>
            <a:ext cx="25420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2633472"/>
            <a:ext cx="54864" cy="71323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27066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SVG Canvas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" y="30358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risk gauge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" y="3438144"/>
            <a:ext cx="25420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" y="3438144"/>
            <a:ext cx="54864" cy="71323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351129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 API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" y="38404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Anthropic API calls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" y="4242816"/>
            <a:ext cx="25420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" y="4242816"/>
            <a:ext cx="54864" cy="71323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43159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CSS-in-JS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" y="464515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dynamic theming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64408" y="1115568"/>
            <a:ext cx="2724912" cy="6400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64408" y="1115568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Engine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264408" y="1481328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In-Browser Detection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55848" y="1828800"/>
            <a:ext cx="25420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55848" y="1828800"/>
            <a:ext cx="54864" cy="7132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93008" y="19019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Forest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93008" y="223113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model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55848" y="2633472"/>
            <a:ext cx="25420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55848" y="2633472"/>
            <a:ext cx="54864" cy="7132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27066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Classifier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93008" y="30358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classification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55848" y="3438144"/>
            <a:ext cx="25420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55848" y="3438144"/>
            <a:ext cx="54864" cy="7132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93008" y="351129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Engine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93008" y="38404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weighted heuristic signals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355848" y="4242816"/>
            <a:ext cx="25420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355848" y="4242816"/>
            <a:ext cx="54864" cy="7132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93008" y="43159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Normalizer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493008" y="464515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risk calibration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44768" y="1115568"/>
            <a:ext cx="2724912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144768" y="1115568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Backend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144768" y="1481328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36208" y="1828800"/>
            <a:ext cx="25420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36208" y="1828800"/>
            <a:ext cx="54864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73368" y="19019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Sonnet 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373368" y="223113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 analysis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36208" y="2633472"/>
            <a:ext cx="25420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236208" y="2633472"/>
            <a:ext cx="54864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73368" y="27066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373368" y="30358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analyst persona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236208" y="3438144"/>
            <a:ext cx="25420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236208" y="3438144"/>
            <a:ext cx="54864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73368" y="351129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Insight Gen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373368" y="38404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AI calls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236208" y="4242816"/>
            <a:ext cx="25420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12700" dir="8100000">
              <a:srgbClr val="9AA5B4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236208" y="4242816"/>
            <a:ext cx="54864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73368" y="43159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373368" y="464515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local-mode logic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54864" cy="51435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27432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10528" y="27432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77456" y="27432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44384" y="27432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11312" y="27432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841248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0528" y="841248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77456" y="841248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44384" y="841248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11312" y="841248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1408176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0528" y="1408176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77456" y="1408176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44384" y="1408176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11312" y="1408176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1975104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0528" y="1975104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77456" y="1975104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44384" y="1975104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11312" y="1975104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2542032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0528" y="2542032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77456" y="2542032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44384" y="2542032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11312" y="2542032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310896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10528" y="310896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77456" y="310896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44384" y="310896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11312" y="310896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0" y="3675888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10528" y="3675888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77456" y="3675888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44384" y="3675888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11312" y="3675888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0" y="4242816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10528" y="4242816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77456" y="4242816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44384" y="4242816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11312" y="4242816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502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02920" y="10058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SENTINEL_AI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Delivers Results</a:t>
            </a:r>
            <a:endParaRPr lang="en-US" sz="3600" dirty="0"/>
          </a:p>
        </p:txBody>
      </p:sp>
      <p:sp>
        <p:nvSpPr>
          <p:cNvPr id="46" name="Shape 44"/>
          <p:cNvSpPr/>
          <p:nvPr/>
        </p:nvSpPr>
        <p:spPr>
          <a:xfrm>
            <a:off x="502920" y="2286000"/>
            <a:ext cx="365760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2920" y="2468880"/>
            <a:ext cx="182880" cy="18288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4672" y="243230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React app with real-time ML scoring in &lt; 400 ms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02920" y="2944368"/>
            <a:ext cx="182880" cy="18288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4672" y="290779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10-signal fraud engine — Precision 94.7%, AUC-ROC 98.1%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02920" y="3419856"/>
            <a:ext cx="182880" cy="18288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4672" y="338328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integration for plain-language expert analysis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02920" y="3895344"/>
            <a:ext cx="182880" cy="18288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4672" y="385876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Three-tab dashboard: Analyze, History, and Patterns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02920" y="4370832"/>
            <a:ext cx="182880" cy="18288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4672" y="433425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— plug in real ML APIs or payment webhooks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897880" y="320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5600" dirty="0"/>
          </a:p>
        </p:txBody>
      </p:sp>
      <p:sp>
        <p:nvSpPr>
          <p:cNvPr id="58" name="Text 56"/>
          <p:cNvSpPr/>
          <p:nvPr/>
        </p:nvSpPr>
        <p:spPr>
          <a:xfrm>
            <a:off x="5897880" y="1371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59" name="Shape 57"/>
          <p:cNvSpPr/>
          <p:nvPr/>
        </p:nvSpPr>
        <p:spPr>
          <a:xfrm>
            <a:off x="6217920" y="1965960"/>
            <a:ext cx="219456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97880" y="21762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967728" y="217627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SENTINEL_AI v2.4.1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897880" y="27432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967728" y="274320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897880" y="33101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967728" y="331012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PptxGenJS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897880" y="387705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967728" y="387705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+ XGB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897880" y="4434840"/>
            <a:ext cx="2926080" cy="34747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97880" y="4453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SENTINEL_AI  ·  AI-Powered Fraud Protection  ·  Built with React &amp; Anthropic Claude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SENTINEL_AI – Credit Card Fraud Detection</dc:title>
  <dc:subject>PptxGenJS Presentation</dc:subject>
  <dc:creator>SENTINEL_AI Team</dc:creator>
  <cp:lastModifiedBy>SENTINEL_AI Team</cp:lastModifiedBy>
  <cp:revision>1</cp:revision>
  <dcterms:created xsi:type="dcterms:W3CDTF">2026-02-23T12:22:42Z</dcterms:created>
  <dcterms:modified xsi:type="dcterms:W3CDTF">2026-02-23T12:22:42Z</dcterms:modified>
</cp:coreProperties>
</file>