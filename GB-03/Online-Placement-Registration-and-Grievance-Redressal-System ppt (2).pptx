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Martel Sans Light" panose="020B0604020202020204" charset="0"/>
      <p:regular r:id="rId15"/>
    </p:embeddedFont>
    <p:embeddedFont>
      <p:font typeface="Kanit" panose="020B0604020202020204" charset="-3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101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3191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-3-7.svg"/><Relationship Id="rId13" Type="http://schemas.openxmlformats.org/officeDocument/2006/relationships/image" Target="../media/image-3-13.sv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-3-4.svg"/><Relationship Id="rId11" Type="http://schemas.openxmlformats.org/officeDocument/2006/relationships/image" Target="../media/image10.png"/><Relationship Id="rId5" Type="http://schemas.openxmlformats.org/officeDocument/2006/relationships/image" Target="../media/image7.png"/><Relationship Id="rId10" Type="http://schemas.openxmlformats.org/officeDocument/2006/relationships/image" Target="../media/image-3-10.svg"/><Relationship Id="rId4" Type="http://schemas.openxmlformats.org/officeDocument/2006/relationships/image" Target="../media/image6.png"/><Relationship Id="rId9" Type="http://schemas.openxmlformats.org/officeDocument/2006/relationships/image" Target="../media/image9.png"/><Relationship Id="rId1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3058716"/>
            <a:ext cx="7468553" cy="211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Online Placement Registration &amp; Grievance Redressal System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902375"/>
            <a:ext cx="9271397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The Challenge in Traditional Systems</a:t>
            </a:r>
            <a:endParaRPr lang="en-US" sz="4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2353389"/>
            <a:ext cx="8216265" cy="45858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45491" y="2180749"/>
            <a:ext cx="4154686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Traditional placement and grievance systems create barriers for students and institutions alike, leading to inefficiencies and lost opportunities.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645491" y="3928229"/>
            <a:ext cx="4154686" cy="3315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Manual paperwork causes delays and lack of transparency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Students struggle to register and track placements or complaints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Authorities face inefficient complaint management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Result: Frustration, lost opportunities, and low trust</a:t>
            </a:r>
            <a:endParaRPr lang="en-US" sz="185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6302" y="7600862"/>
            <a:ext cx="2915057" cy="62873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93464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85153" y="1235273"/>
            <a:ext cx="4743212" cy="419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Introducing Our Digital Solution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985153" y="1781770"/>
            <a:ext cx="8146494" cy="1239560"/>
          </a:xfrm>
          <a:prstGeom prst="roundRect">
            <a:avLst>
              <a:gd name="adj" fmla="val 1725"/>
            </a:avLst>
          </a:prstGeom>
          <a:solidFill>
            <a:srgbClr val="2F2B54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7671" y="1924288"/>
            <a:ext cx="427553" cy="427553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6245304" y="2041922"/>
            <a:ext cx="192286" cy="192286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127671" y="2436614"/>
            <a:ext cx="167663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Unified Platform</a:t>
            </a:r>
            <a:endParaRPr lang="en-US" sz="1300" dirty="0"/>
          </a:p>
        </p:txBody>
      </p:sp>
      <p:sp>
        <p:nvSpPr>
          <p:cNvPr id="8" name="Text 3"/>
          <p:cNvSpPr/>
          <p:nvPr/>
        </p:nvSpPr>
        <p:spPr>
          <a:xfrm>
            <a:off x="6127671" y="2697004"/>
            <a:ext cx="7861459" cy="181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Single web platform for placement registration and grievance handling</a:t>
            </a:r>
            <a:endParaRPr lang="en-US" sz="1100" dirty="0"/>
          </a:p>
        </p:txBody>
      </p:sp>
      <p:sp>
        <p:nvSpPr>
          <p:cNvPr id="9" name="Shape 4"/>
          <p:cNvSpPr/>
          <p:nvPr/>
        </p:nvSpPr>
        <p:spPr>
          <a:xfrm>
            <a:off x="5985153" y="3106103"/>
            <a:ext cx="8146494" cy="1239560"/>
          </a:xfrm>
          <a:prstGeom prst="roundRect">
            <a:avLst>
              <a:gd name="adj" fmla="val 1725"/>
            </a:avLst>
          </a:prstGeom>
          <a:solidFill>
            <a:srgbClr val="2F2B54"/>
          </a:solidFill>
          <a:ln/>
        </p:spPr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7671" y="3248620"/>
            <a:ext cx="427553" cy="427553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6245304" y="3366254"/>
            <a:ext cx="192286" cy="192286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127671" y="3760946"/>
            <a:ext cx="167663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MERN Stack</a:t>
            </a:r>
            <a:endParaRPr lang="en-US" sz="1300" dirty="0"/>
          </a:p>
        </p:txBody>
      </p:sp>
      <p:sp>
        <p:nvSpPr>
          <p:cNvPr id="13" name="Text 6"/>
          <p:cNvSpPr/>
          <p:nvPr/>
        </p:nvSpPr>
        <p:spPr>
          <a:xfrm>
            <a:off x="6127671" y="4021336"/>
            <a:ext cx="7861459" cy="181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Built with React.js frontend, Node.js backend, MongoDB database</a:t>
            </a:r>
            <a:endParaRPr lang="en-US" sz="1100" dirty="0"/>
          </a:p>
        </p:txBody>
      </p:sp>
      <p:sp>
        <p:nvSpPr>
          <p:cNvPr id="14" name="Shape 7"/>
          <p:cNvSpPr/>
          <p:nvPr/>
        </p:nvSpPr>
        <p:spPr>
          <a:xfrm>
            <a:off x="5985153" y="4430435"/>
            <a:ext cx="8146494" cy="1239560"/>
          </a:xfrm>
          <a:prstGeom prst="roundRect">
            <a:avLst>
              <a:gd name="adj" fmla="val 1725"/>
            </a:avLst>
          </a:prstGeom>
          <a:solidFill>
            <a:srgbClr val="2F2B54"/>
          </a:solidFill>
          <a:ln/>
        </p:spPr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27671" y="4572953"/>
            <a:ext cx="427553" cy="427553"/>
          </a:xfrm>
          <a:prstGeom prst="rect">
            <a:avLst/>
          </a:prstGeom>
        </p:spPr>
      </p:pic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6245304" y="4690586"/>
            <a:ext cx="192286" cy="192286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6127671" y="5085278"/>
            <a:ext cx="167663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Real-Time Updates</a:t>
            </a:r>
            <a:endParaRPr lang="en-US" sz="1300" dirty="0"/>
          </a:p>
        </p:txBody>
      </p:sp>
      <p:sp>
        <p:nvSpPr>
          <p:cNvPr id="18" name="Text 9"/>
          <p:cNvSpPr/>
          <p:nvPr/>
        </p:nvSpPr>
        <p:spPr>
          <a:xfrm>
            <a:off x="6127671" y="5345668"/>
            <a:ext cx="7861459" cy="181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Role-based access with seamless communication</a:t>
            </a:r>
            <a:endParaRPr lang="en-US" sz="1100" dirty="0"/>
          </a:p>
        </p:txBody>
      </p:sp>
      <p:sp>
        <p:nvSpPr>
          <p:cNvPr id="19" name="Shape 10"/>
          <p:cNvSpPr/>
          <p:nvPr/>
        </p:nvSpPr>
        <p:spPr>
          <a:xfrm>
            <a:off x="5985153" y="5754767"/>
            <a:ext cx="8146494" cy="1239560"/>
          </a:xfrm>
          <a:prstGeom prst="roundRect">
            <a:avLst>
              <a:gd name="adj" fmla="val 1725"/>
            </a:avLst>
          </a:prstGeom>
          <a:solidFill>
            <a:srgbClr val="2F2B54"/>
          </a:solidFill>
          <a:ln/>
        </p:spPr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27671" y="5897285"/>
            <a:ext cx="427553" cy="427553"/>
          </a:xfrm>
          <a:prstGeom prst="rect">
            <a:avLst/>
          </a:prstGeom>
        </p:spPr>
      </p:pic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6245304" y="6014918"/>
            <a:ext cx="192286" cy="192286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6127671" y="6409611"/>
            <a:ext cx="167663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Always Accessible</a:t>
            </a:r>
            <a:endParaRPr lang="en-US" sz="1300" dirty="0"/>
          </a:p>
        </p:txBody>
      </p:sp>
      <p:sp>
        <p:nvSpPr>
          <p:cNvPr id="23" name="Text 12"/>
          <p:cNvSpPr/>
          <p:nvPr/>
        </p:nvSpPr>
        <p:spPr>
          <a:xfrm>
            <a:off x="6127671" y="6670000"/>
            <a:ext cx="7861459" cy="181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Desktop and mobile access anytime, anywhere</a:t>
            </a:r>
            <a:endParaRPr lang="en-US" sz="1100" dirty="0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6302" y="7600862"/>
            <a:ext cx="2915057" cy="62873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405771"/>
            <a:ext cx="5674519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Key Features Overview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588538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01</a:t>
            </a:r>
            <a:endParaRPr lang="en-US" sz="1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2964894"/>
            <a:ext cx="4158734" cy="3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7724" y="3145512"/>
            <a:ext cx="2930366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Placement Registration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37724" y="3641050"/>
            <a:ext cx="4158734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Students submit profiles and apply for jobs online with digital documentation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235773" y="2588538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02</a:t>
            </a:r>
            <a:endParaRPr lang="en-US" sz="18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3" y="2964894"/>
            <a:ext cx="4158734" cy="30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35773" y="314551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Grievance Submission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35773" y="3641050"/>
            <a:ext cx="4158734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Easy complaint filing with detailed descriptions, attachments, and priority levels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9633823" y="2588538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03</a:t>
            </a:r>
            <a:endParaRPr lang="en-US" sz="18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3823" y="2988826"/>
            <a:ext cx="4158853" cy="30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33823" y="314551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Status Tracking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33823" y="3641050"/>
            <a:ext cx="41588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Real-time updates on application and grievance progress with notifications</a:t>
            </a:r>
            <a:endParaRPr lang="en-US" sz="1850" dirty="0"/>
          </a:p>
        </p:txBody>
      </p:sp>
      <p:sp>
        <p:nvSpPr>
          <p:cNvPr id="15" name="Text 10"/>
          <p:cNvSpPr/>
          <p:nvPr/>
        </p:nvSpPr>
        <p:spPr>
          <a:xfrm>
            <a:off x="837724" y="5208865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04</a:t>
            </a:r>
            <a:endParaRPr lang="en-US" sz="18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724" y="5561290"/>
            <a:ext cx="12954952" cy="30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37724" y="576584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Role-Based Access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837724" y="6261378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Separate dashboards for students, placement officers, and administrators</a:t>
            </a:r>
            <a:endParaRPr lang="en-US" sz="185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6302" y="7610289"/>
            <a:ext cx="2915057" cy="62873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087523"/>
            <a:ext cx="10163532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System Architecture &amp; Technology Stack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3629263"/>
            <a:ext cx="4158734" cy="2512814"/>
          </a:xfrm>
          <a:prstGeom prst="roundRect">
            <a:avLst>
              <a:gd name="adj" fmla="val 5822"/>
            </a:avLst>
          </a:prstGeom>
          <a:solidFill>
            <a:srgbClr val="100C35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3598783"/>
            <a:ext cx="4158734" cy="12192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7998" y="3270290"/>
            <a:ext cx="718066" cy="71806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773382" y="3449836"/>
            <a:ext cx="287179" cy="358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</a:t>
            </a:r>
            <a:endParaRPr lang="en-US" sz="2250" dirty="0"/>
          </a:p>
        </p:txBody>
      </p:sp>
      <p:sp>
        <p:nvSpPr>
          <p:cNvPr id="7" name="Text 3"/>
          <p:cNvSpPr/>
          <p:nvPr/>
        </p:nvSpPr>
        <p:spPr>
          <a:xfrm>
            <a:off x="1107519" y="422767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Frontend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107519" y="4723209"/>
            <a:ext cx="361914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React.js with responsive UI for smooth user experience across all devices</a:t>
            </a:r>
            <a:endParaRPr lang="en-US" sz="1850" dirty="0"/>
          </a:p>
        </p:txBody>
      </p:sp>
      <p:sp>
        <p:nvSpPr>
          <p:cNvPr id="9" name="Shape 5"/>
          <p:cNvSpPr/>
          <p:nvPr/>
        </p:nvSpPr>
        <p:spPr>
          <a:xfrm>
            <a:off x="5235773" y="3629263"/>
            <a:ext cx="4158734" cy="2512814"/>
          </a:xfrm>
          <a:prstGeom prst="roundRect">
            <a:avLst>
              <a:gd name="adj" fmla="val 5822"/>
            </a:avLst>
          </a:prstGeom>
          <a:solidFill>
            <a:srgbClr val="100C35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3" y="3598783"/>
            <a:ext cx="4158734" cy="121920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6048" y="3270290"/>
            <a:ext cx="718066" cy="71806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171432" y="3449836"/>
            <a:ext cx="287179" cy="358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</a:t>
            </a:r>
            <a:endParaRPr lang="en-US" sz="2250" dirty="0"/>
          </a:p>
        </p:txBody>
      </p:sp>
      <p:sp>
        <p:nvSpPr>
          <p:cNvPr id="13" name="Text 7"/>
          <p:cNvSpPr/>
          <p:nvPr/>
        </p:nvSpPr>
        <p:spPr>
          <a:xfrm>
            <a:off x="5505569" y="422767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Backend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5505569" y="4723209"/>
            <a:ext cx="361914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Node.js + Express.js handling API requests and business logic efficiently</a:t>
            </a:r>
            <a:endParaRPr lang="en-US" sz="1850" dirty="0"/>
          </a:p>
        </p:txBody>
      </p:sp>
      <p:sp>
        <p:nvSpPr>
          <p:cNvPr id="15" name="Shape 9"/>
          <p:cNvSpPr/>
          <p:nvPr/>
        </p:nvSpPr>
        <p:spPr>
          <a:xfrm>
            <a:off x="9633823" y="3629263"/>
            <a:ext cx="4158853" cy="2512814"/>
          </a:xfrm>
          <a:prstGeom prst="roundRect">
            <a:avLst>
              <a:gd name="adj" fmla="val 5822"/>
            </a:avLst>
          </a:prstGeom>
          <a:solidFill>
            <a:srgbClr val="100C35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3823" y="3598783"/>
            <a:ext cx="4158853" cy="121920"/>
          </a:xfrm>
          <a:prstGeom prst="rect">
            <a:avLst/>
          </a:prstGeom>
        </p:spPr>
      </p:pic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4217" y="3270290"/>
            <a:ext cx="718066" cy="718066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1569601" y="3449836"/>
            <a:ext cx="287179" cy="358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</a:t>
            </a:r>
            <a:endParaRPr lang="en-US" sz="2250" dirty="0"/>
          </a:p>
        </p:txBody>
      </p:sp>
      <p:sp>
        <p:nvSpPr>
          <p:cNvPr id="19" name="Text 11"/>
          <p:cNvSpPr/>
          <p:nvPr/>
        </p:nvSpPr>
        <p:spPr>
          <a:xfrm>
            <a:off x="9903619" y="422767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Database</a:t>
            </a:r>
            <a:endParaRPr lang="en-US" sz="2200" dirty="0"/>
          </a:p>
        </p:txBody>
      </p:sp>
      <p:sp>
        <p:nvSpPr>
          <p:cNvPr id="20" name="Text 12"/>
          <p:cNvSpPr/>
          <p:nvPr/>
        </p:nvSpPr>
        <p:spPr>
          <a:xfrm>
            <a:off x="9903619" y="4723209"/>
            <a:ext cx="3619262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MongoDB for flexible, scalable data storage of users, complaints, and placements</a:t>
            </a:r>
            <a:endParaRPr lang="en-US" sz="1850" dirty="0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6302" y="7600862"/>
            <a:ext cx="2915057" cy="6287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691277"/>
            <a:ext cx="5857518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User Roles &amp; Workflows</a:t>
            </a:r>
            <a:endParaRPr lang="en-US" sz="4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1874044"/>
            <a:ext cx="3014305" cy="30143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7724" y="512766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Students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37724" y="5623203"/>
            <a:ext cx="3014305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Register profiles, apply for placements, submit grievances</a:t>
            </a:r>
            <a:endParaRPr lang="en-US" sz="18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1233" y="1874044"/>
            <a:ext cx="3014305" cy="301430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51233" y="512766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Placement Officers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4151233" y="5623203"/>
            <a:ext cx="3014305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Manage student applications, schedule interviews, update status, and coordinate recruitment</a:t>
            </a:r>
            <a:endParaRPr lang="en-US" sz="18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4743" y="1874044"/>
            <a:ext cx="3014305" cy="301430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64743" y="512766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Grievance Officers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464743" y="5623203"/>
            <a:ext cx="3014305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Receive, assign, and resolve complaints with complete audit trails and documentation</a:t>
            </a:r>
            <a:endParaRPr lang="en-US" sz="18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78252" y="1874044"/>
            <a:ext cx="3014424" cy="301442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778252" y="5127784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Administrators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0778252" y="5623322"/>
            <a:ext cx="3014424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Oversee system health, manage users, generate reports, and maintain analytics dashboards</a:t>
            </a:r>
            <a:endParaRPr lang="en-US" sz="1850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6302" y="7600862"/>
            <a:ext cx="2915057" cy="6287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4871" y="478155"/>
            <a:ext cx="3978473" cy="497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Benefits &amp; Impact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1824871" y="1298853"/>
            <a:ext cx="3560683" cy="557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50"/>
              </a:lnSpc>
              <a:buNone/>
            </a:pPr>
            <a:r>
              <a:rPr lang="en-US" sz="43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70%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2610564" y="2030849"/>
            <a:ext cx="1989177" cy="248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Efficiency Gain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1824871" y="2351008"/>
            <a:ext cx="3560683" cy="230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Reduces manual effort and processing time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534739" y="1298853"/>
            <a:ext cx="3560683" cy="557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50"/>
              </a:lnSpc>
              <a:buNone/>
            </a:pPr>
            <a:r>
              <a:rPr lang="en-US" sz="43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24/7</a:t>
            </a:r>
            <a:endParaRPr lang="en-US" sz="4350" dirty="0"/>
          </a:p>
        </p:txBody>
      </p:sp>
      <p:sp>
        <p:nvSpPr>
          <p:cNvPr id="7" name="Text 5"/>
          <p:cNvSpPr/>
          <p:nvPr/>
        </p:nvSpPr>
        <p:spPr>
          <a:xfrm>
            <a:off x="6320433" y="2030849"/>
            <a:ext cx="1989177" cy="248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Availability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534739" y="2351008"/>
            <a:ext cx="3560683" cy="230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Continuous access for students and officers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244608" y="1298853"/>
            <a:ext cx="3560683" cy="557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50"/>
              </a:lnSpc>
              <a:buNone/>
            </a:pPr>
            <a:r>
              <a:rPr lang="en-US" sz="43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100%</a:t>
            </a:r>
            <a:endParaRPr lang="en-US" sz="4350" dirty="0"/>
          </a:p>
        </p:txBody>
      </p:sp>
      <p:sp>
        <p:nvSpPr>
          <p:cNvPr id="10" name="Text 8"/>
          <p:cNvSpPr/>
          <p:nvPr/>
        </p:nvSpPr>
        <p:spPr>
          <a:xfrm>
            <a:off x="10030301" y="2030849"/>
            <a:ext cx="1989177" cy="248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Transparency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9244608" y="2351008"/>
            <a:ext cx="3560683" cy="230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Real-time tracking and notifications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24871" y="4742378"/>
            <a:ext cx="6992898" cy="1048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Streamlines placement and grievance processes with automation</a:t>
            </a:r>
            <a:endParaRPr lang="en-US" sz="13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Enhances transparency and trust through visibility</a:t>
            </a:r>
            <a:endParaRPr lang="en-US" sz="13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Improves student satisfaction and institutional responsiveness</a:t>
            </a:r>
            <a:endParaRPr lang="en-US" sz="13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Data-driven insights for continuous improvement and policy making</a:t>
            </a:r>
            <a:endParaRPr lang="en-US" sz="13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7821" y="2850356"/>
            <a:ext cx="3575090" cy="4766786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6302" y="7600862"/>
            <a:ext cx="2915057" cy="62873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94346" y="964168"/>
            <a:ext cx="7728109" cy="118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The Future of E-Governance in Education</a:t>
            </a:r>
            <a:endParaRPr lang="en-US" sz="37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4346" y="2410420"/>
            <a:ext cx="1011436" cy="121372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76636" y="2612708"/>
            <a:ext cx="2379821" cy="297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AI Integration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7376636" y="3012638"/>
            <a:ext cx="6545818" cy="298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AI-powered complaint classification and intelligent prioritization</a:t>
            </a:r>
            <a:endParaRPr lang="en-US" sz="15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4346" y="3624143"/>
            <a:ext cx="1011436" cy="121372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376636" y="3826431"/>
            <a:ext cx="2379821" cy="297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Chatbot Support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7376636" y="4226362"/>
            <a:ext cx="6545818" cy="298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Multilingual grievance assistance and automated responses</a:t>
            </a:r>
            <a:endParaRPr lang="en-US" sz="15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4346" y="4837867"/>
            <a:ext cx="1011436" cy="121372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376636" y="5040154"/>
            <a:ext cx="2379821" cy="297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Mobile Expansion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7376636" y="5440085"/>
            <a:ext cx="6545818" cy="298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Dedicated mobile apps for on-the-go access</a:t>
            </a:r>
            <a:endParaRPr lang="en-US" sz="15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4346" y="6051590"/>
            <a:ext cx="1011436" cy="121372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376636" y="6253877"/>
            <a:ext cx="2379821" cy="297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Blockchain</a:t>
            </a:r>
            <a:endParaRPr lang="en-US" sz="1850" dirty="0"/>
          </a:p>
        </p:txBody>
      </p:sp>
      <p:sp>
        <p:nvSpPr>
          <p:cNvPr id="15" name="Text 8"/>
          <p:cNvSpPr/>
          <p:nvPr/>
        </p:nvSpPr>
        <p:spPr>
          <a:xfrm>
            <a:off x="7376636" y="6653808"/>
            <a:ext cx="6545818" cy="298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Tamper-proof records and secure document verification</a:t>
            </a:r>
            <a:endParaRPr lang="en-US" sz="1550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6302" y="7600862"/>
            <a:ext cx="2915057" cy="62873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369</Words>
  <Application>Microsoft Office PowerPoint</Application>
  <PresentationFormat>Custom</PresentationFormat>
  <Paragraphs>79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Calibri</vt:lpstr>
      <vt:lpstr>Martel Sans Light</vt:lpstr>
      <vt:lpstr>Arial</vt:lpstr>
      <vt:lpstr>Kanit Light</vt:lpstr>
      <vt:lpstr>Kanit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Lenovo</dc:creator>
  <cp:lastModifiedBy>Microsoft account</cp:lastModifiedBy>
  <cp:revision>2</cp:revision>
  <dcterms:created xsi:type="dcterms:W3CDTF">2026-02-24T16:46:51Z</dcterms:created>
  <dcterms:modified xsi:type="dcterms:W3CDTF">2026-02-24T16:49:45Z</dcterms:modified>
</cp:coreProperties>
</file>