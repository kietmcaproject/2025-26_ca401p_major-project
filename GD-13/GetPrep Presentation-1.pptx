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95"/>
  </p:normalViewPr>
  <p:slideViewPr>
    <p:cSldViewPr snapToGrid="0">
      <p:cViewPr varScale="1">
        <p:scale>
          <a:sx n="78" d="100"/>
          <a:sy n="78" d="100"/>
        </p:scale>
        <p:origin x="71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DD8ED-A467-412F-94E9-E1E99FFD44C2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EFFF8-8871-4C26-A672-77FE303678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97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8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78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1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30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0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15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67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53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9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19E73-B7D3-DC45-A51F-7EDE1065776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CC7A-2782-38D6-EE75-4C9E12E3BA04}"/>
              </a:ext>
            </a:extLst>
          </p:cNvPr>
          <p:cNvSpPr txBox="1">
            <a:spLocks/>
          </p:cNvSpPr>
          <p:nvPr/>
        </p:nvSpPr>
        <p:spPr>
          <a:xfrm>
            <a:off x="1524000" y="2072639"/>
            <a:ext cx="9144000" cy="1790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Project-II (CA401P)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2025-2026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7E164-F305-1684-E1F0-2669906D69B0}"/>
              </a:ext>
            </a:extLst>
          </p:cNvPr>
          <p:cNvSpPr txBox="1">
            <a:spLocks/>
          </p:cNvSpPr>
          <p:nvPr/>
        </p:nvSpPr>
        <p:spPr>
          <a:xfrm>
            <a:off x="1637071" y="3908606"/>
            <a:ext cx="9144000" cy="1384490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Prep</a:t>
            </a:r>
          </a:p>
          <a:p>
            <a:pPr marL="0" indent="0" algn="ctr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Tarun Kumar – 202410116100223</a:t>
            </a:r>
          </a:p>
          <a:p>
            <a:pPr marL="0" indent="0" algn="ctr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Tushar Kumar – 202410116100227</a:t>
            </a:r>
          </a:p>
          <a:p>
            <a:pPr marL="0" indent="0" algn="ctr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Vaibhav Singh Kalura – 202410116100233</a:t>
            </a:r>
          </a:p>
          <a:p>
            <a:pPr marL="0" indent="0" algn="ctr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 Dagar - 202410116100249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AAC7D39-064D-5488-B9C8-DE27FEF3BE52}"/>
              </a:ext>
            </a:extLst>
          </p:cNvPr>
          <p:cNvSpPr txBox="1">
            <a:spLocks/>
          </p:cNvSpPr>
          <p:nvPr/>
        </p:nvSpPr>
        <p:spPr>
          <a:xfrm>
            <a:off x="1530350" y="4699318"/>
            <a:ext cx="9144000" cy="762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6D79585-1E8C-C263-BF0A-3F43A7FA6D61}"/>
              </a:ext>
            </a:extLst>
          </p:cNvPr>
          <p:cNvSpPr txBox="1">
            <a:spLocks/>
          </p:cNvSpPr>
          <p:nvPr/>
        </p:nvSpPr>
        <p:spPr>
          <a:xfrm>
            <a:off x="9144000" y="4957756"/>
            <a:ext cx="3035300" cy="1978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Amit Kumar Gupta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Anita Yadav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Neelam Rawat</a:t>
            </a:r>
          </a:p>
          <a:p>
            <a:pPr algn="just"/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3C0F2-1093-7A6F-FD10-D8224C7F0030}"/>
              </a:ext>
            </a:extLst>
          </p:cNvPr>
          <p:cNvSpPr txBox="1"/>
          <p:nvPr/>
        </p:nvSpPr>
        <p:spPr>
          <a:xfrm>
            <a:off x="235974" y="5462016"/>
            <a:ext cx="2802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Incharge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Ankit Verma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Annu Yadav</a:t>
            </a:r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613B25F4-4FA9-AB7C-1ACA-2CFD22C585E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8150" y="0"/>
            <a:ext cx="6248399" cy="139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5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68" y="453033"/>
            <a:ext cx="6545064" cy="95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33"/>
              </a:lnSpc>
            </a:pPr>
            <a:r>
              <a:rPr lang="en-US" sz="3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Problem with Today's Interview Prep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7469" y="1724721"/>
            <a:ext cx="191968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67"/>
              </a:lnSpc>
            </a:pPr>
            <a:r>
              <a:rPr lang="en-US" sz="14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What's Missing</a:t>
            </a:r>
            <a:endParaRPr lang="en-US" sz="1467" dirty="0"/>
          </a:p>
        </p:txBody>
      </p:sp>
      <p:sp>
        <p:nvSpPr>
          <p:cNvPr id="5" name="Shape 2"/>
          <p:cNvSpPr/>
          <p:nvPr/>
        </p:nvSpPr>
        <p:spPr>
          <a:xfrm>
            <a:off x="537469" y="2104926"/>
            <a:ext cx="3085207" cy="1377652"/>
          </a:xfrm>
          <a:prstGeom prst="roundRect">
            <a:avLst>
              <a:gd name="adj" fmla="val 6637"/>
            </a:avLst>
          </a:prstGeom>
          <a:solidFill>
            <a:srgbClr val="F9F9FF">
              <a:alpha val="95000"/>
            </a:srgb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8417" y="2104926"/>
            <a:ext cx="76200" cy="1377652"/>
          </a:xfrm>
          <a:prstGeom prst="roundRect">
            <a:avLst>
              <a:gd name="adj" fmla="val 84651"/>
            </a:avLst>
          </a:prstGeom>
          <a:solidFill>
            <a:srgbClr val="4967E9"/>
          </a:solidFill>
          <a:ln/>
        </p:spPr>
      </p:sp>
      <p:sp>
        <p:nvSpPr>
          <p:cNvPr id="7" name="Text 4"/>
          <p:cNvSpPr/>
          <p:nvPr/>
        </p:nvSpPr>
        <p:spPr>
          <a:xfrm>
            <a:off x="767161" y="2277467"/>
            <a:ext cx="191968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67"/>
              </a:lnSpc>
            </a:pPr>
            <a:r>
              <a:rPr lang="en-US" sz="14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 Personalization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767161" y="2642097"/>
            <a:ext cx="2682975" cy="66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Generic content fails to align with specific roles or company expectations.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7469" y="3607297"/>
            <a:ext cx="3085207" cy="1377652"/>
          </a:xfrm>
          <a:prstGeom prst="roundRect">
            <a:avLst>
              <a:gd name="adj" fmla="val 6637"/>
            </a:avLst>
          </a:prstGeom>
          <a:solidFill>
            <a:srgbClr val="F9F9FF">
              <a:alpha val="95000"/>
            </a:srgb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8417" y="3607297"/>
            <a:ext cx="76200" cy="1377652"/>
          </a:xfrm>
          <a:prstGeom prst="roundRect">
            <a:avLst>
              <a:gd name="adj" fmla="val 84651"/>
            </a:avLst>
          </a:prstGeom>
          <a:solidFill>
            <a:srgbClr val="4967E9"/>
          </a:solidFill>
          <a:ln/>
        </p:spPr>
      </p:sp>
      <p:sp>
        <p:nvSpPr>
          <p:cNvPr id="11" name="Text 8"/>
          <p:cNvSpPr/>
          <p:nvPr/>
        </p:nvSpPr>
        <p:spPr>
          <a:xfrm>
            <a:off x="767161" y="3779838"/>
            <a:ext cx="191968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67"/>
              </a:lnSpc>
            </a:pPr>
            <a:r>
              <a:rPr lang="en-US" sz="14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 JD Analysis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767161" y="4144467"/>
            <a:ext cx="2682975" cy="66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Platforms ignore Job Descriptions — the single most important signal for interview prep.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7469" y="5109667"/>
            <a:ext cx="3085207" cy="1155005"/>
          </a:xfrm>
          <a:prstGeom prst="roundRect">
            <a:avLst>
              <a:gd name="adj" fmla="val 7917"/>
            </a:avLst>
          </a:prstGeom>
          <a:solidFill>
            <a:srgbClr val="F9F9FF">
              <a:alpha val="95000"/>
            </a:srgb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8417" y="5109667"/>
            <a:ext cx="76200" cy="1155005"/>
          </a:xfrm>
          <a:prstGeom prst="roundRect">
            <a:avLst>
              <a:gd name="adj" fmla="val 84651"/>
            </a:avLst>
          </a:prstGeom>
          <a:solidFill>
            <a:srgbClr val="4967E9"/>
          </a:solidFill>
          <a:ln/>
        </p:spPr>
      </p:sp>
      <p:sp>
        <p:nvSpPr>
          <p:cNvPr id="15" name="Text 12"/>
          <p:cNvSpPr/>
          <p:nvPr/>
        </p:nvSpPr>
        <p:spPr>
          <a:xfrm>
            <a:off x="767161" y="5282209"/>
            <a:ext cx="191968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67"/>
              </a:lnSpc>
            </a:pPr>
            <a:r>
              <a:rPr lang="en-US" sz="14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 AI Evaluation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767161" y="5646838"/>
            <a:ext cx="2682975" cy="4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Candidates receive no meaningful scoring or improvement guidance.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03675" y="1724721"/>
            <a:ext cx="191968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67"/>
              </a:lnSpc>
            </a:pPr>
            <a:r>
              <a:rPr lang="en-US" sz="14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Result</a:t>
            </a:r>
            <a:endParaRPr lang="en-US" sz="1467" dirty="0"/>
          </a:p>
        </p:txBody>
      </p:sp>
      <p:sp>
        <p:nvSpPr>
          <p:cNvPr id="18" name="Text 15"/>
          <p:cNvSpPr/>
          <p:nvPr/>
        </p:nvSpPr>
        <p:spPr>
          <a:xfrm>
            <a:off x="4003675" y="2089349"/>
            <a:ext cx="3085207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Candidates walk into interviews underprepared, misaligned with what companies actually test — and confidence suffers.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03675" y="3120231"/>
            <a:ext cx="3085207" cy="1242516"/>
          </a:xfrm>
          <a:prstGeom prst="roundRect">
            <a:avLst>
              <a:gd name="adj" fmla="val 5191"/>
            </a:avLst>
          </a:prstGeom>
          <a:solidFill>
            <a:srgbClr val="FCF2B5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168" y="3330079"/>
            <a:ext cx="191889" cy="1534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02547" y="3283249"/>
            <a:ext cx="2432844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Poor alignment between preparation and actual company expectations remains the #1 gap in modern interview platforms.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216" y="544315"/>
            <a:ext cx="4430216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34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Our Objectives</a:t>
            </a:r>
            <a:endParaRPr lang="en-US" sz="3467" dirty="0"/>
          </a:p>
        </p:txBody>
      </p:sp>
      <p:sp>
        <p:nvSpPr>
          <p:cNvPr id="3" name="Text 1"/>
          <p:cNvSpPr/>
          <p:nvPr/>
        </p:nvSpPr>
        <p:spPr>
          <a:xfrm>
            <a:off x="620217" y="1430239"/>
            <a:ext cx="10951567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3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five-pillar mission to transform how candidates prepare for interviews.</a:t>
            </a:r>
            <a:endParaRPr lang="en-US" sz="1333" dirty="0"/>
          </a:p>
        </p:txBody>
      </p:sp>
      <p:sp>
        <p:nvSpPr>
          <p:cNvPr id="4" name="Shape 2"/>
          <p:cNvSpPr/>
          <p:nvPr/>
        </p:nvSpPr>
        <p:spPr>
          <a:xfrm>
            <a:off x="620216" y="1891706"/>
            <a:ext cx="3539728" cy="2265263"/>
          </a:xfrm>
          <a:prstGeom prst="roundRect">
            <a:avLst>
              <a:gd name="adj" fmla="val 3286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3771" y="2075261"/>
            <a:ext cx="531615" cy="531615"/>
          </a:xfrm>
          <a:prstGeom prst="roundRect">
            <a:avLst>
              <a:gd name="adj" fmla="val 14332257"/>
            </a:avLst>
          </a:prstGeom>
          <a:solidFill>
            <a:srgbClr val="4967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920" y="2221408"/>
            <a:ext cx="239216" cy="23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3771" y="2772965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AI-Driven Platform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803771" y="3149501"/>
            <a:ext cx="317261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3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an end-to-end AI-powered interview preparation system.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4326038" y="1891706"/>
            <a:ext cx="3539828" cy="2265263"/>
          </a:xfrm>
          <a:prstGeom prst="roundRect">
            <a:avLst>
              <a:gd name="adj" fmla="val 3286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09593" y="2075261"/>
            <a:ext cx="531615" cy="531615"/>
          </a:xfrm>
          <a:prstGeom prst="roundRect">
            <a:avLst>
              <a:gd name="adj" fmla="val 14332257"/>
            </a:avLst>
          </a:prstGeom>
          <a:solidFill>
            <a:srgbClr val="4967E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5740" y="2221408"/>
            <a:ext cx="239216" cy="239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9592" y="2772965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JD Analysis</a:t>
            </a:r>
            <a:endParaRPr lang="en-US" sz="1733" dirty="0"/>
          </a:p>
        </p:txBody>
      </p:sp>
      <p:sp>
        <p:nvSpPr>
          <p:cNvPr id="13" name="Text 9"/>
          <p:cNvSpPr/>
          <p:nvPr/>
        </p:nvSpPr>
        <p:spPr>
          <a:xfrm>
            <a:off x="4509592" y="3149501"/>
            <a:ext cx="3172717" cy="823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3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Parse uploaded Job Descriptions to extract required skills and competencies.</a:t>
            </a:r>
            <a:endParaRPr lang="en-US" sz="1333" dirty="0"/>
          </a:p>
        </p:txBody>
      </p:sp>
      <p:sp>
        <p:nvSpPr>
          <p:cNvPr id="14" name="Shape 10"/>
          <p:cNvSpPr/>
          <p:nvPr/>
        </p:nvSpPr>
        <p:spPr>
          <a:xfrm>
            <a:off x="8031957" y="1891706"/>
            <a:ext cx="3539828" cy="2265263"/>
          </a:xfrm>
          <a:prstGeom prst="roundRect">
            <a:avLst>
              <a:gd name="adj" fmla="val 3286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5511" y="2075261"/>
            <a:ext cx="531615" cy="531615"/>
          </a:xfrm>
          <a:prstGeom prst="roundRect">
            <a:avLst>
              <a:gd name="adj" fmla="val 14332257"/>
            </a:avLst>
          </a:prstGeom>
          <a:solidFill>
            <a:srgbClr val="4967E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1660" y="2221408"/>
            <a:ext cx="239216" cy="239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5511" y="2772965"/>
            <a:ext cx="2458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Personalized Questions</a:t>
            </a:r>
            <a:endParaRPr lang="en-US" sz="1733" dirty="0"/>
          </a:p>
        </p:txBody>
      </p:sp>
      <p:sp>
        <p:nvSpPr>
          <p:cNvPr id="18" name="Text 13"/>
          <p:cNvSpPr/>
          <p:nvPr/>
        </p:nvSpPr>
        <p:spPr>
          <a:xfrm>
            <a:off x="8215511" y="3149501"/>
            <a:ext cx="3172717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3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tailored technical, HR, and coding questions per role.</a:t>
            </a:r>
            <a:endParaRPr lang="en-US" sz="1333" dirty="0"/>
          </a:p>
        </p:txBody>
      </p:sp>
      <p:sp>
        <p:nvSpPr>
          <p:cNvPr id="19" name="Shape 14"/>
          <p:cNvSpPr/>
          <p:nvPr/>
        </p:nvSpPr>
        <p:spPr>
          <a:xfrm>
            <a:off x="620217" y="4323061"/>
            <a:ext cx="5392737" cy="1990625"/>
          </a:xfrm>
          <a:prstGeom prst="roundRect">
            <a:avLst>
              <a:gd name="adj" fmla="val 373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3771" y="4506615"/>
            <a:ext cx="531615" cy="531615"/>
          </a:xfrm>
          <a:prstGeom prst="roundRect">
            <a:avLst>
              <a:gd name="adj" fmla="val 14332257"/>
            </a:avLst>
          </a:prstGeom>
          <a:solidFill>
            <a:srgbClr val="4967E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9920" y="4652764"/>
            <a:ext cx="239216" cy="239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3771" y="5204321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Automated Scoring</a:t>
            </a:r>
            <a:endParaRPr lang="en-US" sz="1733" dirty="0"/>
          </a:p>
        </p:txBody>
      </p:sp>
      <p:sp>
        <p:nvSpPr>
          <p:cNvPr id="23" name="Text 17"/>
          <p:cNvSpPr/>
          <p:nvPr/>
        </p:nvSpPr>
        <p:spPr>
          <a:xfrm>
            <a:off x="803771" y="5580856"/>
            <a:ext cx="50256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3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Deliver real-time feedback, scores, and improvement suggestions.</a:t>
            </a:r>
            <a:endParaRPr lang="en-US" sz="1333" dirty="0"/>
          </a:p>
        </p:txBody>
      </p:sp>
      <p:sp>
        <p:nvSpPr>
          <p:cNvPr id="24" name="Shape 18"/>
          <p:cNvSpPr/>
          <p:nvPr/>
        </p:nvSpPr>
        <p:spPr>
          <a:xfrm>
            <a:off x="6179048" y="4323061"/>
            <a:ext cx="5392737" cy="1990625"/>
          </a:xfrm>
          <a:prstGeom prst="roundRect">
            <a:avLst>
              <a:gd name="adj" fmla="val 373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62602" y="4506615"/>
            <a:ext cx="531615" cy="531615"/>
          </a:xfrm>
          <a:prstGeom prst="roundRect">
            <a:avLst>
              <a:gd name="adj" fmla="val 14332257"/>
            </a:avLst>
          </a:prstGeom>
          <a:solidFill>
            <a:srgbClr val="4967E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8751" y="4652764"/>
            <a:ext cx="239216" cy="239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62601" y="5204321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Readiness Boost</a:t>
            </a:r>
            <a:endParaRPr lang="en-US" sz="1733" dirty="0"/>
          </a:p>
        </p:txBody>
      </p:sp>
      <p:sp>
        <p:nvSpPr>
          <p:cNvPr id="28" name="Text 21"/>
          <p:cNvSpPr/>
          <p:nvPr/>
        </p:nvSpPr>
        <p:spPr>
          <a:xfrm>
            <a:off x="6362602" y="5580856"/>
            <a:ext cx="50256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3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 candidate confidence through realistic interview simulations.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5012" y="463650"/>
            <a:ext cx="4350544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7"/>
              </a:lnSpc>
            </a:pPr>
            <a:r>
              <a:rPr lang="en-US" sz="2733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Methodology &amp; Tech Stack</a:t>
            </a:r>
            <a:endParaRPr lang="en-US" sz="2733" dirty="0"/>
          </a:p>
        </p:txBody>
      </p:sp>
      <p:sp>
        <p:nvSpPr>
          <p:cNvPr id="3" name="Text 1"/>
          <p:cNvSpPr/>
          <p:nvPr/>
        </p:nvSpPr>
        <p:spPr>
          <a:xfrm>
            <a:off x="1205012" y="1119287"/>
            <a:ext cx="9781877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0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on an </a:t>
            </a:r>
            <a:r>
              <a:rPr lang="en-US" sz="1067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Agile Development Methodology</a:t>
            </a:r>
            <a:r>
              <a:rPr lang="en-US" sz="10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iterative sprints, continuous testing, and phased deployment.</a:t>
            </a:r>
            <a:endParaRPr lang="en-US" sz="10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13" y="1556842"/>
            <a:ext cx="4717951" cy="471795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013" y="1556842"/>
            <a:ext cx="4717951" cy="47179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75190" y="2736751"/>
            <a:ext cx="27865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333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Development &amp; Deployment Tools</a:t>
            </a:r>
            <a:endParaRPr lang="en-US" sz="1333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272" y="3082132"/>
            <a:ext cx="212625" cy="212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35763" y="3077765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3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GitHub</a:t>
            </a:r>
            <a:endParaRPr lang="en-US" sz="1333" dirty="0"/>
          </a:p>
        </p:txBody>
      </p:sp>
      <p:sp>
        <p:nvSpPr>
          <p:cNvPr id="9" name="Text 4"/>
          <p:cNvSpPr/>
          <p:nvPr/>
        </p:nvSpPr>
        <p:spPr>
          <a:xfrm>
            <a:off x="6735764" y="3405486"/>
            <a:ext cx="4257377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0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 control and team collaboration</a:t>
            </a:r>
            <a:endParaRPr lang="en-US" sz="106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272" y="3820916"/>
            <a:ext cx="212625" cy="212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35763" y="3816548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3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Postman</a:t>
            </a:r>
            <a:endParaRPr lang="en-US" sz="1333" dirty="0"/>
          </a:p>
        </p:txBody>
      </p:sp>
      <p:sp>
        <p:nvSpPr>
          <p:cNvPr id="12" name="Text 6"/>
          <p:cNvSpPr/>
          <p:nvPr/>
        </p:nvSpPr>
        <p:spPr>
          <a:xfrm>
            <a:off x="6735764" y="4144268"/>
            <a:ext cx="4257377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0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testing and endpoint validation</a:t>
            </a:r>
            <a:endParaRPr lang="en-US" sz="1067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272" y="4559698"/>
            <a:ext cx="212625" cy="212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35763" y="4555331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33"/>
              </a:lnSpc>
            </a:pPr>
            <a:r>
              <a:rPr lang="en-US" sz="1333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Docker</a:t>
            </a:r>
            <a:endParaRPr lang="en-US" sz="1333" dirty="0"/>
          </a:p>
        </p:txBody>
      </p:sp>
      <p:sp>
        <p:nvSpPr>
          <p:cNvPr id="15" name="Text 8"/>
          <p:cNvSpPr/>
          <p:nvPr/>
        </p:nvSpPr>
        <p:spPr>
          <a:xfrm>
            <a:off x="6735764" y="4883051"/>
            <a:ext cx="4257377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0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Optional containerization for scalable deployment</a:t>
            </a:r>
            <a:endParaRPr lang="en-US" sz="10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3" y="846931"/>
            <a:ext cx="6297017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6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 Overview</a:t>
            </a:r>
            <a:endParaRPr lang="en-US" sz="3667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3" y="2311698"/>
            <a:ext cx="6297017" cy="28819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3840" y="3031234"/>
            <a:ext cx="404865" cy="40486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3130" y="4395376"/>
            <a:ext cx="1182205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Candidate Scoring</a:t>
            </a:r>
            <a:endParaRPr lang="en-US" sz="14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1654" y="3031993"/>
            <a:ext cx="404865" cy="40486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993226" y="4395376"/>
            <a:ext cx="1182205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Question Generation</a:t>
            </a:r>
            <a:endParaRPr lang="en-US" sz="14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79848" y="3031993"/>
            <a:ext cx="404865" cy="40486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511420" y="4395376"/>
            <a:ext cx="1182205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Skill Extraction</a:t>
            </a:r>
            <a:endParaRPr lang="en-US" sz="14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9945" y="3031993"/>
            <a:ext cx="404865" cy="40486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97226" y="4509243"/>
            <a:ext cx="1182205" cy="227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33"/>
              </a:lnSpc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Job Upload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661493" y="5406231"/>
            <a:ext cx="629701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layer communicates via REST APIs, ensuring a modular, scalable architecture that can evolve with new AI capabilities.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227138"/>
            <a:ext cx="736044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6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Implementation Progress</a:t>
            </a:r>
            <a:endParaRPr lang="en-US" sz="3667" dirty="0"/>
          </a:p>
        </p:txBody>
      </p:sp>
      <p:sp>
        <p:nvSpPr>
          <p:cNvPr id="3" name="Shape 1"/>
          <p:cNvSpPr/>
          <p:nvPr/>
        </p:nvSpPr>
        <p:spPr>
          <a:xfrm>
            <a:off x="525363" y="2101255"/>
            <a:ext cx="5476180" cy="3529608"/>
          </a:xfrm>
          <a:prstGeom prst="roundRect">
            <a:avLst>
              <a:gd name="adj" fmla="val 3856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75" y="2290267"/>
            <a:ext cx="252045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✅</a:t>
            </a:r>
            <a:r>
              <a:rPr lang="en-US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Completed Modules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2793603"/>
            <a:ext cx="5098157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Authentication &amp; Profile Management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Job Description Upload and Parsing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AI-based Question Generation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Technical &amp; HR Interview Simulation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Coding Round Evaluation System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Feedback Dashboard with Performance Analytics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6332935" y="2290267"/>
            <a:ext cx="236269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🔄</a:t>
            </a:r>
            <a:r>
              <a:rPr lang="en-US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In Progress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32935" y="2793603"/>
            <a:ext cx="520392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response optimization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Coding evaluation module testing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Dashboard analytics refinement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6332935" y="4022031"/>
            <a:ext cx="236269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⏳</a:t>
            </a:r>
            <a:r>
              <a:rPr lang="en-US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Pending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32935" y="4525367"/>
            <a:ext cx="520392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AI feedback enhancement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Voice/video interview integration</a:t>
            </a:r>
            <a:endParaRPr lang="en-US" sz="1467" dirty="0"/>
          </a:p>
          <a:p>
            <a:pPr marL="457189" indent="-457189">
              <a:lnSpc>
                <a:spcPts val="2333"/>
              </a:lnSpc>
              <a:buSzPct val="100000"/>
              <a:buChar char="•"/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 optimization &amp; deployment testing</a:t>
            </a:r>
            <a:endParaRPr lang="en-US" sz="14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263254"/>
            <a:ext cx="492928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6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Innovation Highlights</a:t>
            </a:r>
            <a:endParaRPr lang="en-US" sz="366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2231926"/>
            <a:ext cx="1473200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92" y="3378598"/>
            <a:ext cx="2540000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JD-Driven Personalization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1492" y="4082554"/>
            <a:ext cx="2540000" cy="15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Interview questions generated dynamically from the candidate's actual target Job Description — not templates.</a:t>
            </a:r>
            <a:endParaRPr lang="en-US" sz="146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731" y="2231926"/>
            <a:ext cx="1473200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731" y="3378598"/>
            <a:ext cx="2540099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Evaluation &amp; Scoring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437731" y="4082554"/>
            <a:ext cx="2540099" cy="15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candidate assessment with role-specific benchmarks and actionable improvement suggestions.</a:t>
            </a:r>
            <a:endParaRPr lang="en-US" sz="146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071" y="2231926"/>
            <a:ext cx="1473200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4071" y="337859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Coding Assessment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214071" y="3787279"/>
            <a:ext cx="254009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coding round evaluation with complexity and correctness analysis built in.</a:t>
            </a:r>
            <a:endParaRPr lang="en-US" sz="146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409" y="2231926"/>
            <a:ext cx="1473200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409" y="337859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Analytics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8990409" y="3787279"/>
            <a:ext cx="254009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performance tracking across sessions, enabling candidates to monitor growth over time.</a:t>
            </a:r>
            <a:endParaRPr lang="en-US" sz="14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2603" y="396379"/>
            <a:ext cx="6543476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33"/>
              </a:lnSpc>
            </a:pPr>
            <a:r>
              <a:rPr lang="en-US" sz="2533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Research Contribution &amp; Publication Scope</a:t>
            </a:r>
            <a:endParaRPr lang="en-US" sz="2533" dirty="0"/>
          </a:p>
        </p:txBody>
      </p:sp>
      <p:sp>
        <p:nvSpPr>
          <p:cNvPr id="3" name="Text 1"/>
          <p:cNvSpPr/>
          <p:nvPr/>
        </p:nvSpPr>
        <p:spPr>
          <a:xfrm>
            <a:off x="1612603" y="2794398"/>
            <a:ext cx="2412008" cy="203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2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Where This Research Is Headed</a:t>
            </a:r>
            <a:endParaRPr lang="en-US" sz="1267" dirty="0"/>
          </a:p>
        </p:txBody>
      </p:sp>
      <p:sp>
        <p:nvSpPr>
          <p:cNvPr id="4" name="Text 2"/>
          <p:cNvSpPr/>
          <p:nvPr/>
        </p:nvSpPr>
        <p:spPr>
          <a:xfrm>
            <a:off x="1612603" y="3086695"/>
            <a:ext cx="4324847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sits at the intersection of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Artificial Intelligence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EdTech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 rapidly growing space with high publication and patent potential.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703" y="1036837"/>
            <a:ext cx="4324847" cy="432484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703" y="1036837"/>
            <a:ext cx="4324847" cy="432484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612603" y="5562700"/>
            <a:ext cx="2929335" cy="898921"/>
          </a:xfrm>
          <a:prstGeom prst="roundRect">
            <a:avLst>
              <a:gd name="adj" fmla="val 607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748830" y="5698927"/>
            <a:ext cx="162440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267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📄</a:t>
            </a:r>
            <a:r>
              <a:rPr lang="en-US" sz="12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Research Paper</a:t>
            </a:r>
            <a:endParaRPr lang="en-US" sz="1267" dirty="0"/>
          </a:p>
        </p:txBody>
      </p:sp>
      <p:sp>
        <p:nvSpPr>
          <p:cNvPr id="9" name="Text 5"/>
          <p:cNvSpPr/>
          <p:nvPr/>
        </p:nvSpPr>
        <p:spPr>
          <a:xfrm>
            <a:off x="1748829" y="5974556"/>
            <a:ext cx="2656880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AI/EdTech domain journals and conferences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31234" y="5562700"/>
            <a:ext cx="2929335" cy="898921"/>
          </a:xfrm>
          <a:prstGeom prst="roundRect">
            <a:avLst>
              <a:gd name="adj" fmla="val 607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67462" y="5698927"/>
            <a:ext cx="162440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267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🎤</a:t>
            </a:r>
            <a:r>
              <a:rPr lang="en-US" sz="12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Conference</a:t>
            </a:r>
            <a:endParaRPr lang="en-US" sz="1267" dirty="0"/>
          </a:p>
        </p:txBody>
      </p:sp>
      <p:sp>
        <p:nvSpPr>
          <p:cNvPr id="12" name="Text 8"/>
          <p:cNvSpPr/>
          <p:nvPr/>
        </p:nvSpPr>
        <p:spPr>
          <a:xfrm>
            <a:off x="4767461" y="5974556"/>
            <a:ext cx="265688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 interview systems presentation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649866" y="5562700"/>
            <a:ext cx="2929335" cy="898921"/>
          </a:xfrm>
          <a:prstGeom prst="roundRect">
            <a:avLst>
              <a:gd name="adj" fmla="val 6072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86093" y="5698927"/>
            <a:ext cx="162440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3"/>
              </a:lnSpc>
            </a:pPr>
            <a:r>
              <a:rPr lang="en-US" sz="1267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🔐</a:t>
            </a:r>
            <a:r>
              <a:rPr lang="en-US" sz="126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Patent</a:t>
            </a:r>
            <a:endParaRPr lang="en-US" sz="1267" dirty="0"/>
          </a:p>
        </p:txBody>
      </p:sp>
      <p:sp>
        <p:nvSpPr>
          <p:cNvPr id="15" name="Text 11"/>
          <p:cNvSpPr/>
          <p:nvPr/>
        </p:nvSpPr>
        <p:spPr>
          <a:xfrm>
            <a:off x="7786092" y="5974556"/>
            <a:ext cx="2656880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Provisional filing on AI-personalized interview methodology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102618"/>
            <a:ext cx="772239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6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Presentation &amp; Live Demo Strategy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61492" y="2071291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467" dirty="0"/>
          </a:p>
        </p:txBody>
      </p:sp>
      <p:sp>
        <p:nvSpPr>
          <p:cNvPr id="4" name="Shape 2"/>
          <p:cNvSpPr/>
          <p:nvPr/>
        </p:nvSpPr>
        <p:spPr>
          <a:xfrm>
            <a:off x="661492" y="2367161"/>
            <a:ext cx="3496965" cy="2540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661492" y="2512417"/>
            <a:ext cx="244405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Problem &amp; Motivation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1492" y="2921099"/>
            <a:ext cx="34969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Set the stage with the gap in current platforms and why this solution matters.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4347468" y="2071291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4347468" y="2367161"/>
            <a:ext cx="3496965" cy="2540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4347468" y="251241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Architecture &amp; Stack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47468" y="2921099"/>
            <a:ext cx="3496965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Walk through the system design, technology choices, and rationale.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8033444" y="2071291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8033444" y="2367161"/>
            <a:ext cx="3496965" cy="2540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444" y="2512417"/>
            <a:ext cx="24815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Live Simulation Demo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33444" y="2921099"/>
            <a:ext cx="34969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Demonstrate a real JD upload, question generation, and AI evaluation in action.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61492" y="4159052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61493" y="4454921"/>
            <a:ext cx="5339953" cy="2540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92" y="460017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Analytics Dashboard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1493" y="5008860"/>
            <a:ext cx="5339953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Showcase feedback reports and performance tracking features.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190456" y="4159052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05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190457" y="4454921"/>
            <a:ext cx="5339953" cy="2540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56" y="460017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Q&amp;A &amp; Future Scope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0457" y="5008860"/>
            <a:ext cx="5339953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Address queries confidently, emphasizing scalability, innovation, and real-world impact.</a:t>
            </a:r>
            <a:endParaRPr lang="en-US"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038821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6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Takeaways</a:t>
            </a:r>
            <a:endParaRPr lang="en-US" sz="3667" dirty="0"/>
          </a:p>
        </p:txBody>
      </p:sp>
      <p:sp>
        <p:nvSpPr>
          <p:cNvPr id="3" name="Shape 1"/>
          <p:cNvSpPr/>
          <p:nvPr/>
        </p:nvSpPr>
        <p:spPr>
          <a:xfrm>
            <a:off x="661493" y="2007494"/>
            <a:ext cx="10869017" cy="2795785"/>
          </a:xfrm>
          <a:prstGeom prst="roundRect">
            <a:avLst>
              <a:gd name="adj" fmla="val 2840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42" y="2013843"/>
            <a:ext cx="5428159" cy="1391543"/>
          </a:xfrm>
          <a:prstGeom prst="roundRect">
            <a:avLst>
              <a:gd name="adj" fmla="val 5705"/>
            </a:avLst>
          </a:prstGeom>
          <a:solidFill>
            <a:srgbClr val="D2D9F9"/>
          </a:solidFill>
          <a:ln/>
        </p:spPr>
      </p:sp>
      <p:sp>
        <p:nvSpPr>
          <p:cNvPr id="5" name="Text 3"/>
          <p:cNvSpPr/>
          <p:nvPr/>
        </p:nvSpPr>
        <p:spPr>
          <a:xfrm>
            <a:off x="856853" y="220285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 Personalization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6854" y="2611538"/>
            <a:ext cx="5050135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Job Description analysis creates a uniquely tailored experience for every candidate.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6096001" y="2013843"/>
            <a:ext cx="5428159" cy="1391543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0" y="2013843"/>
            <a:ext cx="25400" cy="1391543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9" name="Text 7"/>
          <p:cNvSpPr/>
          <p:nvPr/>
        </p:nvSpPr>
        <p:spPr>
          <a:xfrm>
            <a:off x="6285012" y="220285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Full-Stack AI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5013" y="2611538"/>
            <a:ext cx="5050135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NLP parsing to automated scoring — AI is embedded at every layer of the platform.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67842" y="3405386"/>
            <a:ext cx="5428159" cy="1391543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842" y="3405385"/>
            <a:ext cx="5428159" cy="2540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3" name="Text 11"/>
          <p:cNvSpPr/>
          <p:nvPr/>
        </p:nvSpPr>
        <p:spPr>
          <a:xfrm>
            <a:off x="856853" y="359439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Research-Ready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6854" y="4003080"/>
            <a:ext cx="5050135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Positioned for publication, conference presentation, and provisional patent filing.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096001" y="3405386"/>
            <a:ext cx="5428159" cy="1391543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3405386"/>
            <a:ext cx="25400" cy="1391543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1" y="3405385"/>
            <a:ext cx="5428159" cy="2540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8" name="Text 16"/>
          <p:cNvSpPr/>
          <p:nvPr/>
        </p:nvSpPr>
        <p:spPr>
          <a:xfrm>
            <a:off x="6285012" y="359439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Built to Scale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85013" y="4003080"/>
            <a:ext cx="5050135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Modular architecture and Docker-ready deployment ensure the platform grows with demand.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61493" y="5015905"/>
            <a:ext cx="10869017" cy="803176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5289947"/>
            <a:ext cx="236240" cy="1890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5755" y="5252144"/>
            <a:ext cx="100657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67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platform doesn't just prepare candidates — it redefines what interview readiness looks like in the age of AI.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657</Words>
  <Application>Microsoft Office PowerPoint</Application>
  <PresentationFormat>Widescreen</PresentationFormat>
  <Paragraphs>120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Corben</vt:lpstr>
      <vt:lpstr>Corben Light</vt:lpstr>
      <vt:lpstr>Nobile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neelam.rawat</dc:creator>
  <cp:lastModifiedBy>Tushar Prajapati</cp:lastModifiedBy>
  <cp:revision>7</cp:revision>
  <dcterms:created xsi:type="dcterms:W3CDTF">2025-08-16T13:47:00Z</dcterms:created>
  <dcterms:modified xsi:type="dcterms:W3CDTF">2026-05-11T03:49:41Z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5470836F01CB498981FB4B25DFFE0262_13</vt:lpwstr>
  </property>
  <property fmtid="{D5CDD505-2E9C-101B-9397-08002B2CF9AE}" pid="3" name="KSOProductBuildVer">
    <vt:lpwstr>1033-12.2.0.21931</vt:lpwstr>
  </property>
</Properties>
</file>