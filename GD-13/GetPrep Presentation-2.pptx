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3" r:id="rId2"/>
  </p:sldMasterIdLst>
  <p:notesMasterIdLst>
    <p:notesMasterId r:id="rId16"/>
  </p:notesMasterIdLst>
  <p:sldIdLst>
    <p:sldId id="271" r:id="rId3"/>
    <p:sldId id="257" r:id="rId4"/>
    <p:sldId id="258" r:id="rId5"/>
    <p:sldId id="259" r:id="rId6"/>
    <p:sldId id="260" r:id="rId7"/>
    <p:sldId id="262" r:id="rId8"/>
    <p:sldId id="269" r:id="rId9"/>
    <p:sldId id="270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Corben" panose="020B0604020202020204" charset="0"/>
      <p:regular r:id="rId21"/>
    </p:embeddedFont>
    <p:embeddedFont>
      <p:font typeface="Nobile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2" d="100"/>
          <a:sy n="112" d="100"/>
        </p:scale>
        <p:origin x="610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65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7F7F-7FC2-AC9D-AD20-8F38AFBB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1A1F0-E0E6-589B-6774-BA7CF2F24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2FC5A-6FD5-1D2F-62F9-A0D1F3A6B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46552-B99B-B724-7E1D-14CB0FE11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98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1470F-6901-B394-2A13-D97A331A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7A84B-2A83-CAA4-5B2A-5BF57AD38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46613-E938-0BE7-1724-55CCBC3B3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77D08-0737-F648-A68B-FD64DE595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58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78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97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1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17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769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394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915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672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922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629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99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71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763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667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753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920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911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144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4031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2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31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0CC7A-2782-38D6-EE75-4C9E12E3BA04}"/>
              </a:ext>
            </a:extLst>
          </p:cNvPr>
          <p:cNvSpPr txBox="1">
            <a:spLocks/>
          </p:cNvSpPr>
          <p:nvPr/>
        </p:nvSpPr>
        <p:spPr>
          <a:xfrm>
            <a:off x="1143000" y="1554480"/>
            <a:ext cx="6858000" cy="134316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/>
            <a:r>
              <a:rPr lang="en-US" sz="33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Project-II (CA401P)</a:t>
            </a:r>
            <a:br>
              <a:rPr lang="en-IN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25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Semester</a:t>
            </a:r>
            <a:br>
              <a:rPr lang="en-IN" sz="2625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25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2025-2026</a:t>
            </a:r>
            <a:endParaRPr lang="en-US" sz="2625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7E164-F305-1684-E1F0-2669906D69B0}"/>
              </a:ext>
            </a:extLst>
          </p:cNvPr>
          <p:cNvSpPr txBox="1">
            <a:spLocks/>
          </p:cNvSpPr>
          <p:nvPr/>
        </p:nvSpPr>
        <p:spPr>
          <a:xfrm>
            <a:off x="1227803" y="2931454"/>
            <a:ext cx="6858000" cy="1038368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ts val="750"/>
              </a:spcBef>
              <a:buNone/>
            </a:pPr>
            <a:r>
              <a:rPr lang="en-US" sz="33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Prep</a:t>
            </a:r>
          </a:p>
          <a:p>
            <a:pPr marL="0" indent="0" algn="ctr" defTabSz="685800">
              <a:spcBef>
                <a:spcPts val="750"/>
              </a:spcBef>
              <a:buNone/>
            </a:pPr>
            <a:r>
              <a:rPr lang="en-US" sz="2625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Tarun Kumar – 202410116100223</a:t>
            </a:r>
          </a:p>
          <a:p>
            <a:pPr marL="0" indent="0" algn="ctr" defTabSz="685800">
              <a:spcBef>
                <a:spcPts val="750"/>
              </a:spcBef>
              <a:buNone/>
            </a:pPr>
            <a:r>
              <a:rPr lang="en-US" sz="2625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Tushar Kumar – 202410116100227</a:t>
            </a:r>
          </a:p>
          <a:p>
            <a:pPr marL="0" indent="0" algn="ctr" defTabSz="685800">
              <a:spcBef>
                <a:spcPts val="750"/>
              </a:spcBef>
              <a:buNone/>
            </a:pPr>
            <a:r>
              <a:rPr lang="en-US" sz="2625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Vaibhav Singh Kalura – 202410116100233</a:t>
            </a:r>
          </a:p>
          <a:p>
            <a:pPr marL="0" indent="0" algn="ctr" defTabSz="685800">
              <a:spcBef>
                <a:spcPts val="750"/>
              </a:spcBef>
              <a:buNone/>
            </a:pPr>
            <a:r>
              <a:rPr lang="en-US" sz="2625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Vishal Dagar - 202410116100249 </a:t>
            </a:r>
          </a:p>
          <a:p>
            <a:pPr marL="171450" indent="-171450" defTabSz="685800">
              <a:spcBef>
                <a:spcPts val="750"/>
              </a:spcBef>
            </a:pPr>
            <a:endParaRPr lang="en-US" sz="21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AAC7D39-064D-5488-B9C8-DE27FEF3BE52}"/>
              </a:ext>
            </a:extLst>
          </p:cNvPr>
          <p:cNvSpPr txBox="1">
            <a:spLocks/>
          </p:cNvSpPr>
          <p:nvPr/>
        </p:nvSpPr>
        <p:spPr>
          <a:xfrm>
            <a:off x="1147763" y="3524488"/>
            <a:ext cx="6858000" cy="57202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spcBef>
                <a:spcPts val="750"/>
              </a:spcBef>
            </a:pPr>
            <a:endParaRPr lang="en-US" sz="1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6D79585-1E8C-C263-BF0A-3F43A7FA6D61}"/>
              </a:ext>
            </a:extLst>
          </p:cNvPr>
          <p:cNvSpPr txBox="1">
            <a:spLocks/>
          </p:cNvSpPr>
          <p:nvPr/>
        </p:nvSpPr>
        <p:spPr>
          <a:xfrm>
            <a:off x="6858000" y="3718317"/>
            <a:ext cx="2276475" cy="148417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>
              <a:spcBef>
                <a:spcPts val="750"/>
              </a:spcBef>
            </a:pPr>
            <a:r>
              <a:rPr lang="en-IN" sz="18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defTabSz="685800">
              <a:spcBef>
                <a:spcPts val="750"/>
              </a:spcBef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Amit Kumar Gupta</a:t>
            </a:r>
          </a:p>
          <a:p>
            <a:pPr algn="just" defTabSz="685800">
              <a:spcBef>
                <a:spcPts val="750"/>
              </a:spcBef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Anita Yadav</a:t>
            </a:r>
          </a:p>
          <a:p>
            <a:pPr algn="just" defTabSz="685800">
              <a:spcBef>
                <a:spcPts val="750"/>
              </a:spcBef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Neelam Rawat</a:t>
            </a:r>
          </a:p>
          <a:p>
            <a:pPr algn="just" defTabSz="685800">
              <a:spcBef>
                <a:spcPts val="750"/>
              </a:spcBef>
            </a:pP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685800">
              <a:spcBef>
                <a:spcPts val="750"/>
              </a:spcBef>
            </a:pPr>
            <a:endParaRPr lang="en-IN" sz="1800" b="1" u="sng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3C0F2-1093-7A6F-FD10-D8224C7F0030}"/>
              </a:ext>
            </a:extLst>
          </p:cNvPr>
          <p:cNvSpPr txBox="1"/>
          <p:nvPr/>
        </p:nvSpPr>
        <p:spPr>
          <a:xfrm>
            <a:off x="176980" y="4096512"/>
            <a:ext cx="2101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IN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b="1" u="sng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Incharge</a:t>
            </a:r>
            <a:r>
              <a:rPr lang="en-IN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defTabSz="685800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Ankit Verma</a:t>
            </a:r>
          </a:p>
          <a:p>
            <a:pPr defTabSz="685800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Annu Yadav</a:t>
            </a:r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613B25F4-4FA9-AB7C-1ACA-2CFD22C585E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33613" y="0"/>
            <a:ext cx="4686299" cy="10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75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31465"/>
            <a:ext cx="44490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Problem We're Solving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4022" y="1187053"/>
            <a:ext cx="2392635" cy="3424982"/>
          </a:xfrm>
          <a:prstGeom prst="roundRect">
            <a:avLst>
              <a:gd name="adj" fmla="val 4266"/>
            </a:avLst>
          </a:prstGeom>
          <a:solidFill>
            <a:srgbClr val="4967E9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1328812"/>
            <a:ext cx="18989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Gap in Preparation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35781" y="1692027"/>
            <a:ext cx="210911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Most candidates enter technical interviews unprepared — lacking personalized feedback, real-time practice environments, and structured guidance tailored to their skill level and target role.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035201" y="13288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Challenges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035201" y="1692027"/>
            <a:ext cx="2188443" cy="287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adaptive feedback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generic mock tests don't reflect real interviews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Unstructured practice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candidates don't know what to focus 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performance tracking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progress is invisible and unmeasurable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Lack of AI assistance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no intelligent guidance during preparation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771"/>
            <a:ext cx="397289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Objectives of the Project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30275"/>
            <a:ext cx="4004965" cy="1733848"/>
          </a:xfrm>
          <a:prstGeom prst="roundRect">
            <a:avLst>
              <a:gd name="adj" fmla="val 3434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5169" y="1149325"/>
            <a:ext cx="3966865" cy="425276"/>
          </a:xfrm>
          <a:prstGeom prst="roundRect">
            <a:avLst>
              <a:gd name="adj" fmla="val 8626"/>
            </a:avLst>
          </a:prstGeom>
          <a:solidFill>
            <a:srgbClr val="D2D9F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2263" y="1253207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6927" y="1716360"/>
            <a:ext cx="22758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AI-Driven Mock Interviews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2022872"/>
            <a:ext cx="36833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Simulate real interview scenarios using OpenAI API with adaptive questioning based on user performance.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130275"/>
            <a:ext cx="4005039" cy="1733848"/>
          </a:xfrm>
          <a:prstGeom prst="roundRect">
            <a:avLst>
              <a:gd name="adj" fmla="val 3434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1892" y="1149325"/>
            <a:ext cx="3966939" cy="425276"/>
          </a:xfrm>
          <a:prstGeom prst="roundRect">
            <a:avLst>
              <a:gd name="adj" fmla="val 8626"/>
            </a:avLst>
          </a:prstGeom>
          <a:solidFill>
            <a:srgbClr val="D2D9F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9061" y="1253207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3651" y="1716360"/>
            <a:ext cx="28628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Performance Analytics Dashboard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803651" y="2022872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 detailed, real-time feedback and progress tracking across topics, difficulty levels, and domains.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733848"/>
          </a:xfrm>
          <a:prstGeom prst="roundRect">
            <a:avLst>
              <a:gd name="adj" fmla="val 3434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5169" y="3024932"/>
            <a:ext cx="3966865" cy="425276"/>
          </a:xfrm>
          <a:prstGeom prst="roundRect">
            <a:avLst>
              <a:gd name="adj" fmla="val 8626"/>
            </a:avLst>
          </a:prstGeom>
          <a:solidFill>
            <a:srgbClr val="D2D9F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2263" y="3128814"/>
            <a:ext cx="212601" cy="212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6927" y="3591967"/>
            <a:ext cx="215123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Live Coding Environment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56927" y="3898478"/>
            <a:ext cx="36833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an in-browser code editor supporting multiple languages with AI-assisted hints and evaluation.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733848"/>
          </a:xfrm>
          <a:prstGeom prst="roundRect">
            <a:avLst>
              <a:gd name="adj" fmla="val 3434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61892" y="3024932"/>
            <a:ext cx="3966939" cy="425276"/>
          </a:xfrm>
          <a:prstGeom prst="roundRect">
            <a:avLst>
              <a:gd name="adj" fmla="val 8626"/>
            </a:avLst>
          </a:prstGeom>
          <a:solidFill>
            <a:srgbClr val="D2D9F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9061" y="3128814"/>
            <a:ext cx="212601" cy="2126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03651" y="3591967"/>
            <a:ext cx="23880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Personalized Learning Paths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803651" y="3898478"/>
            <a:ext cx="3683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 curated preparation roadmaps aligned to specific roles such as SDE, Data Scientist, or Full Stack Developer.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349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Architecture</a:t>
            </a:r>
            <a:endParaRPr lang="en-US" sz="2750" dirty="0"/>
          </a:p>
        </p:txBody>
      </p:sp>
      <p:sp>
        <p:nvSpPr>
          <p:cNvPr id="10" name="Text 7"/>
          <p:cNvSpPr/>
          <p:nvPr/>
        </p:nvSpPr>
        <p:spPr>
          <a:xfrm>
            <a:off x="5174531" y="1530846"/>
            <a:ext cx="20318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Architectural Highlights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174531" y="1894061"/>
            <a:ext cx="3478039" cy="246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React.js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frontend delivers a responsive, dashboard-style UI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Node.js / Express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RESTful backend handles session and logic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OpenAI API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powers adaptive questioning and answer evaluation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MongoDB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stores user sessions, responses, and progress logs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MySQL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manages structured data: users, roles, question banks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3E803E-B9C8-F688-D4A3-7E40EEBEF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97279"/>
            <a:ext cx="3025003" cy="34384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50193"/>
            <a:ext cx="435396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Technology Stack &amp; Methodology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74489" y="939329"/>
            <a:ext cx="2549054" cy="678582"/>
          </a:xfrm>
          <a:prstGeom prst="roundRect">
            <a:avLst>
              <a:gd name="adj" fmla="val 699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2212" y="1057052"/>
            <a:ext cx="1412081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⚛️</a:t>
            </a: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Frontend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2212" y="1337816"/>
            <a:ext cx="231360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React.js, Tailwind CSS, Axios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74489" y="1707877"/>
            <a:ext cx="2549054" cy="678582"/>
          </a:xfrm>
          <a:prstGeom prst="roundRect">
            <a:avLst>
              <a:gd name="adj" fmla="val 699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2212" y="1825600"/>
            <a:ext cx="1412081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🐍</a:t>
            </a: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2212" y="2106364"/>
            <a:ext cx="231360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Node.js, Express.js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74489" y="2476426"/>
            <a:ext cx="2549054" cy="678582"/>
          </a:xfrm>
          <a:prstGeom prst="roundRect">
            <a:avLst>
              <a:gd name="adj" fmla="val 699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212" y="2594149"/>
            <a:ext cx="1412081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🗄️</a:t>
            </a: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Database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2212" y="2874913"/>
            <a:ext cx="231360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MongoDB, MySQL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4489" y="3244974"/>
            <a:ext cx="2549054" cy="678582"/>
          </a:xfrm>
          <a:prstGeom prst="roundRect">
            <a:avLst>
              <a:gd name="adj" fmla="val 699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212" y="3362697"/>
            <a:ext cx="1412081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🤖</a:t>
            </a: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AI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2212" y="3643461"/>
            <a:ext cx="231360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OpenAI GPT API, NLP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4489" y="4013522"/>
            <a:ext cx="2549054" cy="678582"/>
          </a:xfrm>
          <a:prstGeom prst="roundRect">
            <a:avLst>
              <a:gd name="adj" fmla="val 699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212" y="4131246"/>
            <a:ext cx="1412081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🛠️</a:t>
            </a: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Dev Tools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2212" y="4412010"/>
            <a:ext cx="231360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GitHub, VS Code, Postman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03935" y="1339825"/>
            <a:ext cx="177172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Development Methodology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3935" y="1606302"/>
            <a:ext cx="497019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project followed an </a:t>
            </a: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Agile SDLC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approach with two-week sprints, continuous integration, and iterative feedback cycles.</a:t>
            </a:r>
            <a:endParaRPr lang="en-US" sz="8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956" y="2032248"/>
            <a:ext cx="4912147" cy="2248123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590" y="2593544"/>
            <a:ext cx="315827" cy="3158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94207" y="3746513"/>
            <a:ext cx="922217" cy="17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Deploy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9364" y="2594136"/>
            <a:ext cx="315828" cy="31582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31961" y="3746513"/>
            <a:ext cx="922217" cy="17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3435" y="2594136"/>
            <a:ext cx="315828" cy="3158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76031" y="3746513"/>
            <a:ext cx="922217" cy="17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Build</a:t>
            </a:r>
            <a:endParaRPr lang="en-US" sz="11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1189" y="2594136"/>
            <a:ext cx="315828" cy="3158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94836" y="3746513"/>
            <a:ext cx="922217" cy="17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Plan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6569"/>
            <a:ext cx="74838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Entity Relationship Diagram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307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80330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EB351F-12D7-0B14-9650-ADB6DE53E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7" y="1449132"/>
            <a:ext cx="6535547" cy="30878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154A-6D65-49B8-8E98-ACDDA062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F14A53-E8A8-5FF6-4592-54E0DB890F40}"/>
              </a:ext>
            </a:extLst>
          </p:cNvPr>
          <p:cNvSpPr/>
          <p:nvPr/>
        </p:nvSpPr>
        <p:spPr>
          <a:xfrm>
            <a:off x="496119" y="886569"/>
            <a:ext cx="74838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endParaRPr lang="en-US" sz="2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697437-B5E8-C22F-DF38-4060B2BFC0AA}"/>
              </a:ext>
            </a:extLst>
          </p:cNvPr>
          <p:cNvSpPr/>
          <p:nvPr/>
        </p:nvSpPr>
        <p:spPr>
          <a:xfrm>
            <a:off x="496119" y="161307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B06B733-9A44-8AEB-7116-96A2448F9519}"/>
              </a:ext>
            </a:extLst>
          </p:cNvPr>
          <p:cNvSpPr/>
          <p:nvPr/>
        </p:nvSpPr>
        <p:spPr>
          <a:xfrm>
            <a:off x="496119" y="380330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DB21A-504A-EC0A-15D1-A4F414AAF06D}"/>
              </a:ext>
            </a:extLst>
          </p:cNvPr>
          <p:cNvSpPr txBox="1"/>
          <p:nvPr/>
        </p:nvSpPr>
        <p:spPr>
          <a:xfrm>
            <a:off x="496117" y="641565"/>
            <a:ext cx="4572000" cy="381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Flow Diagram (DFD) - Level 0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D48829-7DDC-A51D-4DF0-505848389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20" y="1268405"/>
            <a:ext cx="5840886" cy="339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1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53C3-3767-E39F-6734-39ABF0DAB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FECA52-F2F4-ECD3-6F66-67232391607B}"/>
              </a:ext>
            </a:extLst>
          </p:cNvPr>
          <p:cNvSpPr/>
          <p:nvPr/>
        </p:nvSpPr>
        <p:spPr>
          <a:xfrm>
            <a:off x="496119" y="886569"/>
            <a:ext cx="74838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endParaRPr lang="en-US" sz="2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0ED01-A9EB-578E-4FCB-DE441FA4537B}"/>
              </a:ext>
            </a:extLst>
          </p:cNvPr>
          <p:cNvSpPr/>
          <p:nvPr/>
        </p:nvSpPr>
        <p:spPr>
          <a:xfrm>
            <a:off x="496119" y="161307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0665C15-4AFB-0DCC-F1AA-CCF90E23D4A9}"/>
              </a:ext>
            </a:extLst>
          </p:cNvPr>
          <p:cNvSpPr/>
          <p:nvPr/>
        </p:nvSpPr>
        <p:spPr>
          <a:xfrm>
            <a:off x="496119" y="380330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65D8E-8E49-A6F8-4565-F549852A0C1F}"/>
              </a:ext>
            </a:extLst>
          </p:cNvPr>
          <p:cNvSpPr txBox="1"/>
          <p:nvPr/>
        </p:nvSpPr>
        <p:spPr>
          <a:xfrm>
            <a:off x="496117" y="641565"/>
            <a:ext cx="4572000" cy="381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Flow Diagram (DFD) - Level 1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F6265A-3892-9C20-F7DA-009FD67EE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20" y="1108062"/>
            <a:ext cx="5979531" cy="367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2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3602"/>
            <a:ext cx="70926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UML Use Case Diagram: User Interactions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5010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640336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FAD7C8-1C76-86C0-9909-4DFAEA9F2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47219"/>
            <a:ext cx="7092628" cy="33665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393" y="348332"/>
            <a:ext cx="4862215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GitHub Repository &amp; Testing Results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26393" y="137137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Repository 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26393" y="1666354"/>
            <a:ext cx="2282503" cy="137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Version-controlled with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using feature-branch workflow</a:t>
            </a:r>
            <a:endParaRPr lang="en-US" sz="9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Structured into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ai-engine/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and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directories</a:t>
            </a:r>
            <a:endParaRPr lang="en-US" sz="9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CI/CD pipeline configured with GitHub Actions for automated builds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010867" y="137137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Testing Summary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010867" y="1679451"/>
            <a:ext cx="2282503" cy="929580"/>
          </a:xfrm>
          <a:prstGeom prst="roundRect">
            <a:avLst>
              <a:gd name="adj" fmla="val 5505"/>
            </a:avLst>
          </a:prstGeom>
          <a:solidFill>
            <a:srgbClr val="F9F9FF">
              <a:alpha val="95000"/>
            </a:srgbClr>
          </a:solidFill>
          <a:ln w="14288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46971" y="1815554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Unit Testing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46971" y="2110532"/>
            <a:ext cx="201029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PyTest — 94% pass rate across all API endpoints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010867" y="2713658"/>
            <a:ext cx="2282503" cy="929580"/>
          </a:xfrm>
          <a:prstGeom prst="roundRect">
            <a:avLst>
              <a:gd name="adj" fmla="val 5505"/>
            </a:avLst>
          </a:prstGeom>
          <a:solidFill>
            <a:srgbClr val="F9F9FF">
              <a:alpha val="95000"/>
            </a:srgbClr>
          </a:solidFill>
          <a:ln w="14288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46971" y="2849761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API Testing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146971" y="3144738"/>
            <a:ext cx="201029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Postman collections validated all REST routes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010867" y="3747864"/>
            <a:ext cx="2282503" cy="929580"/>
          </a:xfrm>
          <a:prstGeom prst="roundRect">
            <a:avLst>
              <a:gd name="adj" fmla="val 5505"/>
            </a:avLst>
          </a:prstGeom>
          <a:solidFill>
            <a:srgbClr val="F9F9FF">
              <a:alpha val="95000"/>
            </a:srgbClr>
          </a:solidFill>
          <a:ln w="14288">
            <a:solidFill>
              <a:srgbClr val="B8B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46971" y="3883968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UAT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146971" y="4178945"/>
            <a:ext cx="201029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Beta tested with 20 MCA peers; 88% satisfaction score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66338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Research Outcomes &amp; Patent Scope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655118"/>
            <a:ext cx="185551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Research Contributions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1921594"/>
            <a:ext cx="3759622" cy="1199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Adaptive AI Questioning: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 novel algorithm dynamically adjusts question difficulty based on live response quality using GPT embeddings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Semantic Answer Evaluation: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NLP-based scoring model benchmarks free-text answers against expert responses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Behavioral Pattern Analysis: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Tracks hesitation time and keyword patterns to identify knowledge gaps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74489" y="3222352"/>
            <a:ext cx="3759622" cy="742727"/>
          </a:xfrm>
          <a:prstGeom prst="roundRect">
            <a:avLst>
              <a:gd name="adj" fmla="val 6388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0" y="3374157"/>
            <a:ext cx="141163" cy="1129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1574" y="3340522"/>
            <a:ext cx="327957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Eligible for filing under </a:t>
            </a:r>
            <a:r>
              <a:rPr lang="en-US" sz="8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Indian Patent Act — Section 6</a:t>
            </a: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as a computer-implemented invention with a novel AI-driven evaluation methodology.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8688"/>
            <a:ext cx="37009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Future Enhancements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562475" y="1185193"/>
            <a:ext cx="19050" cy="3499545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4" name="Shape 2"/>
          <p:cNvSpPr/>
          <p:nvPr/>
        </p:nvSpPr>
        <p:spPr>
          <a:xfrm>
            <a:off x="4006304" y="1335137"/>
            <a:ext cx="425276" cy="19050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5" name="Shape 3"/>
          <p:cNvSpPr/>
          <p:nvPr/>
        </p:nvSpPr>
        <p:spPr>
          <a:xfrm>
            <a:off x="4412531" y="118519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65700" y="121175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091184" y="12338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Phase 1 — Q3 2025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1540371"/>
            <a:ext cx="33670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Voice-based interview simulation with speech-to-text AI evaluation and tone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12419" y="2185690"/>
            <a:ext cx="425276" cy="19050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10" name="Shape 8"/>
          <p:cNvSpPr/>
          <p:nvPr/>
        </p:nvSpPr>
        <p:spPr>
          <a:xfrm>
            <a:off x="4412531" y="203574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5700" y="206231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280794" y="20844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Phase 2 — Q4 2025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80794" y="2390924"/>
            <a:ext cx="336708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Resume parser integration — auto-generates personalized question sets from uploaded resumes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06304" y="2918817"/>
            <a:ext cx="425276" cy="19050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15" name="Shape 13"/>
          <p:cNvSpPr/>
          <p:nvPr/>
        </p:nvSpPr>
        <p:spPr>
          <a:xfrm>
            <a:off x="4412531" y="276887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5700" y="279543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091184" y="28175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Phase 3 — Q1 2026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124051"/>
            <a:ext cx="336708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Company-specific interview tracks for top tech firms (Google, Amazon, Microsoft) with historical question datasets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12419" y="3651945"/>
            <a:ext cx="425276" cy="19050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20" name="Shape 18"/>
          <p:cNvSpPr/>
          <p:nvPr/>
        </p:nvSpPr>
        <p:spPr>
          <a:xfrm>
            <a:off x="4412531" y="350200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5700" y="352856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280794" y="35506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Phase 4 — Q2 2026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80794" y="3857179"/>
            <a:ext cx="336708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Mobile application launch (iOS &amp; Android) with offline practice mode and push-notification reminders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2" y="388516"/>
            <a:ext cx="33226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894162" y="990674"/>
            <a:ext cx="4784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GetPrep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bridges the critical gap between academic learning and real-world interview readiness through intelligent, adaptive AI technology.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894162" y="1542752"/>
            <a:ext cx="4784675" cy="2173932"/>
          </a:xfrm>
          <a:prstGeom prst="roundRect">
            <a:avLst>
              <a:gd name="adj" fmla="val 2568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98925" y="1547515"/>
            <a:ext cx="2387575" cy="1185193"/>
          </a:xfrm>
          <a:prstGeom prst="roundRect">
            <a:avLst>
              <a:gd name="adj" fmla="val 4710"/>
            </a:avLst>
          </a:prstGeom>
          <a:solidFill>
            <a:srgbClr val="D2D9F9"/>
          </a:solidFill>
          <a:ln/>
        </p:spPr>
      </p:sp>
      <p:sp>
        <p:nvSpPr>
          <p:cNvPr id="7" name="Text 4"/>
          <p:cNvSpPr/>
          <p:nvPr/>
        </p:nvSpPr>
        <p:spPr>
          <a:xfrm>
            <a:off x="4031828" y="1680418"/>
            <a:ext cx="1661294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🎯</a:t>
            </a: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Problem Solved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31828" y="1981870"/>
            <a:ext cx="2121768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Personalized, AI-driven mock interviews replacing static, generic practice tools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86500" y="1547515"/>
            <a:ext cx="2387575" cy="1185193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1547515"/>
            <a:ext cx="14288" cy="1185193"/>
          </a:xfrm>
          <a:prstGeom prst="roundRect">
            <a:avLst>
              <a:gd name="adj" fmla="val 390684"/>
            </a:avLst>
          </a:prstGeom>
          <a:solidFill>
            <a:srgbClr val="B8BFDF"/>
          </a:solidFill>
          <a:ln/>
        </p:spPr>
      </p:sp>
      <p:sp>
        <p:nvSpPr>
          <p:cNvPr id="11" name="Text 8"/>
          <p:cNvSpPr/>
          <p:nvPr/>
        </p:nvSpPr>
        <p:spPr>
          <a:xfrm>
            <a:off x="6419404" y="1680418"/>
            <a:ext cx="1661294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⚙️</a:t>
            </a: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Technically Sound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19404" y="1981870"/>
            <a:ext cx="2121768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Built on a robust, scalable stack — React, Flask, OpenAI API, and dual-database architecture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98925" y="2732708"/>
            <a:ext cx="4775150" cy="979215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898925" y="2732708"/>
            <a:ext cx="4775150" cy="14288"/>
          </a:xfrm>
          <a:prstGeom prst="roundRect">
            <a:avLst>
              <a:gd name="adj" fmla="val 390684"/>
            </a:avLst>
          </a:prstGeom>
          <a:solidFill>
            <a:srgbClr val="B8BFDF"/>
          </a:solidFill>
          <a:ln/>
        </p:spPr>
      </p:sp>
      <p:sp>
        <p:nvSpPr>
          <p:cNvPr id="15" name="Text 12"/>
          <p:cNvSpPr/>
          <p:nvPr/>
        </p:nvSpPr>
        <p:spPr>
          <a:xfrm>
            <a:off x="4031828" y="2865611"/>
            <a:ext cx="1661294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🚀</a:t>
            </a: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Future-Ready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31828" y="3167063"/>
            <a:ext cx="450934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Clear roadmap for voice AI, mobile expansion, and company-specific tracks makes GetPrep commercially viable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093518" y="3996928"/>
            <a:ext cx="458532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GetPrep is not just a project — it is a deployable, research-backed platform designed to redefine how candidates prepare for technical careers.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94162" y="3856806"/>
            <a:ext cx="14288" cy="898178"/>
          </a:xfrm>
          <a:prstGeom prst="rect">
            <a:avLst/>
          </a:prstGeom>
          <a:solidFill>
            <a:srgbClr val="4967E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702</Words>
  <Application>Microsoft Office PowerPoint</Application>
  <PresentationFormat>On-screen Show (16:9)</PresentationFormat>
  <Paragraphs>110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Times New Roman</vt:lpstr>
      <vt:lpstr>Nobile</vt:lpstr>
      <vt:lpstr>Aptos Display</vt:lpstr>
      <vt:lpstr>Aptos</vt:lpstr>
      <vt:lpstr>Arial</vt:lpstr>
      <vt:lpstr>Corben</vt:lpstr>
      <vt:lpstr>Consolas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Tushar Prajapati</cp:lastModifiedBy>
  <cp:revision>2</cp:revision>
  <dcterms:created xsi:type="dcterms:W3CDTF">2026-05-11T04:10:30Z</dcterms:created>
  <dcterms:modified xsi:type="dcterms:W3CDTF">2026-05-11T08:44:07Z</dcterms:modified>
</cp:coreProperties>
</file>