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9" r:id="rId1"/>
    <p:sldMasterId id="2147483742" r:id="rId2"/>
  </p:sldMasterIdLst>
  <p:notesMasterIdLst>
    <p:notesMasterId r:id="rId15"/>
  </p:notesMasterIdLst>
  <p:sldIdLst>
    <p:sldId id="266" r:id="rId3"/>
    <p:sldId id="257" r:id="rId4"/>
    <p:sldId id="262" r:id="rId5"/>
    <p:sldId id="264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14630400" cy="8229600"/>
  <p:notesSz cx="8229600" cy="14630400"/>
  <p:embeddedFontLst>
    <p:embeddedFont>
      <p:font typeface="Garamond" panose="02020404030301010803" pitchFamily="18" charset="0"/>
      <p:regular r:id="rId16"/>
      <p:bold r:id="rId17"/>
      <p: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0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825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0321" y="0"/>
            <a:ext cx="14677392" cy="8227457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0878" y="2245358"/>
            <a:ext cx="8178803" cy="1818640"/>
          </a:xfrm>
        </p:spPr>
        <p:txBody>
          <a:bodyPr anchor="b">
            <a:noAutofit/>
          </a:bodyPr>
          <a:lstStyle>
            <a:lvl1pPr algn="ctr">
              <a:defRPr sz="648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0878" y="4389117"/>
            <a:ext cx="8178803" cy="1584962"/>
          </a:xfrm>
        </p:spPr>
        <p:txBody>
          <a:bodyPr anchor="t">
            <a:normAutofit/>
          </a:bodyPr>
          <a:lstStyle>
            <a:lvl1pPr marL="0" indent="0" algn="ctr">
              <a:buNone/>
              <a:defRPr sz="2520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79879" y="6045196"/>
            <a:ext cx="1076960" cy="335280"/>
          </a:xfrm>
        </p:spPr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0877" y="6045196"/>
            <a:ext cx="6257562" cy="33528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48281" y="6045196"/>
            <a:ext cx="661400" cy="335280"/>
          </a:xfrm>
        </p:spPr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30879" y="4226557"/>
            <a:ext cx="81788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349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4227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8083" y="2103127"/>
            <a:ext cx="9790426" cy="2187017"/>
          </a:xfrm>
        </p:spPr>
        <p:txBody>
          <a:bodyPr anchor="b">
            <a:normAutofit/>
          </a:bodyPr>
          <a:lstStyle>
            <a:lvl1pPr algn="ctr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8080" y="4615262"/>
            <a:ext cx="9790428" cy="1145456"/>
          </a:xfrm>
        </p:spPr>
        <p:txBody>
          <a:bodyPr anchor="t">
            <a:normAutofit/>
          </a:bodyPr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415268" y="4452702"/>
            <a:ext cx="979605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4994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8138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7613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8851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480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16804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16804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78353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4221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5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1666241"/>
            <a:ext cx="4462146" cy="1645920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2" y="1178558"/>
            <a:ext cx="6563359" cy="587248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2574" y="3637278"/>
            <a:ext cx="4462146" cy="2926085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675403" y="3495040"/>
            <a:ext cx="42173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6787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79" y="2260598"/>
            <a:ext cx="7490179" cy="1645920"/>
          </a:xfrm>
        </p:spPr>
        <p:txBody>
          <a:bodyPr anchor="b">
            <a:normAutofit/>
          </a:bodyPr>
          <a:lstStyle>
            <a:lvl1pPr algn="ctr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3798" y="1249680"/>
            <a:ext cx="3676016" cy="573024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79" y="3906518"/>
            <a:ext cx="7490179" cy="2194560"/>
          </a:xfrm>
        </p:spPr>
        <p:txBody>
          <a:bodyPr anchor="t"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31370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5778498"/>
            <a:ext cx="11531599" cy="680086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9713" y="1249679"/>
            <a:ext cx="12127166" cy="4003043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81" y="6458584"/>
            <a:ext cx="11531599" cy="592454"/>
          </a:xfrm>
        </p:spPr>
        <p:txBody>
          <a:bodyPr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352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642" y="1178558"/>
            <a:ext cx="11511278" cy="3545842"/>
          </a:xfrm>
        </p:spPr>
        <p:txBody>
          <a:bodyPr anchor="ctr">
            <a:normAutofit/>
          </a:bodyPr>
          <a:lstStyle>
            <a:lvl1pPr algn="ctr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4642" y="5212080"/>
            <a:ext cx="11511278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6374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8448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09775" y="4023360"/>
            <a:ext cx="10607042" cy="70104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40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212080"/>
            <a:ext cx="11531599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20320" y="339344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03295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2" y="3970297"/>
            <a:ext cx="11531602" cy="1762560"/>
          </a:xfrm>
        </p:spPr>
        <p:txBody>
          <a:bodyPr anchor="b">
            <a:normAutofit/>
          </a:bodyPr>
          <a:lstStyle>
            <a:lvl1pPr algn="l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732857"/>
            <a:ext cx="11531602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85150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6924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67174"/>
            <a:ext cx="11531602" cy="1064362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435600"/>
            <a:ext cx="11531602" cy="161544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20320" y="311911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76195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1178558"/>
            <a:ext cx="11531599" cy="269240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56201"/>
            <a:ext cx="11531602" cy="100949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3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5364480"/>
            <a:ext cx="11531604" cy="16865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24779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74607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9228" y="1178558"/>
            <a:ext cx="2269074" cy="58724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4478" y="1178558"/>
            <a:ext cx="8919630" cy="587248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636668" y="1188720"/>
            <a:ext cx="0" cy="585216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06923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6266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9886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3223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5CEA-E6EA-6900-0419-1B44A726B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8C256-660D-137A-5252-8E162AB5A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9114A-E278-189D-163B-8C1A22A6D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97F40-C576-26C0-9DF8-4FF606E8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DD5BB-A021-8DBD-F3A7-3D45BF4D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62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E0B35-B36D-4E12-81E2-6346FED0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A0DDD-BD4E-0C9B-8254-5CCC47673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9A454-6DB1-9FFA-4C29-15C6400FC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44158-9038-3BBF-ED44-EDD918856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B8810-FAE2-F693-3D86-A6C1F993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56474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B39F-0ACC-2ABA-5388-773939E6B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4C077-1961-691A-BAE4-939345464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187D0-A2C3-F90E-82C2-11B559BA7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BD05D-3946-5FE1-BCE6-3465A9F2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5CD19-28B7-974F-0FB0-F62A3E30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1534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43A6-2D9C-27CF-7EDA-36A2BEF5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9BA31-4B48-4206-6E73-19BC830C3F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24203-4F23-E761-595B-FFA59096E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CC5A6-2B8D-0AB8-C9AB-B5A1B17A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F92C4-3505-8B51-7500-C59C93B52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6DBD2-0C06-4A5E-0BEF-84370182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98635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B6728-DB4C-86AF-95C7-1C3AA8128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07D5E-1206-017D-A83F-0829A7515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F8190-073A-6026-DF8D-F231EBBEF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EB3FAB-73D3-D614-7B98-408E33B652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A46EAF-DC06-5EF3-0C27-86A962E41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5A0193-714D-EB3A-A383-AB6C0ACA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642826-F53E-7738-B8BA-CDDDD945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54265F-2CD0-2E83-A5A3-9944F18F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07188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33F01-A738-8414-E747-B04299A9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1A8B78-D25A-E6E5-7C79-A30A5D6F6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B01D80-A5BB-3093-3FF8-E8939AAFC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C2E44-E503-DB71-FBB5-B9A2C9D4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5187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1B40FF-ACBE-370D-7948-561EE1AB5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E6567-28A1-A876-F6A6-A825D8680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026D6-4B5A-0934-6206-E78AC5769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97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2FB2E-332A-4E97-C1D3-EDFBD03F5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039D6-D1B9-9254-793C-4F85DBAFD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638AD-7856-99C4-81D6-45B0F07A8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8A824-8540-1E95-0B11-228E76A8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45EB1-A4CB-0063-F876-24B7930CE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BD838-8CEF-6909-0C56-29ED7D46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979638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0D47-8314-F895-2084-0A74E0DBF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8FBAD3-0B49-A2FA-8697-FEC382FCE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48963-CBC4-49DF-67C9-3731C3E07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10048-8D03-CAD2-1ADC-0521EB887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7BFDF-6B3C-586B-DD9B-13601DA5E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63B02-B42B-AA36-56A0-535BAF937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466343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0B0DE-261E-B835-9299-0705D01F1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2D8BB-C8DC-EFCE-0024-7A662FF7B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AE4E4-568F-9AF7-D85E-86D246F5D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8CC5E-84B0-0A03-6106-9D4861709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A55DC-5BA7-FF90-66C2-665929B2F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46047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747981-723B-8564-A5E4-6E1910385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09ED8-E9CF-BFD7-D494-A50532EE3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F2140-EF38-6EA9-F55B-EFDECBD1E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B176A-07BC-64F8-CCEF-545AB14D6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DF264-854B-E0FA-19EB-6CC4C247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94994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8883" y="0"/>
            <a:ext cx="14675954" cy="8227457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4483" y="1178559"/>
            <a:ext cx="11521435" cy="156464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3068319"/>
            <a:ext cx="11521435" cy="3982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13001" y="7162800"/>
            <a:ext cx="192024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4481" y="7162800"/>
            <a:ext cx="876708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24682" y="7162800"/>
            <a:ext cx="651236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54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40" r:id="rId19"/>
    <p:sldLayoutId id="2147483741" r:id="rId20"/>
  </p:sldLayoutIdLst>
  <p:hf sldNum="0" hdr="0" ftr="0" dt="0"/>
  <p:txStyles>
    <p:titleStyle>
      <a:lvl1pPr algn="ctr" defTabSz="548640" rtl="0" eaLnBrk="1" latinLnBrk="0" hangingPunct="1">
        <a:spcBef>
          <a:spcPct val="0"/>
        </a:spcBef>
        <a:buNone/>
        <a:defRPr sz="528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8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16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92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AD95E5-3A8B-7C9B-C4E2-3025DF9B8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F625-3A3D-B6D7-4B0B-B5E09FA3F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BEE91-56D0-3F3C-7D4E-73DDB6AAD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EE925-F516-30DB-B04D-6B579E133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D8AA5-E961-3068-83C0-AC5003776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16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743" y="785523"/>
            <a:ext cx="13820503" cy="678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en-IN" sz="36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COSMO CODE</a:t>
            </a:r>
            <a:endParaRPr lang="en-IN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IN" sz="24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en-IN" sz="24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Sanket Pundhir (202410116100183)</a:t>
            </a: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en-IN" sz="24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Ridhi Rajput (202410116100165)</a:t>
            </a: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en-IN" sz="24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Session:2025-2026 (IV Semester)</a:t>
            </a: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en-IN" sz="108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 </a:t>
            </a:r>
            <a:endParaRPr lang="en-IN" sz="108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en-IN" sz="24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supervision of </a:t>
            </a: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en-IN" sz="24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Vipin Kumar (Associate Professor)</a:t>
            </a: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en-IN" sz="24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Mr. Shish Pal Jatav (Assistant Professor)</a:t>
            </a: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endParaRPr lang="en-IN" sz="1440" b="1" dirty="0">
              <a:solidFill>
                <a:srgbClr val="1F497D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en-IN" sz="24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Applications</a:t>
            </a: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en-IN" sz="24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KIET GROUP OF INSTITUTIONS, DELHI-NCR, GHAZIABAD-201206</a:t>
            </a:r>
          </a:p>
        </p:txBody>
      </p:sp>
      <p:pic>
        <p:nvPicPr>
          <p:cNvPr id="2" name="Image 3">
            <a:extLst>
              <a:ext uri="{FF2B5EF4-FFF2-40B4-BE49-F238E27FC236}">
                <a16:creationId xmlns:a16="http://schemas.microsoft.com/office/drawing/2014/main" id="{83FF01B1-7563-4718-F0C7-CB1D7A9358B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192" y="173717"/>
            <a:ext cx="3756876" cy="14354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8083"/>
            <a:ext cx="63563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What is Cosmo Code?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360652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FFDFA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330172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5761" y="2224564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2927628"/>
            <a:ext cx="29740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AI-Powered Analysis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51084" y="3418046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An AI-powered coding analyzer designed to debug, optimize, and explain code.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216962" y="2360652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FFDFA"/>
          </a:solidFill>
          <a:ln/>
        </p:spPr>
      </p:sp>
      <p:sp>
        <p:nvSpPr>
          <p:cNvPr id="10" name="Shape 7"/>
          <p:cNvSpPr/>
          <p:nvPr/>
        </p:nvSpPr>
        <p:spPr>
          <a:xfrm>
            <a:off x="5216962" y="2330172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11" name="Shape 8"/>
          <p:cNvSpPr/>
          <p:nvPr/>
        </p:nvSpPr>
        <p:spPr>
          <a:xfrm>
            <a:off x="6974860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8933" y="2224564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4256" y="2927628"/>
            <a:ext cx="35889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Multi-Language Support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474256" y="3418046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Supports multiple programming languages through a single intelligent interface.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9640133" y="2360652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FFDFA"/>
          </a:solidFill>
          <a:ln/>
        </p:spPr>
      </p:sp>
      <p:sp>
        <p:nvSpPr>
          <p:cNvPr id="16" name="Shape 12"/>
          <p:cNvSpPr/>
          <p:nvPr/>
        </p:nvSpPr>
        <p:spPr>
          <a:xfrm>
            <a:off x="9640133" y="2330172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17" name="Shape 13"/>
          <p:cNvSpPr/>
          <p:nvPr/>
        </p:nvSpPr>
        <p:spPr>
          <a:xfrm>
            <a:off x="11398032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02105" y="2224564"/>
            <a:ext cx="272177" cy="2721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97427" y="2927628"/>
            <a:ext cx="28524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Enhanced Learning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9897427" y="3418046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Enhances learning by explaining logic errors and suggesting improvements.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793790" y="533102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DFA"/>
          </a:solidFill>
          <a:ln/>
        </p:spPr>
      </p:sp>
      <p:sp>
        <p:nvSpPr>
          <p:cNvPr id="22" name="Shape 17"/>
          <p:cNvSpPr/>
          <p:nvPr/>
        </p:nvSpPr>
        <p:spPr>
          <a:xfrm>
            <a:off x="793790" y="530054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23" name="Shape 18"/>
          <p:cNvSpPr/>
          <p:nvPr/>
        </p:nvSpPr>
        <p:spPr>
          <a:xfrm>
            <a:off x="3657540" y="499086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614" y="5194935"/>
            <a:ext cx="272177" cy="27217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084" y="5897999"/>
            <a:ext cx="30360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Seamless Experience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051084" y="638841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Uses Monaco editor for a smooth, developer-like coding experience.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7428548" y="533102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DFA"/>
          </a:solidFill>
          <a:ln/>
        </p:spPr>
      </p:sp>
      <p:sp>
        <p:nvSpPr>
          <p:cNvPr id="28" name="Shape 22"/>
          <p:cNvSpPr/>
          <p:nvPr/>
        </p:nvSpPr>
        <p:spPr>
          <a:xfrm>
            <a:off x="7428548" y="530054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29" name="Shape 23"/>
          <p:cNvSpPr/>
          <p:nvPr/>
        </p:nvSpPr>
        <p:spPr>
          <a:xfrm>
            <a:off x="10292298" y="499086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96371" y="5194935"/>
            <a:ext cx="272177" cy="27217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685842" y="5897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Broad Audience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7685842" y="638841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Built for students, professionals, and educators alike.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714" y="672227"/>
            <a:ext cx="8748474" cy="612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Three AI Models – Their Strengths</a:t>
            </a:r>
            <a:endParaRPr lang="en-US" sz="3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62714" y="5657731"/>
            <a:ext cx="2451854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Gemini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2714" y="6081713"/>
            <a:ext cx="4204811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Exceptional for structured reasoning and logical clarity in code analysis.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212675" y="5657850"/>
            <a:ext cx="2451854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OpenAI GPT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12675" y="6081832"/>
            <a:ext cx="4204930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Strong capabilities in code rewriting, creative solutions, and optimization suggestions.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9662755" y="5657850"/>
            <a:ext cx="2451854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Claude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662755" y="6081832"/>
            <a:ext cx="4204930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Offers highly consistent, reliable, safe, and precise code corrections and explanations.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62714" y="6822337"/>
            <a:ext cx="13104971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The combined strengths of these models cover comprehensive explanation, robust logic, superior readability, and optimal performance. Parallel querying ensures a diverse array of potential solutions.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E7D3AAB-F866-7170-BE41-E2D583ADD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963" y="1706304"/>
            <a:ext cx="3195246" cy="3195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0A0D049-9A43-73D1-C2A1-129F8A6B0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596" y="1894592"/>
            <a:ext cx="5606592" cy="315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590F162-291F-0E32-642D-50941B5C8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2754" y="2147768"/>
            <a:ext cx="2945207" cy="29452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86644" y="800583"/>
            <a:ext cx="6039326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Cosmo Code Features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600282" y="2003782"/>
            <a:ext cx="351532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Multi-language support:</a:t>
            </a:r>
            <a:r>
              <a:rPr lang="en-US" sz="16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Seamlessly debug and optimize code in Python, C++, Java, and JavaScript.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557540" y="3736467"/>
            <a:ext cx="351532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Real-time error detection:</a:t>
            </a:r>
            <a:r>
              <a:rPr lang="en-US" sz="16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Instant feedback with beginner-friendly explanations.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00282" y="6233119"/>
            <a:ext cx="351532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Automatic optimization:</a:t>
            </a:r>
            <a:r>
              <a:rPr lang="en-US" sz="16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Includes in-depth complexity analysis for improved performance.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50263" y="3718285"/>
            <a:ext cx="351532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Side-by-side AI comparison:</a:t>
            </a:r>
            <a:r>
              <a:rPr lang="en-US" sz="16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View and compare solutions from multiple leading AI models.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0" y="2138796"/>
            <a:ext cx="351532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One-click 'Apply Fix':</a:t>
            </a:r>
            <a:r>
              <a:rPr lang="en-US" sz="16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Implement suggested corrections with a single click.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0" y="6412349"/>
            <a:ext cx="351532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Clean UI with Monaco editor:</a:t>
            </a:r>
            <a:r>
              <a:rPr lang="en-US" sz="16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Enjoy a familiar and efficient coding environment.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927461" y="3718285"/>
            <a:ext cx="351532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Future potential:</a:t>
            </a:r>
            <a:r>
              <a:rPr lang="en-US" sz="16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Opportunities for voice input integration and advanced ML analytics.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CAE19E9-B281-D0C1-B06A-AF0AC3C0A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83" y="617231"/>
            <a:ext cx="8281064" cy="40488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57EFF0-4AAF-8E48-BE2C-880EFE78BB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85"/>
          <a:stretch>
            <a:fillRect/>
          </a:stretch>
        </p:blipFill>
        <p:spPr>
          <a:xfrm>
            <a:off x="598383" y="3983773"/>
            <a:ext cx="8281064" cy="3628596"/>
          </a:xfrm>
          <a:prstGeom prst="rect">
            <a:avLst/>
          </a:prstGeom>
        </p:spPr>
      </p:pic>
      <p:sp>
        <p:nvSpPr>
          <p:cNvPr id="12" name="Text 0">
            <a:extLst>
              <a:ext uri="{FF2B5EF4-FFF2-40B4-BE49-F238E27FC236}">
                <a16:creationId xmlns:a16="http://schemas.microsoft.com/office/drawing/2014/main" id="{E6E9C5D0-C38F-264B-44FA-D97A47A8FDE2}"/>
              </a:ext>
            </a:extLst>
          </p:cNvPr>
          <p:cNvSpPr/>
          <p:nvPr/>
        </p:nvSpPr>
        <p:spPr>
          <a:xfrm>
            <a:off x="9629863" y="3471183"/>
            <a:ext cx="440215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Home Page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872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15118F-33F9-7AC1-6577-DF1524087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45" y="3765177"/>
            <a:ext cx="7409218" cy="36360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D0A78A-85AC-6D9A-8F8D-C8448C10DB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11"/>
          <a:stretch>
            <a:fillRect/>
          </a:stretch>
        </p:blipFill>
        <p:spPr>
          <a:xfrm>
            <a:off x="644345" y="726139"/>
            <a:ext cx="7409218" cy="3388661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D8B48FA-F49E-8C93-4372-08BA91DBFA9E}"/>
              </a:ext>
            </a:extLst>
          </p:cNvPr>
          <p:cNvSpPr/>
          <p:nvPr/>
        </p:nvSpPr>
        <p:spPr>
          <a:xfrm>
            <a:off x="9016677" y="3568002"/>
            <a:ext cx="440215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About Page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310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40F97C1-B8A8-4033-27F5-4323EC149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73" y="1124174"/>
            <a:ext cx="8424857" cy="553481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6F3EAF9E-2216-3239-D0A6-44E6858E0B66}"/>
              </a:ext>
            </a:extLst>
          </p:cNvPr>
          <p:cNvSpPr/>
          <p:nvPr/>
        </p:nvSpPr>
        <p:spPr>
          <a:xfrm>
            <a:off x="9909561" y="3675579"/>
            <a:ext cx="440215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Contact Page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446EA3-9DE3-ED8A-CD80-B718A06DF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17" y="1535571"/>
            <a:ext cx="12378766" cy="600554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5020D3E-D576-D728-B14D-90D5164E493E}"/>
              </a:ext>
            </a:extLst>
          </p:cNvPr>
          <p:cNvSpPr/>
          <p:nvPr/>
        </p:nvSpPr>
        <p:spPr>
          <a:xfrm>
            <a:off x="5520442" y="738740"/>
            <a:ext cx="440215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Monaco Editor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48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AA2C3B-FF17-FAD2-C5B3-BE2D29E38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410" y="1324230"/>
            <a:ext cx="12707841" cy="6216882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FC786CB-C9FC-B9DA-5FCA-4B2A9F3B83EF}"/>
              </a:ext>
            </a:extLst>
          </p:cNvPr>
          <p:cNvSpPr/>
          <p:nvPr/>
        </p:nvSpPr>
        <p:spPr>
          <a:xfrm>
            <a:off x="5724837" y="641922"/>
            <a:ext cx="440215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Error Detection 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620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5E5756-C6AD-306B-1A45-C33D63379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91" y="1543865"/>
            <a:ext cx="12428417" cy="5997246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3D01977-AB27-59DE-A836-8B189EC40FEC}"/>
              </a:ext>
            </a:extLst>
          </p:cNvPr>
          <p:cNvSpPr/>
          <p:nvPr/>
        </p:nvSpPr>
        <p:spPr>
          <a:xfrm>
            <a:off x="6101354" y="688489"/>
            <a:ext cx="440215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Optimization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484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CE0F6B-FBEF-7010-BD79-C6BCC48E1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944" y="1621170"/>
            <a:ext cx="4944006" cy="28271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E238D1-4283-F8F7-23DE-1D6D185FA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945" y="4523687"/>
            <a:ext cx="4944006" cy="29221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F60001-6083-6527-74C2-1EDC506D4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511" y="1621170"/>
            <a:ext cx="5364945" cy="5824641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BB7215AA-0963-2607-4B3F-C3056E6304C0}"/>
              </a:ext>
            </a:extLst>
          </p:cNvPr>
          <p:cNvSpPr/>
          <p:nvPr/>
        </p:nvSpPr>
        <p:spPr>
          <a:xfrm>
            <a:off x="5300868" y="775938"/>
            <a:ext cx="440215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Multiple AI model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629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C47139-F665-AC05-723F-FD10B75357A7}"/>
              </a:ext>
            </a:extLst>
          </p:cNvPr>
          <p:cNvSpPr/>
          <p:nvPr/>
        </p:nvSpPr>
        <p:spPr>
          <a:xfrm>
            <a:off x="3147714" y="2900099"/>
            <a:ext cx="833497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57F034-3365-2AA8-FDC4-8653EA52D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428" y="4932381"/>
            <a:ext cx="2081605" cy="20816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05B990-1364-6111-F9D1-BCEB65868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574" y="2173045"/>
            <a:ext cx="727054" cy="72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8556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318</Words>
  <Application>Microsoft Office PowerPoint</Application>
  <PresentationFormat>Custom</PresentationFormat>
  <Paragraphs>50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Times New Roman</vt:lpstr>
      <vt:lpstr>Calibri Light</vt:lpstr>
      <vt:lpstr>Calibri</vt:lpstr>
      <vt:lpstr>Arial</vt:lpstr>
      <vt:lpstr>Garamond</vt:lpstr>
      <vt:lpstr>1_Organic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Ridhi Singh Rajput</dc:creator>
  <cp:lastModifiedBy>Ridhi Singh Rajput</cp:lastModifiedBy>
  <cp:revision>4</cp:revision>
  <dcterms:created xsi:type="dcterms:W3CDTF">2025-11-14T05:17:13Z</dcterms:created>
  <dcterms:modified xsi:type="dcterms:W3CDTF">2026-05-11T17:29:50Z</dcterms:modified>
</cp:coreProperties>
</file>