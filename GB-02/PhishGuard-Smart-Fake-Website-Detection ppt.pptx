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Alexandria Semi Bold" panose="020B0604020202020204" charset="-78"/>
      <p:regular r:id="rId12"/>
    </p:embeddedFont>
    <p:embeddedFont>
      <p:font typeface="Sora Light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624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AF9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AF9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AF9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AF9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AF9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AF9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AF9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AF9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AF9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5EA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52472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PhishGuard: Smart Fake Website Detection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28244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Chrome Extension powered by Machine Learning to protect users from phishing threats in real time.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271016"/>
            <a:ext cx="2188012" cy="426244"/>
          </a:xfrm>
          <a:prstGeom prst="roundRect">
            <a:avLst>
              <a:gd name="adj" fmla="val 17880"/>
            </a:avLst>
          </a:prstGeom>
          <a:solidFill>
            <a:srgbClr val="D5EAF6"/>
          </a:solidFill>
          <a:ln/>
        </p:spPr>
      </p:sp>
      <p:sp>
        <p:nvSpPr>
          <p:cNvPr id="7" name="Text 4"/>
          <p:cNvSpPr/>
          <p:nvPr/>
        </p:nvSpPr>
        <p:spPr>
          <a:xfrm>
            <a:off x="6416278" y="5339001"/>
            <a:ext cx="191583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BROWSER SECURITY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581549" y="5263396"/>
            <a:ext cx="2212181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65B2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25257" y="5339001"/>
            <a:ext cx="192476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5B2E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907078" y="5263396"/>
            <a:ext cx="2267069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65B2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050786" y="5339001"/>
            <a:ext cx="197965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5B2E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CHROME EXTENSION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5EA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" y="161925"/>
            <a:ext cx="5270421" cy="7905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3042" y="636865"/>
            <a:ext cx="7630716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Phishing Crisis Is Growing</a:t>
            </a:r>
            <a:endParaRPr lang="en-US" sz="4250" dirty="0"/>
          </a:p>
        </p:txBody>
      </p:sp>
      <p:sp>
        <p:nvSpPr>
          <p:cNvPr id="5" name="Text 2"/>
          <p:cNvSpPr/>
          <p:nvPr/>
        </p:nvSpPr>
        <p:spPr>
          <a:xfrm>
            <a:off x="6243042" y="2297311"/>
            <a:ext cx="7630716" cy="1351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Fake websites are increasing at an alarming rate, designed to steal passwords, bank details, and personal data. Most users cannot distinguish a phishing site from a legitimate one — and the damage is done before they even realize it.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243042" y="3880247"/>
            <a:ext cx="3712369" cy="1922145"/>
          </a:xfrm>
          <a:prstGeom prst="roundRect">
            <a:avLst>
              <a:gd name="adj" fmla="val 4724"/>
            </a:avLst>
          </a:prstGeom>
          <a:solidFill>
            <a:srgbClr val="D5EAF6"/>
          </a:solidFill>
          <a:ln w="7620">
            <a:solidFill>
              <a:srgbClr val="BBD0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66761" y="4103965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Rising Threats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66761" y="4565333"/>
            <a:ext cx="3264932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Phishing attacks have surged globally, targeting millions of users every day.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161389" y="3880247"/>
            <a:ext cx="3712369" cy="1922145"/>
          </a:xfrm>
          <a:prstGeom prst="roundRect">
            <a:avLst>
              <a:gd name="adj" fmla="val 4724"/>
            </a:avLst>
          </a:prstGeom>
          <a:solidFill>
            <a:srgbClr val="D5EAF6"/>
          </a:solidFill>
          <a:ln w="7620">
            <a:solidFill>
              <a:srgbClr val="BBD0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85108" y="4103965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Hidden Danger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385108" y="4565333"/>
            <a:ext cx="3264932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Fake sites often look identical to real ones, making manual detection nearly impossible.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43042" y="6008370"/>
            <a:ext cx="7630716" cy="1584365"/>
          </a:xfrm>
          <a:prstGeom prst="roundRect">
            <a:avLst>
              <a:gd name="adj" fmla="val 5731"/>
            </a:avLst>
          </a:prstGeom>
          <a:solidFill>
            <a:srgbClr val="D5EAF6"/>
          </a:solidFill>
          <a:ln w="7620">
            <a:solidFill>
              <a:srgbClr val="BBD0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6761" y="6232088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Data Theft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66761" y="6693456"/>
            <a:ext cx="718327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Credentials, financial info, and personal data are stolen silently and instantly.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10076"/>
            <a:ext cx="8291751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Why Users Remain Vulnerable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2" y="1826657"/>
            <a:ext cx="8341519" cy="55609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3228" y="2039541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Core Problems</a:t>
            </a:r>
            <a:endParaRPr lang="en-US" sz="2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4309" y="2619792"/>
            <a:ext cx="324207" cy="32420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335697" y="2609136"/>
            <a:ext cx="3545681" cy="1351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 manual detection: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Users cannot reliably identify fake URLs or suspicious page behavior.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4309" y="4382988"/>
            <a:ext cx="324207" cy="3242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335697" y="4372332"/>
            <a:ext cx="3545681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Lack of awareness: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Most people are unaware of the signs of a phishing attempt.</a:t>
            </a:r>
            <a:endParaRPr lang="en-US" sz="17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4309" y="5808405"/>
            <a:ext cx="324207" cy="32420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335697" y="5797748"/>
            <a:ext cx="3545681" cy="1351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 real-time protection: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Basic browsers offer limited built-in safeguards against emerging threats.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5EA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063704"/>
            <a:ext cx="69046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Introducing PhishGuard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211264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lightweight Chrome Extension that automatically analyzes every website you visit and warns you before harm is done — using URL analysis and Machine Learning.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3456503"/>
            <a:ext cx="7556421" cy="3709273"/>
          </a:xfrm>
          <a:prstGeom prst="roundRect">
            <a:avLst>
              <a:gd name="adj" fmla="val 2568"/>
            </a:avLst>
          </a:prstGeom>
          <a:solidFill>
            <a:srgbClr val="D5EAF6"/>
          </a:solidFill>
          <a:ln w="7620">
            <a:solidFill>
              <a:srgbClr val="BBD0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87810" y="3464123"/>
            <a:ext cx="3770590" cy="2387084"/>
          </a:xfrm>
          <a:prstGeom prst="roundRect">
            <a:avLst>
              <a:gd name="adj" fmla="val 3991"/>
            </a:avLst>
          </a:prstGeom>
          <a:solidFill>
            <a:srgbClr val="D5EAF6"/>
          </a:solidFill>
          <a:ln/>
        </p:spPr>
      </p:sp>
      <p:sp>
        <p:nvSpPr>
          <p:cNvPr id="8" name="Text 5"/>
          <p:cNvSpPr/>
          <p:nvPr/>
        </p:nvSpPr>
        <p:spPr>
          <a:xfrm>
            <a:off x="6514624" y="3690938"/>
            <a:ext cx="331696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🔍</a:t>
            </a: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Automatic Detection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14624" y="4535686"/>
            <a:ext cx="33169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Scans URLs in the background without any user input.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058400" y="3464123"/>
            <a:ext cx="3770590" cy="2387084"/>
          </a:xfrm>
          <a:prstGeom prst="rect">
            <a:avLst/>
          </a:prstGeom>
          <a:solidFill>
            <a:srgbClr val="D5EAF6"/>
          </a:solidFill>
          <a:ln/>
        </p:spPr>
      </p:sp>
      <p:sp>
        <p:nvSpPr>
          <p:cNvPr id="11" name="Shape 8"/>
          <p:cNvSpPr/>
          <p:nvPr/>
        </p:nvSpPr>
        <p:spPr>
          <a:xfrm>
            <a:off x="10058400" y="3464123"/>
            <a:ext cx="30480" cy="2387084"/>
          </a:xfrm>
          <a:prstGeom prst="roundRect">
            <a:avLst>
              <a:gd name="adj" fmla="val 312558"/>
            </a:avLst>
          </a:prstGeom>
          <a:solidFill>
            <a:srgbClr val="BBD0DC"/>
          </a:solidFill>
          <a:ln/>
        </p:spPr>
      </p:sp>
      <p:sp>
        <p:nvSpPr>
          <p:cNvPr id="12" name="Text 9"/>
          <p:cNvSpPr/>
          <p:nvPr/>
        </p:nvSpPr>
        <p:spPr>
          <a:xfrm>
            <a:off x="10285214" y="36909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⚡</a:t>
            </a: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Instant Alerts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5214" y="4181356"/>
            <a:ext cx="33169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Shows clear warnings: Safe, Suspicious, or Dangerous.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7810" y="5851208"/>
            <a:ext cx="7541181" cy="1306949"/>
          </a:xfrm>
          <a:prstGeom prst="rect">
            <a:avLst/>
          </a:prstGeom>
          <a:solidFill>
            <a:srgbClr val="D5EAF6"/>
          </a:solidFill>
          <a:ln/>
        </p:spPr>
      </p:sp>
      <p:sp>
        <p:nvSpPr>
          <p:cNvPr id="15" name="Shape 12"/>
          <p:cNvSpPr/>
          <p:nvPr/>
        </p:nvSpPr>
        <p:spPr>
          <a:xfrm>
            <a:off x="6287810" y="5851208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BBD0DC"/>
          </a:solidFill>
          <a:ln/>
        </p:spPr>
      </p:sp>
      <p:sp>
        <p:nvSpPr>
          <p:cNvPr id="16" name="Text 13"/>
          <p:cNvSpPr/>
          <p:nvPr/>
        </p:nvSpPr>
        <p:spPr>
          <a:xfrm>
            <a:off x="6514624" y="60780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🤖</a:t>
            </a: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ML-Powered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14624" y="656844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Trained on real phishing datasets for high accuracy.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4370"/>
            <a:ext cx="67913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How PhishGuard Works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25" y="1836777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4546" y="3043503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42420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Show Alert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7120" y="3044725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42420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ML Predict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0307" y="3044725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42420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Analyze URL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3493" y="3044725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42420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Extract URL</a:t>
            </a:r>
            <a:endParaRPr lang="en-US" sz="23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3636" y="3044725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42420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Visit Site</a:t>
            </a:r>
            <a:endParaRPr lang="en-US" sz="2300" dirty="0"/>
          </a:p>
        </p:txBody>
      </p:sp>
      <p:sp>
        <p:nvSpPr>
          <p:cNvPr id="14" name="Text 6"/>
          <p:cNvSpPr/>
          <p:nvPr/>
        </p:nvSpPr>
        <p:spPr>
          <a:xfrm>
            <a:off x="793790" y="68294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entire process happens in milliseconds — silently protecting you on every page you visit without slowing down your browsing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6441"/>
            <a:ext cx="62572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Technology Stack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68848"/>
            <a:ext cx="1341120" cy="8287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281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771549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HTML, CSS &amp; JavaScript power the extension interface and user alerts.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3168848"/>
            <a:ext cx="1341120" cy="828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281130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Chrome Extension API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125879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Leverages Chrome's native APIs for URL interception and real-time monitoring.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3168848"/>
            <a:ext cx="1341120" cy="8287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281130"/>
            <a:ext cx="28601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Python ML Backend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4771549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Python runs the ML model that classifies URLs using trained algorithms.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3168848"/>
            <a:ext cx="1341120" cy="8287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281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Phishing Dataset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4771549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Trained on verified phishing datasets to ensure high detection accuracy.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6535103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Why PhishGuard Stands Out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218140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Built for Everyone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3644503"/>
            <a:ext cx="6015395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PhishGuard is designed to be invisible until you need it. It requires no configuration, works across all websites, and delivers clear, actionable warnings — making it suitable for both tech-savvy users and everyday browsers alike.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543205" y="4845606"/>
            <a:ext cx="6015395" cy="928568"/>
          </a:xfrm>
          <a:prstGeom prst="roundRect">
            <a:avLst>
              <a:gd name="adj" fmla="val 8176"/>
            </a:avLst>
          </a:prstGeom>
          <a:solidFill>
            <a:srgbClr val="B6D6FC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942" y="5103733"/>
            <a:ext cx="225862" cy="1807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30540" y="5034677"/>
            <a:ext cx="524732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extension operates entirely in the background, ensuring your browsing speed is never compromised.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30900"/>
            <a:ext cx="43416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Road Ahead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37" y="1422559"/>
            <a:ext cx="7640479" cy="5093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95460" y="2952036"/>
            <a:ext cx="2358152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Current Achievement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395460" y="3356134"/>
            <a:ext cx="3918585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PhishGuard successfully demonstrates that a browser extension powered by ML can detect phishing websites in real time, providing an accessible layer of security for everyday users.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395460" y="4715351"/>
            <a:ext cx="2446377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Future Enhancements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323737" y="6815257"/>
            <a:ext cx="3905607" cy="883444"/>
          </a:xfrm>
          <a:prstGeom prst="roundRect">
            <a:avLst>
              <a:gd name="adj" fmla="val 12420"/>
            </a:avLst>
          </a:prstGeom>
          <a:solidFill>
            <a:srgbClr val="FEFAF9"/>
          </a:solidFill>
          <a:ln w="22860">
            <a:solidFill>
              <a:srgbClr val="BBD0D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00877" y="6815257"/>
            <a:ext cx="91440" cy="883444"/>
          </a:xfrm>
          <a:prstGeom prst="roundRect">
            <a:avLst>
              <a:gd name="adj" fmla="val 79767"/>
            </a:avLst>
          </a:prstGeom>
          <a:solidFill>
            <a:srgbClr val="65B2E0"/>
          </a:solidFill>
          <a:ln/>
        </p:spPr>
      </p:sp>
      <p:sp>
        <p:nvSpPr>
          <p:cNvPr id="9" name="Text 6"/>
          <p:cNvSpPr/>
          <p:nvPr/>
        </p:nvSpPr>
        <p:spPr>
          <a:xfrm>
            <a:off x="1588770" y="7011710"/>
            <a:ext cx="3444121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Improved AI models with deeper learning for higher accuracy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362218" y="6815257"/>
            <a:ext cx="3905726" cy="883444"/>
          </a:xfrm>
          <a:prstGeom prst="roundRect">
            <a:avLst>
              <a:gd name="adj" fmla="val 12420"/>
            </a:avLst>
          </a:prstGeom>
          <a:solidFill>
            <a:srgbClr val="FEFAF9"/>
          </a:solidFill>
          <a:ln w="22860">
            <a:solidFill>
              <a:srgbClr val="BBD0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39358" y="6815257"/>
            <a:ext cx="91440" cy="883444"/>
          </a:xfrm>
          <a:prstGeom prst="roundRect">
            <a:avLst>
              <a:gd name="adj" fmla="val 79767"/>
            </a:avLst>
          </a:prstGeom>
          <a:solidFill>
            <a:srgbClr val="65B2E0"/>
          </a:solidFill>
          <a:ln/>
        </p:spPr>
      </p:sp>
      <p:sp>
        <p:nvSpPr>
          <p:cNvPr id="12" name="Text 9"/>
          <p:cNvSpPr/>
          <p:nvPr/>
        </p:nvSpPr>
        <p:spPr>
          <a:xfrm>
            <a:off x="5627251" y="7011710"/>
            <a:ext cx="3444240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Support for additional browsers beyond Chrome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400818" y="6815257"/>
            <a:ext cx="3905726" cy="883444"/>
          </a:xfrm>
          <a:prstGeom prst="roundRect">
            <a:avLst>
              <a:gd name="adj" fmla="val 12420"/>
            </a:avLst>
          </a:prstGeom>
          <a:solidFill>
            <a:srgbClr val="FEFAF9"/>
          </a:solidFill>
          <a:ln w="22860">
            <a:solidFill>
              <a:srgbClr val="BBD0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77958" y="6815257"/>
            <a:ext cx="91440" cy="883444"/>
          </a:xfrm>
          <a:prstGeom prst="roundRect">
            <a:avLst>
              <a:gd name="adj" fmla="val 79767"/>
            </a:avLst>
          </a:prstGeom>
          <a:solidFill>
            <a:srgbClr val="65B2E0"/>
          </a:solidFill>
          <a:ln/>
        </p:spPr>
      </p:sp>
      <p:sp>
        <p:nvSpPr>
          <p:cNvPr id="15" name="Text 12"/>
          <p:cNvSpPr/>
          <p:nvPr/>
        </p:nvSpPr>
        <p:spPr>
          <a:xfrm>
            <a:off x="9665851" y="7011710"/>
            <a:ext cx="3444240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Community-driven threat reporting and database updates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5EA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5" y="124778"/>
            <a:ext cx="5319951" cy="79799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69330" y="509230"/>
            <a:ext cx="4164330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Takeaways</a:t>
            </a:r>
            <a:endParaRPr lang="en-US" sz="3250" dirty="0"/>
          </a:p>
        </p:txBody>
      </p:sp>
      <p:sp>
        <p:nvSpPr>
          <p:cNvPr id="5" name="Shape 2"/>
          <p:cNvSpPr/>
          <p:nvPr/>
        </p:nvSpPr>
        <p:spPr>
          <a:xfrm>
            <a:off x="6069330" y="1213247"/>
            <a:ext cx="7978140" cy="1535073"/>
          </a:xfrm>
          <a:prstGeom prst="roundRect">
            <a:avLst>
              <a:gd name="adj" fmla="val 4558"/>
            </a:avLst>
          </a:prstGeom>
          <a:solidFill>
            <a:srgbClr val="D5EAF6"/>
          </a:solidFill>
          <a:ln w="7620">
            <a:solidFill>
              <a:srgbClr val="BBD0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43518" y="138743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65B2E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0917" y="1524833"/>
            <a:ext cx="224790" cy="224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43518" y="2009418"/>
            <a:ext cx="4428053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Fake websites are a major, growing threat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243518" y="2343031"/>
            <a:ext cx="762976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Phishing attacks steal millions of credentials every year.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069330" y="2870597"/>
            <a:ext cx="7978140" cy="1535073"/>
          </a:xfrm>
          <a:prstGeom prst="roundRect">
            <a:avLst>
              <a:gd name="adj" fmla="val 4558"/>
            </a:avLst>
          </a:prstGeom>
          <a:solidFill>
            <a:srgbClr val="D5EAF6"/>
          </a:solidFill>
          <a:ln w="7620">
            <a:solidFill>
              <a:srgbClr val="BBD0D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43518" y="304478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65B2E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0917" y="3182183"/>
            <a:ext cx="224790" cy="2247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43518" y="3666768"/>
            <a:ext cx="4423053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Instant detection makes all the difference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243518" y="4000381"/>
            <a:ext cx="762976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alerts stop users before they enter sensitive data.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069330" y="4527947"/>
            <a:ext cx="7978140" cy="1535073"/>
          </a:xfrm>
          <a:prstGeom prst="roundRect">
            <a:avLst>
              <a:gd name="adj" fmla="val 4558"/>
            </a:avLst>
          </a:prstGeom>
          <a:solidFill>
            <a:srgbClr val="D5EAF6"/>
          </a:solidFill>
          <a:ln w="7620">
            <a:solidFill>
              <a:srgbClr val="BBD0D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243518" y="470213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65B2E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80917" y="4839533"/>
            <a:ext cx="224790" cy="22479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43518" y="5324118"/>
            <a:ext cx="2198608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ML makes it possible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243518" y="5657731"/>
            <a:ext cx="762976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Machine Learning enables accurate, scalable phishing detection.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069330" y="6185297"/>
            <a:ext cx="7978140" cy="1535073"/>
          </a:xfrm>
          <a:prstGeom prst="roundRect">
            <a:avLst>
              <a:gd name="adj" fmla="val 4558"/>
            </a:avLst>
          </a:prstGeom>
          <a:solidFill>
            <a:srgbClr val="D5EAF6"/>
          </a:solidFill>
          <a:ln w="7620">
            <a:solidFill>
              <a:srgbClr val="BBD0D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243518" y="6359485"/>
            <a:ext cx="499705" cy="499705"/>
          </a:xfrm>
          <a:prstGeom prst="roundRect">
            <a:avLst>
              <a:gd name="adj" fmla="val 18296966"/>
            </a:avLst>
          </a:prstGeom>
          <a:solidFill>
            <a:srgbClr val="65B2E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80917" y="6496883"/>
            <a:ext cx="224790" cy="22479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43518" y="6981468"/>
            <a:ext cx="3650456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 safer browsing experience for all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243518" y="7315081"/>
            <a:ext cx="7629763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PhishGuard brings enterprise-grade protection to everyday users.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528</Words>
  <Application>Microsoft Office PowerPoint</Application>
  <PresentationFormat>Custom</PresentationFormat>
  <Paragraphs>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Sora Light</vt:lpstr>
      <vt:lpstr>Alexandria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Khushi Kumari</dc:creator>
  <cp:lastModifiedBy>Khushi Kumari</cp:lastModifiedBy>
  <cp:revision>2</cp:revision>
  <dcterms:created xsi:type="dcterms:W3CDTF">2026-04-15T17:09:15Z</dcterms:created>
  <dcterms:modified xsi:type="dcterms:W3CDTF">2026-04-15T17:19:37Z</dcterms:modified>
</cp:coreProperties>
</file>