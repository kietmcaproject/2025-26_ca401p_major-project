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Alexandria Semi Bold"/>
      <p:regular r:id="rId15"/>
    </p:embeddedFont>
    <p:embeddedFont>
      <p:font typeface="Alexandria Semi Bold"/>
      <p:regular r:id="rId16"/>
    </p:embeddedFont>
    <p:embeddedFont>
      <p:font typeface="Sora Light"/>
      <p:regular r:id="rId17"/>
    </p:embeddedFont>
    <p:embeddedFont>
      <p:font typeface="Sora Light"/>
      <p:regular r:id="rId1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EFAF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EFAF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EFAF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EFAF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EFAF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EFAF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EFAF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EFAF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4.png"/><Relationship Id="rId5" Type="http://schemas.openxmlformats.org/officeDocument/2006/relationships/image" Target="../media/image-6-5.svg"/><Relationship Id="rId6" Type="http://schemas.openxmlformats.org/officeDocument/2006/relationships/image" Target="../media/image-6-6.png"/><Relationship Id="rId7" Type="http://schemas.openxmlformats.org/officeDocument/2006/relationships/image" Target="../media/image-6-7.svg"/><Relationship Id="rId8" Type="http://schemas.openxmlformats.org/officeDocument/2006/relationships/image" Target="../media/image-6-8.png"/><Relationship Id="rId9" Type="http://schemas.openxmlformats.org/officeDocument/2006/relationships/image" Target="../media/image-6-9.svg"/><Relationship Id="rId10" Type="http://schemas.openxmlformats.org/officeDocument/2006/relationships/slideLayout" Target="../slideLayouts/slideLayout7.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337197"/>
            <a:ext cx="7556421" cy="2126337"/>
          </a:xfrm>
          <a:prstGeom prst="rect">
            <a:avLst/>
          </a:prstGeom>
          <a:noFill/>
          <a:ln/>
        </p:spPr>
        <p:txBody>
          <a:bodyPr wrap="square" lIns="0" tIns="0" rIns="0" bIns="0" rtlCol="0" anchor="t"/>
          <a:lstStyle/>
          <a:p>
            <a:pPr algn="l" indent="0" marL="0">
              <a:lnSpc>
                <a:spcPts val="5550"/>
              </a:lnSpc>
              <a:buNone/>
            </a:pPr>
            <a:r>
              <a:rPr lang="en-US" sz="4450" dirty="0">
                <a:solidFill>
                  <a:srgbClr val="1F1E1E"/>
                </a:solidFill>
                <a:latin typeface="Alexandria Semi Bold" pitchFamily="34" charset="0"/>
                <a:ea typeface="Alexandria Semi Bold" pitchFamily="34" charset="-122"/>
                <a:cs typeface="Alexandria Semi Bold" pitchFamily="34" charset="-120"/>
              </a:rPr>
              <a:t>Real-Time Fake Website Detection Browser Extension</a:t>
            </a:r>
            <a:endParaRPr lang="en-US" sz="4450" dirty="0"/>
          </a:p>
        </p:txBody>
      </p:sp>
      <p:sp>
        <p:nvSpPr>
          <p:cNvPr id="4" name="Text 1"/>
          <p:cNvSpPr/>
          <p:nvPr/>
        </p:nvSpPr>
        <p:spPr>
          <a:xfrm>
            <a:off x="793790" y="4803696"/>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Sora Light" pitchFamily="34" charset="0"/>
                <a:ea typeface="Sora Light" pitchFamily="34" charset="-122"/>
                <a:cs typeface="Sora Light" pitchFamily="34" charset="-120"/>
              </a:rPr>
              <a:t>Protect users instantly as they browse: detect phishing, spoofing and malicious sites with real‑time ML scoring, clear alerts and lightweight privacy‑preserving checks.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093357"/>
            <a:ext cx="7983617" cy="566976"/>
          </a:xfrm>
          <a:prstGeom prst="rect">
            <a:avLst/>
          </a:prstGeom>
          <a:noFill/>
          <a:ln/>
        </p:spPr>
        <p:txBody>
          <a:bodyPr wrap="none" lIns="0" tIns="0" rIns="0" bIns="0" rtlCol="0" anchor="t"/>
          <a:lstStyle/>
          <a:p>
            <a:pPr algn="l" indent="0" marL="0">
              <a:lnSpc>
                <a:spcPts val="4450"/>
              </a:lnSpc>
              <a:buNone/>
            </a:pPr>
            <a:r>
              <a:rPr lang="en-US" sz="3550" dirty="0">
                <a:solidFill>
                  <a:srgbClr val="1F1E1E"/>
                </a:solidFill>
                <a:latin typeface="Alexandria Semi Bold" pitchFamily="34" charset="0"/>
                <a:ea typeface="Alexandria Semi Bold" pitchFamily="34" charset="-122"/>
                <a:cs typeface="Alexandria Semi Bold" pitchFamily="34" charset="-120"/>
              </a:rPr>
              <a:t>The Rising Threat of Fake Websites</a:t>
            </a:r>
            <a:endParaRPr lang="en-US" sz="3550" dirty="0"/>
          </a:p>
        </p:txBody>
      </p:sp>
      <p:pic>
        <p:nvPicPr>
          <p:cNvPr id="3" name="Image 0" descr="preencoded.png">    </p:cNvPr>
          <p:cNvPicPr>
            <a:picLocks noChangeAspect="1"/>
          </p:cNvPicPr>
          <p:nvPr/>
        </p:nvPicPr>
        <p:blipFill>
          <a:blip r:embed="rId1"/>
          <a:stretch>
            <a:fillRect/>
          </a:stretch>
        </p:blipFill>
        <p:spPr>
          <a:xfrm>
            <a:off x="793790" y="3113961"/>
            <a:ext cx="1205984" cy="745331"/>
          </a:xfrm>
          <a:prstGeom prst="rect">
            <a:avLst/>
          </a:prstGeom>
        </p:spPr>
      </p:pic>
      <p:sp>
        <p:nvSpPr>
          <p:cNvPr id="4" name="Text 1"/>
          <p:cNvSpPr/>
          <p:nvPr/>
        </p:nvSpPr>
        <p:spPr>
          <a:xfrm>
            <a:off x="2283262" y="3113961"/>
            <a:ext cx="2669143" cy="708660"/>
          </a:xfrm>
          <a:prstGeom prst="rect">
            <a:avLst/>
          </a:prstGeom>
          <a:noFill/>
          <a:ln/>
        </p:spPr>
        <p:txBody>
          <a:bodyPr wrap="square" lIns="0" tIns="0" rIns="0" bIns="0" rtlCol="0" anchor="t"/>
          <a:lstStyle/>
          <a:p>
            <a:pPr algn="l" indent="0" marL="0">
              <a:lnSpc>
                <a:spcPts val="2750"/>
              </a:lnSpc>
              <a:buNone/>
            </a:pPr>
            <a:r>
              <a:rPr lang="en-US" sz="2200" dirty="0">
                <a:solidFill>
                  <a:srgbClr val="3B3535"/>
                </a:solidFill>
                <a:latin typeface="Alexandria Semi Bold" pitchFamily="34" charset="0"/>
                <a:ea typeface="Alexandria Semi Bold" pitchFamily="34" charset="-122"/>
                <a:cs typeface="Alexandria Semi Bold" pitchFamily="34" charset="-120"/>
              </a:rPr>
              <a:t>Phishing as the primary entry</a:t>
            </a:r>
            <a:endParaRPr lang="en-US" sz="2200" dirty="0"/>
          </a:p>
        </p:txBody>
      </p:sp>
      <p:sp>
        <p:nvSpPr>
          <p:cNvPr id="5" name="Text 2"/>
          <p:cNvSpPr/>
          <p:nvPr/>
        </p:nvSpPr>
        <p:spPr>
          <a:xfrm>
            <a:off x="2283262" y="3958709"/>
            <a:ext cx="2669143" cy="217741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Sora Light" pitchFamily="34" charset="0"/>
                <a:ea typeface="Sora Light" pitchFamily="34" charset="-122"/>
                <a:cs typeface="Sora Light" pitchFamily="34" charset="-120"/>
              </a:rPr>
              <a:t>Over 90% of cyber attacks begin with phishing or deceptive websites, making detection a priority for defenders.</a:t>
            </a:r>
            <a:endParaRPr lang="en-US" sz="1750" dirty="0"/>
          </a:p>
        </p:txBody>
      </p:sp>
      <p:pic>
        <p:nvPicPr>
          <p:cNvPr id="6" name="Image 1" descr="preencoded.png">    </p:cNvPr>
          <p:cNvPicPr>
            <a:picLocks noChangeAspect="1"/>
          </p:cNvPicPr>
          <p:nvPr/>
        </p:nvPicPr>
        <p:blipFill>
          <a:blip r:embed="rId2"/>
          <a:stretch>
            <a:fillRect/>
          </a:stretch>
        </p:blipFill>
        <p:spPr>
          <a:xfrm>
            <a:off x="5235893" y="3113961"/>
            <a:ext cx="1205984" cy="745331"/>
          </a:xfrm>
          <a:prstGeom prst="rect">
            <a:avLst/>
          </a:prstGeom>
        </p:spPr>
      </p:pic>
      <p:sp>
        <p:nvSpPr>
          <p:cNvPr id="7" name="Text 3"/>
          <p:cNvSpPr/>
          <p:nvPr/>
        </p:nvSpPr>
        <p:spPr>
          <a:xfrm>
            <a:off x="6725364" y="3113961"/>
            <a:ext cx="2669143"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Alexandria Semi Bold" pitchFamily="34" charset="0"/>
                <a:ea typeface="Alexandria Semi Bold" pitchFamily="34" charset="-122"/>
                <a:cs typeface="Alexandria Semi Bold" pitchFamily="34" charset="-120"/>
              </a:rPr>
              <a:t>Visual ambiguity</a:t>
            </a:r>
            <a:endParaRPr lang="en-US" sz="2200" dirty="0"/>
          </a:p>
        </p:txBody>
      </p:sp>
      <p:sp>
        <p:nvSpPr>
          <p:cNvPr id="8" name="Text 4"/>
          <p:cNvSpPr/>
          <p:nvPr/>
        </p:nvSpPr>
        <p:spPr>
          <a:xfrm>
            <a:off x="6725364" y="3604379"/>
            <a:ext cx="2669143" cy="1814513"/>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Sora Light" pitchFamily="34" charset="0"/>
                <a:ea typeface="Sora Light" pitchFamily="34" charset="-122"/>
                <a:cs typeface="Sora Light" pitchFamily="34" charset="-120"/>
              </a:rPr>
              <a:t>Users typically can't distinguish crafted domains and look‑alike pages at a glance, increasing click risk.</a:t>
            </a:r>
            <a:endParaRPr lang="en-US" sz="1750" dirty="0"/>
          </a:p>
        </p:txBody>
      </p:sp>
      <p:pic>
        <p:nvPicPr>
          <p:cNvPr id="9" name="Image 2" descr="preencoded.png">    </p:cNvPr>
          <p:cNvPicPr>
            <a:picLocks noChangeAspect="1"/>
          </p:cNvPicPr>
          <p:nvPr/>
        </p:nvPicPr>
        <p:blipFill>
          <a:blip r:embed="rId3"/>
          <a:stretch>
            <a:fillRect/>
          </a:stretch>
        </p:blipFill>
        <p:spPr>
          <a:xfrm>
            <a:off x="9677995" y="3113961"/>
            <a:ext cx="1205984" cy="745331"/>
          </a:xfrm>
          <a:prstGeom prst="rect">
            <a:avLst/>
          </a:prstGeom>
        </p:spPr>
      </p:pic>
      <p:sp>
        <p:nvSpPr>
          <p:cNvPr id="10" name="Text 5"/>
          <p:cNvSpPr/>
          <p:nvPr/>
        </p:nvSpPr>
        <p:spPr>
          <a:xfrm>
            <a:off x="11167467" y="3113961"/>
            <a:ext cx="2669143"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Alexandria Semi Bold" pitchFamily="34" charset="0"/>
                <a:ea typeface="Alexandria Semi Bold" pitchFamily="34" charset="-122"/>
                <a:cs typeface="Alexandria Semi Bold" pitchFamily="34" charset="-120"/>
              </a:rPr>
              <a:t>High cost of fraud</a:t>
            </a:r>
            <a:endParaRPr lang="en-US" sz="2200" dirty="0"/>
          </a:p>
        </p:txBody>
      </p:sp>
      <p:sp>
        <p:nvSpPr>
          <p:cNvPr id="11" name="Text 6"/>
          <p:cNvSpPr/>
          <p:nvPr/>
        </p:nvSpPr>
        <p:spPr>
          <a:xfrm>
            <a:off x="11167467" y="3604379"/>
            <a:ext cx="2669143" cy="217741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Sora Light" pitchFamily="34" charset="0"/>
                <a:ea typeface="Sora Light" pitchFamily="34" charset="-122"/>
                <a:cs typeface="Sora Light" pitchFamily="34" charset="-120"/>
              </a:rPr>
              <a:t>Financial losses and identity theft from fake sites run into billions annually—affecting individuals and businesses alike.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269325"/>
            <a:ext cx="7556421" cy="1133951"/>
          </a:xfrm>
          <a:prstGeom prst="rect">
            <a:avLst/>
          </a:prstGeom>
          <a:noFill/>
          <a:ln/>
        </p:spPr>
        <p:txBody>
          <a:bodyPr wrap="square" lIns="0" tIns="0" rIns="0" bIns="0" rtlCol="0" anchor="t"/>
          <a:lstStyle/>
          <a:p>
            <a:pPr algn="l" indent="0" marL="0">
              <a:lnSpc>
                <a:spcPts val="4450"/>
              </a:lnSpc>
              <a:buNone/>
            </a:pPr>
            <a:r>
              <a:rPr lang="en-US" sz="3550" dirty="0">
                <a:solidFill>
                  <a:srgbClr val="1F1E1E"/>
                </a:solidFill>
                <a:latin typeface="Alexandria Semi Bold" pitchFamily="34" charset="0"/>
                <a:ea typeface="Alexandria Semi Bold" pitchFamily="34" charset="-122"/>
                <a:cs typeface="Alexandria Semi Bold" pitchFamily="34" charset="-120"/>
              </a:rPr>
              <a:t>Why Real‑Time Detection Matters</a:t>
            </a:r>
            <a:endParaRPr lang="en-US" sz="3550" dirty="0"/>
          </a:p>
        </p:txBody>
      </p:sp>
      <p:sp>
        <p:nvSpPr>
          <p:cNvPr id="4" name="Shape 1"/>
          <p:cNvSpPr/>
          <p:nvPr/>
        </p:nvSpPr>
        <p:spPr>
          <a:xfrm>
            <a:off x="793790" y="2743438"/>
            <a:ext cx="2367558" cy="4216837"/>
          </a:xfrm>
          <a:prstGeom prst="roundRect">
            <a:avLst>
              <a:gd name="adj" fmla="val 4024"/>
            </a:avLst>
          </a:prstGeom>
          <a:solidFill>
            <a:srgbClr val="D5EAF6"/>
          </a:solidFill>
          <a:ln w="7620">
            <a:solidFill>
              <a:srgbClr val="BBD0DC"/>
            </a:solidFill>
            <a:prstDash val="solid"/>
          </a:ln>
        </p:spPr>
      </p:sp>
      <p:sp>
        <p:nvSpPr>
          <p:cNvPr id="5" name="Text 2"/>
          <p:cNvSpPr/>
          <p:nvPr/>
        </p:nvSpPr>
        <p:spPr>
          <a:xfrm>
            <a:off x="1028224" y="2977872"/>
            <a:ext cx="1898690" cy="708660"/>
          </a:xfrm>
          <a:prstGeom prst="rect">
            <a:avLst/>
          </a:prstGeom>
          <a:noFill/>
          <a:ln/>
        </p:spPr>
        <p:txBody>
          <a:bodyPr wrap="square" lIns="0" tIns="0" rIns="0" bIns="0" rtlCol="0" anchor="t"/>
          <a:lstStyle/>
          <a:p>
            <a:pPr algn="l" indent="0" marL="0">
              <a:lnSpc>
                <a:spcPts val="2750"/>
              </a:lnSpc>
              <a:buNone/>
            </a:pPr>
            <a:r>
              <a:rPr lang="en-US" sz="2200" dirty="0">
                <a:solidFill>
                  <a:srgbClr val="3B3535"/>
                </a:solidFill>
                <a:latin typeface="Alexandria Semi Bold" pitchFamily="34" charset="0"/>
                <a:ea typeface="Alexandria Semi Bold" pitchFamily="34" charset="-122"/>
                <a:cs typeface="Alexandria Semi Bold" pitchFamily="34" charset="-120"/>
              </a:rPr>
              <a:t>Rapid evolution</a:t>
            </a:r>
            <a:endParaRPr lang="en-US" sz="2200" dirty="0"/>
          </a:p>
        </p:txBody>
      </p:sp>
      <p:sp>
        <p:nvSpPr>
          <p:cNvPr id="6" name="Text 3"/>
          <p:cNvSpPr/>
          <p:nvPr/>
        </p:nvSpPr>
        <p:spPr>
          <a:xfrm>
            <a:off x="1028224" y="3822621"/>
            <a:ext cx="1898690" cy="2540318"/>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Sora Light" pitchFamily="34" charset="0"/>
                <a:ea typeface="Sora Light" pitchFamily="34" charset="-122"/>
                <a:cs typeface="Sora Light" pitchFamily="34" charset="-120"/>
              </a:rPr>
              <a:t>Fraudulent sites are created and retired quickly; detection must be instantaneous to be effective.</a:t>
            </a:r>
            <a:endParaRPr lang="en-US" sz="1750" dirty="0"/>
          </a:p>
        </p:txBody>
      </p:sp>
      <p:sp>
        <p:nvSpPr>
          <p:cNvPr id="7" name="Shape 4"/>
          <p:cNvSpPr/>
          <p:nvPr/>
        </p:nvSpPr>
        <p:spPr>
          <a:xfrm>
            <a:off x="3388162" y="2743438"/>
            <a:ext cx="2367558" cy="4216837"/>
          </a:xfrm>
          <a:prstGeom prst="roundRect">
            <a:avLst>
              <a:gd name="adj" fmla="val 4024"/>
            </a:avLst>
          </a:prstGeom>
          <a:solidFill>
            <a:srgbClr val="D5EAF6"/>
          </a:solidFill>
          <a:ln w="7620">
            <a:solidFill>
              <a:srgbClr val="BBD0DC"/>
            </a:solidFill>
            <a:prstDash val="solid"/>
          </a:ln>
        </p:spPr>
      </p:sp>
      <p:sp>
        <p:nvSpPr>
          <p:cNvPr id="8" name="Text 5"/>
          <p:cNvSpPr/>
          <p:nvPr/>
        </p:nvSpPr>
        <p:spPr>
          <a:xfrm>
            <a:off x="3622596" y="2977872"/>
            <a:ext cx="1898690" cy="708660"/>
          </a:xfrm>
          <a:prstGeom prst="rect">
            <a:avLst/>
          </a:prstGeom>
          <a:noFill/>
          <a:ln/>
        </p:spPr>
        <p:txBody>
          <a:bodyPr wrap="square" lIns="0" tIns="0" rIns="0" bIns="0" rtlCol="0" anchor="t"/>
          <a:lstStyle/>
          <a:p>
            <a:pPr algn="l" indent="0" marL="0">
              <a:lnSpc>
                <a:spcPts val="2750"/>
              </a:lnSpc>
              <a:buNone/>
            </a:pPr>
            <a:r>
              <a:rPr lang="en-US" sz="2200" dirty="0">
                <a:solidFill>
                  <a:srgbClr val="3B3535"/>
                </a:solidFill>
                <a:latin typeface="Alexandria Semi Bold" pitchFamily="34" charset="0"/>
                <a:ea typeface="Alexandria Semi Bold" pitchFamily="34" charset="-122"/>
                <a:cs typeface="Alexandria Semi Bold" pitchFamily="34" charset="-120"/>
              </a:rPr>
              <a:t>Minimise exposure</a:t>
            </a:r>
            <a:endParaRPr lang="en-US" sz="2200" dirty="0"/>
          </a:p>
        </p:txBody>
      </p:sp>
      <p:sp>
        <p:nvSpPr>
          <p:cNvPr id="9" name="Text 6"/>
          <p:cNvSpPr/>
          <p:nvPr/>
        </p:nvSpPr>
        <p:spPr>
          <a:xfrm>
            <a:off x="3622596" y="3822621"/>
            <a:ext cx="1898690" cy="2903220"/>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Sora Light" pitchFamily="34" charset="0"/>
                <a:ea typeface="Sora Light" pitchFamily="34" charset="-122"/>
                <a:cs typeface="Sora Light" pitchFamily="34" charset="-120"/>
              </a:rPr>
              <a:t>Delays in identifying malicious pages leave users vulnerable to credential theft and drive‑by downloads.</a:t>
            </a:r>
            <a:endParaRPr lang="en-US" sz="1750" dirty="0"/>
          </a:p>
        </p:txBody>
      </p:sp>
      <p:sp>
        <p:nvSpPr>
          <p:cNvPr id="10" name="Shape 7"/>
          <p:cNvSpPr/>
          <p:nvPr/>
        </p:nvSpPr>
        <p:spPr>
          <a:xfrm>
            <a:off x="5982533" y="2743438"/>
            <a:ext cx="2367558" cy="4216837"/>
          </a:xfrm>
          <a:prstGeom prst="roundRect">
            <a:avLst>
              <a:gd name="adj" fmla="val 4024"/>
            </a:avLst>
          </a:prstGeom>
          <a:solidFill>
            <a:srgbClr val="D5EAF6"/>
          </a:solidFill>
          <a:ln w="7620">
            <a:solidFill>
              <a:srgbClr val="BBD0DC"/>
            </a:solidFill>
            <a:prstDash val="solid"/>
          </a:ln>
        </p:spPr>
      </p:sp>
      <p:sp>
        <p:nvSpPr>
          <p:cNvPr id="11" name="Text 8"/>
          <p:cNvSpPr/>
          <p:nvPr/>
        </p:nvSpPr>
        <p:spPr>
          <a:xfrm>
            <a:off x="6216968" y="2977872"/>
            <a:ext cx="1898690" cy="708660"/>
          </a:xfrm>
          <a:prstGeom prst="rect">
            <a:avLst/>
          </a:prstGeom>
          <a:noFill/>
          <a:ln/>
        </p:spPr>
        <p:txBody>
          <a:bodyPr wrap="square" lIns="0" tIns="0" rIns="0" bIns="0" rtlCol="0" anchor="t"/>
          <a:lstStyle/>
          <a:p>
            <a:pPr algn="l" indent="0" marL="0">
              <a:lnSpc>
                <a:spcPts val="2750"/>
              </a:lnSpc>
              <a:buNone/>
            </a:pPr>
            <a:r>
              <a:rPr lang="en-US" sz="2200" dirty="0">
                <a:solidFill>
                  <a:srgbClr val="3B3535"/>
                </a:solidFill>
                <a:latin typeface="Alexandria Semi Bold" pitchFamily="34" charset="0"/>
                <a:ea typeface="Alexandria Semi Bold" pitchFamily="34" charset="-122"/>
                <a:cs typeface="Alexandria Semi Bold" pitchFamily="34" charset="-120"/>
              </a:rPr>
              <a:t>Frontline defence</a:t>
            </a:r>
            <a:endParaRPr lang="en-US" sz="2200" dirty="0"/>
          </a:p>
        </p:txBody>
      </p:sp>
      <p:sp>
        <p:nvSpPr>
          <p:cNvPr id="12" name="Text 9"/>
          <p:cNvSpPr/>
          <p:nvPr/>
        </p:nvSpPr>
        <p:spPr>
          <a:xfrm>
            <a:off x="6216968" y="3822621"/>
            <a:ext cx="1898690" cy="2903220"/>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Sora Light" pitchFamily="34" charset="0"/>
                <a:ea typeface="Sora Light" pitchFamily="34" charset="-122"/>
                <a:cs typeface="Sora Light" pitchFamily="34" charset="-120"/>
              </a:rPr>
              <a:t>Browser extensions operate where users interact, providing alerts and blocking before damage occurs.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68668" y="604004"/>
            <a:ext cx="10181034" cy="549116"/>
          </a:xfrm>
          <a:prstGeom prst="rect">
            <a:avLst/>
          </a:prstGeom>
          <a:noFill/>
          <a:ln/>
        </p:spPr>
        <p:txBody>
          <a:bodyPr wrap="none" lIns="0" tIns="0" rIns="0" bIns="0" rtlCol="0" anchor="t"/>
          <a:lstStyle/>
          <a:p>
            <a:pPr algn="l" indent="0" marL="0">
              <a:lnSpc>
                <a:spcPts val="4300"/>
              </a:lnSpc>
              <a:buNone/>
            </a:pPr>
            <a:r>
              <a:rPr lang="en-US" sz="3450" dirty="0">
                <a:solidFill>
                  <a:srgbClr val="1F1E1E"/>
                </a:solidFill>
                <a:latin typeface="Alexandria Semi Bold" pitchFamily="34" charset="0"/>
                <a:ea typeface="Alexandria Semi Bold" pitchFamily="34" charset="-122"/>
                <a:cs typeface="Alexandria Semi Bold" pitchFamily="34" charset="-120"/>
              </a:rPr>
              <a:t>Machine Learning Powers Detection Accuracy</a:t>
            </a:r>
            <a:endParaRPr lang="en-US" sz="3450" dirty="0"/>
          </a:p>
        </p:txBody>
      </p:sp>
      <p:sp>
        <p:nvSpPr>
          <p:cNvPr id="3" name="Text 1"/>
          <p:cNvSpPr/>
          <p:nvPr/>
        </p:nvSpPr>
        <p:spPr>
          <a:xfrm>
            <a:off x="768668" y="1578412"/>
            <a:ext cx="13093065" cy="691753"/>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Modern classifiers analyse lexical URL patterns, hosting behaviour and network signals. Ensemble approaches combine lightweight models for speed with deeper models for edge cases.</a:t>
            </a:r>
            <a:endParaRPr lang="en-US" sz="1700" dirty="0"/>
          </a:p>
        </p:txBody>
      </p:sp>
      <p:pic>
        <p:nvPicPr>
          <p:cNvPr id="4" name="Image 0" descr="preencoded.png">    </p:cNvPr>
          <p:cNvPicPr>
            <a:picLocks noChangeAspect="1"/>
          </p:cNvPicPr>
          <p:nvPr/>
        </p:nvPicPr>
        <p:blipFill>
          <a:blip r:embed="rId1"/>
          <a:stretch>
            <a:fillRect/>
          </a:stretch>
        </p:blipFill>
        <p:spPr>
          <a:xfrm>
            <a:off x="768668" y="2748558"/>
            <a:ext cx="8322945" cy="4645343"/>
          </a:xfrm>
          <a:prstGeom prst="rect">
            <a:avLst/>
          </a:prstGeom>
        </p:spPr>
      </p:pic>
      <p:sp>
        <p:nvSpPr>
          <p:cNvPr id="5" name="Text 2"/>
          <p:cNvSpPr/>
          <p:nvPr/>
        </p:nvSpPr>
        <p:spPr>
          <a:xfrm>
            <a:off x="9635014" y="3766304"/>
            <a:ext cx="2839998" cy="343138"/>
          </a:xfrm>
          <a:prstGeom prst="rect">
            <a:avLst/>
          </a:prstGeom>
          <a:noFill/>
          <a:ln/>
        </p:spPr>
        <p:txBody>
          <a:bodyPr wrap="none" lIns="0" tIns="0" rIns="0" bIns="0" rtlCol="0" anchor="t"/>
          <a:lstStyle/>
          <a:p>
            <a:pPr algn="l" indent="0" marL="0">
              <a:lnSpc>
                <a:spcPts val="2700"/>
              </a:lnSpc>
              <a:buNone/>
            </a:pPr>
            <a:r>
              <a:rPr lang="en-US" sz="2150" dirty="0">
                <a:solidFill>
                  <a:srgbClr val="1F1E1E"/>
                </a:solidFill>
                <a:latin typeface="Alexandria Semi Bold" pitchFamily="34" charset="0"/>
                <a:ea typeface="Alexandria Semi Bold" pitchFamily="34" charset="-122"/>
                <a:cs typeface="Alexandria Semi Bold" pitchFamily="34" charset="-120"/>
              </a:rPr>
              <a:t>Proven performance</a:t>
            </a:r>
            <a:endParaRPr lang="en-US" sz="2150" dirty="0"/>
          </a:p>
        </p:txBody>
      </p:sp>
      <p:sp>
        <p:nvSpPr>
          <p:cNvPr id="6" name="Text 3"/>
          <p:cNvSpPr/>
          <p:nvPr/>
        </p:nvSpPr>
        <p:spPr>
          <a:xfrm>
            <a:off x="9635014" y="4322088"/>
            <a:ext cx="4234220" cy="2075259"/>
          </a:xfrm>
          <a:prstGeom prst="rect">
            <a:avLst/>
          </a:prstGeom>
          <a:noFill/>
          <a:ln/>
        </p:spPr>
        <p:txBody>
          <a:bodyPr wrap="square" lIns="0" tIns="0" rIns="0" bIns="0" rtlCol="0" anchor="t"/>
          <a:lstStyle/>
          <a:p>
            <a:pPr algn="l" indent="0" marL="0">
              <a:lnSpc>
                <a:spcPts val="2700"/>
              </a:lnSpc>
              <a:buNone/>
            </a:pPr>
            <a:r>
              <a:rPr lang="en-US" sz="1700" dirty="0">
                <a:solidFill>
                  <a:srgbClr val="3B3535"/>
                </a:solidFill>
                <a:latin typeface="Sora Light" pitchFamily="34" charset="0"/>
                <a:ea typeface="Sora Light" pitchFamily="34" charset="-122"/>
                <a:cs typeface="Sora Light" pitchFamily="34" charset="-120"/>
              </a:rPr>
              <a:t>LGBM classifiers trained on 87 engineered features have achieved ~96.5% accuracy in phishing detection (Morey et al., 2024). Combining multiple feature families raises precision and reduces false positives.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118830"/>
            <a:ext cx="7556421" cy="1133951"/>
          </a:xfrm>
          <a:prstGeom prst="rect">
            <a:avLst/>
          </a:prstGeom>
          <a:noFill/>
          <a:ln/>
        </p:spPr>
        <p:txBody>
          <a:bodyPr wrap="square" lIns="0" tIns="0" rIns="0" bIns="0" rtlCol="0" anchor="t"/>
          <a:lstStyle/>
          <a:p>
            <a:pPr algn="l" indent="0" marL="0">
              <a:lnSpc>
                <a:spcPts val="4450"/>
              </a:lnSpc>
              <a:buNone/>
            </a:pPr>
            <a:r>
              <a:rPr lang="en-US" sz="3550" dirty="0">
                <a:solidFill>
                  <a:srgbClr val="1F1E1E"/>
                </a:solidFill>
                <a:latin typeface="Alexandria Semi Bold" pitchFamily="34" charset="0"/>
                <a:ea typeface="Alexandria Semi Bold" pitchFamily="34" charset="-122"/>
                <a:cs typeface="Alexandria Semi Bold" pitchFamily="34" charset="-120"/>
              </a:rPr>
              <a:t>Cutting‑Edge Research: VeriSite &amp; Real‑Time Scoring</a:t>
            </a:r>
            <a:endParaRPr lang="en-US" sz="3550" dirty="0"/>
          </a:p>
        </p:txBody>
      </p:sp>
      <p:sp>
        <p:nvSpPr>
          <p:cNvPr id="4" name="Text 1"/>
          <p:cNvSpPr/>
          <p:nvPr/>
        </p:nvSpPr>
        <p:spPr>
          <a:xfrm>
            <a:off x="6280190" y="2592943"/>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Sora Light" pitchFamily="34" charset="0"/>
                <a:ea typeface="Sora Light" pitchFamily="34" charset="-122"/>
                <a:cs typeface="Sora Light" pitchFamily="34" charset="-120"/>
              </a:rPr>
              <a:t>VeriSite demonstrates that fine‑tuned DeBERTa v3 embeddings of URL text combined with a neural scorer produce meaningful safety scores (0 = malicious to 100 = benign), enabling rapid triage with minimal context.</a:t>
            </a:r>
            <a:endParaRPr lang="en-US" sz="1750" dirty="0"/>
          </a:p>
        </p:txBody>
      </p:sp>
      <p:sp>
        <p:nvSpPr>
          <p:cNvPr id="5" name="Shape 2"/>
          <p:cNvSpPr/>
          <p:nvPr/>
        </p:nvSpPr>
        <p:spPr>
          <a:xfrm>
            <a:off x="6280190" y="4299704"/>
            <a:ext cx="3664744" cy="2810947"/>
          </a:xfrm>
          <a:prstGeom prst="roundRect">
            <a:avLst>
              <a:gd name="adj" fmla="val 3389"/>
            </a:avLst>
          </a:prstGeom>
          <a:solidFill>
            <a:srgbClr val="FEFAF9"/>
          </a:solidFill>
          <a:ln w="30480">
            <a:solidFill>
              <a:srgbClr val="BBD0DC"/>
            </a:solidFill>
            <a:prstDash val="solid"/>
          </a:ln>
        </p:spPr>
      </p:sp>
      <p:sp>
        <p:nvSpPr>
          <p:cNvPr id="6" name="Text 3"/>
          <p:cNvSpPr/>
          <p:nvPr/>
        </p:nvSpPr>
        <p:spPr>
          <a:xfrm>
            <a:off x="6537484" y="455699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Alexandria Semi Bold" pitchFamily="34" charset="0"/>
                <a:ea typeface="Alexandria Semi Bold" pitchFamily="34" charset="-122"/>
                <a:cs typeface="Alexandria Semi Bold" pitchFamily="34" charset="-120"/>
              </a:rPr>
              <a:t>URL‑first signals</a:t>
            </a:r>
            <a:endParaRPr lang="en-US" sz="2200" dirty="0"/>
          </a:p>
        </p:txBody>
      </p:sp>
      <p:sp>
        <p:nvSpPr>
          <p:cNvPr id="7" name="Text 4"/>
          <p:cNvSpPr/>
          <p:nvPr/>
        </p:nvSpPr>
        <p:spPr>
          <a:xfrm>
            <a:off x="6537484" y="5047417"/>
            <a:ext cx="3150156" cy="1451610"/>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Sora Light" pitchFamily="34" charset="0"/>
                <a:ea typeface="Sora Light" pitchFamily="34" charset="-122"/>
                <a:cs typeface="Sora Light" pitchFamily="34" charset="-120"/>
              </a:rPr>
              <a:t>Textual cues and token patterns are strong indicators when models are carefully fine‑tuned.</a:t>
            </a:r>
            <a:endParaRPr lang="en-US" sz="1750" dirty="0"/>
          </a:p>
        </p:txBody>
      </p:sp>
      <p:sp>
        <p:nvSpPr>
          <p:cNvPr id="8" name="Shape 5"/>
          <p:cNvSpPr/>
          <p:nvPr/>
        </p:nvSpPr>
        <p:spPr>
          <a:xfrm>
            <a:off x="10171748" y="4299704"/>
            <a:ext cx="3664863" cy="2810947"/>
          </a:xfrm>
          <a:prstGeom prst="roundRect">
            <a:avLst>
              <a:gd name="adj" fmla="val 3389"/>
            </a:avLst>
          </a:prstGeom>
          <a:solidFill>
            <a:srgbClr val="FEFAF9"/>
          </a:solidFill>
          <a:ln w="30480">
            <a:solidFill>
              <a:srgbClr val="BBD0DC"/>
            </a:solidFill>
            <a:prstDash val="solid"/>
          </a:ln>
        </p:spPr>
      </p:sp>
      <p:sp>
        <p:nvSpPr>
          <p:cNvPr id="9" name="Text 6"/>
          <p:cNvSpPr/>
          <p:nvPr/>
        </p:nvSpPr>
        <p:spPr>
          <a:xfrm>
            <a:off x="10429042" y="4556998"/>
            <a:ext cx="3150275" cy="708660"/>
          </a:xfrm>
          <a:prstGeom prst="rect">
            <a:avLst/>
          </a:prstGeom>
          <a:noFill/>
          <a:ln/>
        </p:spPr>
        <p:txBody>
          <a:bodyPr wrap="square" lIns="0" tIns="0" rIns="0" bIns="0" rtlCol="0" anchor="t"/>
          <a:lstStyle/>
          <a:p>
            <a:pPr algn="l" indent="0" marL="0">
              <a:lnSpc>
                <a:spcPts val="2750"/>
              </a:lnSpc>
              <a:buNone/>
            </a:pPr>
            <a:r>
              <a:rPr lang="en-US" sz="2200" dirty="0">
                <a:solidFill>
                  <a:srgbClr val="3B3535"/>
                </a:solidFill>
                <a:latin typeface="Alexandria Semi Bold" pitchFamily="34" charset="0"/>
                <a:ea typeface="Alexandria Semi Bold" pitchFamily="34" charset="-122"/>
                <a:cs typeface="Alexandria Semi Bold" pitchFamily="34" charset="-120"/>
              </a:rPr>
              <a:t>Lightweight deployment</a:t>
            </a:r>
            <a:endParaRPr lang="en-US" sz="2200" dirty="0"/>
          </a:p>
        </p:txBody>
      </p:sp>
      <p:sp>
        <p:nvSpPr>
          <p:cNvPr id="10" name="Text 7"/>
          <p:cNvSpPr/>
          <p:nvPr/>
        </p:nvSpPr>
        <p:spPr>
          <a:xfrm>
            <a:off x="10429042" y="5401747"/>
            <a:ext cx="3150275" cy="1451610"/>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Sora Light" pitchFamily="34" charset="0"/>
                <a:ea typeface="Sora Light" pitchFamily="34" charset="-122"/>
                <a:cs typeface="Sora Light" pitchFamily="34" charset="-120"/>
              </a:rPr>
              <a:t>Models can run or be queried via a small cloud API to keep the extension responsive.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638657" y="473154"/>
            <a:ext cx="7459742" cy="411361"/>
          </a:xfrm>
          <a:prstGeom prst="rect">
            <a:avLst/>
          </a:prstGeom>
          <a:noFill/>
          <a:ln/>
        </p:spPr>
        <p:txBody>
          <a:bodyPr wrap="none" lIns="0" tIns="0" rIns="0" bIns="0" rtlCol="0" anchor="t"/>
          <a:lstStyle/>
          <a:p>
            <a:pPr algn="l" indent="0" marL="0">
              <a:lnSpc>
                <a:spcPts val="3200"/>
              </a:lnSpc>
              <a:buNone/>
            </a:pPr>
            <a:r>
              <a:rPr lang="en-US" sz="2550" dirty="0">
                <a:solidFill>
                  <a:srgbClr val="1F1E1E"/>
                </a:solidFill>
                <a:latin typeface="Alexandria Semi Bold" pitchFamily="34" charset="0"/>
                <a:ea typeface="Alexandria Semi Bold" pitchFamily="34" charset="-122"/>
                <a:cs typeface="Alexandria Semi Bold" pitchFamily="34" charset="-120"/>
              </a:rPr>
              <a:t>How These Extensions Work Under the Hood</a:t>
            </a:r>
            <a:endParaRPr lang="en-US" sz="2550" dirty="0"/>
          </a:p>
        </p:txBody>
      </p:sp>
      <p:pic>
        <p:nvPicPr>
          <p:cNvPr id="3" name="Image 0" descr="preencoded.png">    </p:cNvPr>
          <p:cNvPicPr>
            <a:picLocks noChangeAspect="1"/>
          </p:cNvPicPr>
          <p:nvPr/>
        </p:nvPicPr>
        <p:blipFill>
          <a:blip r:embed="rId1"/>
          <a:stretch>
            <a:fillRect/>
          </a:stretch>
        </p:blipFill>
        <p:spPr>
          <a:xfrm>
            <a:off x="2929295" y="1123117"/>
            <a:ext cx="8771692" cy="6044922"/>
          </a:xfrm>
          <a:prstGeom prst="rect">
            <a:avLst/>
          </a:prstGeom>
        </p:spPr>
      </p:pic>
      <p:sp>
        <p:nvSpPr>
          <p:cNvPr id="4" name="Text 1"/>
          <p:cNvSpPr/>
          <p:nvPr/>
        </p:nvSpPr>
        <p:spPr>
          <a:xfrm>
            <a:off x="3148979" y="4884482"/>
            <a:ext cx="2397071" cy="319302"/>
          </a:xfrm>
          <a:prstGeom prst="rect">
            <a:avLst/>
          </a:prstGeom>
          <a:noFill/>
          <a:ln/>
        </p:spPr>
        <p:txBody>
          <a:bodyPr wrap="none" lIns="0" tIns="0" rIns="0" bIns="0" rtlCol="0" anchor="t"/>
          <a:lstStyle/>
          <a:p>
            <a:pPr algn="ctr" indent="0" marL="0">
              <a:lnSpc>
                <a:spcPts val="2500"/>
              </a:lnSpc>
              <a:buNone/>
            </a:pPr>
            <a:r>
              <a:rPr lang="en-US" sz="2000" dirty="0">
                <a:solidFill>
                  <a:srgbClr val="3B3535"/>
                </a:solidFill>
                <a:latin typeface="Alexandria Semi Bold" pitchFamily="34" charset="0"/>
                <a:ea typeface="Alexandria Semi Bold" pitchFamily="34" charset="-122"/>
                <a:cs typeface="Alexandria Semi Bold" pitchFamily="34" charset="-120"/>
              </a:rPr>
              <a:t>Capture URL</a:t>
            </a:r>
            <a:endParaRPr lang="en-US" sz="20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72697" y="3344560"/>
            <a:ext cx="567648" cy="567648"/>
          </a:xfrm>
          <a:prstGeom prst="rect">
            <a:avLst/>
          </a:prstGeom>
        </p:spPr>
      </p:pic>
      <p:sp>
        <p:nvSpPr>
          <p:cNvPr id="6" name="Text 2"/>
          <p:cNvSpPr/>
          <p:nvPr/>
        </p:nvSpPr>
        <p:spPr>
          <a:xfrm>
            <a:off x="5191625" y="2346032"/>
            <a:ext cx="2474945" cy="319302"/>
          </a:xfrm>
          <a:prstGeom prst="rect">
            <a:avLst/>
          </a:prstGeom>
          <a:noFill/>
          <a:ln/>
        </p:spPr>
        <p:txBody>
          <a:bodyPr wrap="none" lIns="0" tIns="0" rIns="0" bIns="0" rtlCol="0" anchor="t"/>
          <a:lstStyle/>
          <a:p>
            <a:pPr algn="ctr" indent="0" marL="0">
              <a:lnSpc>
                <a:spcPts val="2500"/>
              </a:lnSpc>
              <a:buNone/>
            </a:pPr>
            <a:r>
              <a:rPr lang="en-US" sz="2000" dirty="0">
                <a:solidFill>
                  <a:srgbClr val="3B3535"/>
                </a:solidFill>
                <a:latin typeface="Alexandria Semi Bold" pitchFamily="34" charset="0"/>
                <a:ea typeface="Alexandria Semi Bold" pitchFamily="34" charset="-122"/>
                <a:cs typeface="Alexandria Semi Bold" pitchFamily="34" charset="-120"/>
              </a:rPr>
              <a:t>Extract features</a:t>
            </a:r>
            <a:endParaRPr lang="en-US" sz="20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66997" y="3690648"/>
            <a:ext cx="567648" cy="567648"/>
          </a:xfrm>
          <a:prstGeom prst="rect">
            <a:avLst/>
          </a:prstGeom>
        </p:spPr>
      </p:pic>
      <p:sp>
        <p:nvSpPr>
          <p:cNvPr id="8" name="Text 3"/>
          <p:cNvSpPr/>
          <p:nvPr/>
        </p:nvSpPr>
        <p:spPr>
          <a:xfrm>
            <a:off x="6853059" y="5627924"/>
            <a:ext cx="2397071" cy="638604"/>
          </a:xfrm>
          <a:prstGeom prst="rect">
            <a:avLst/>
          </a:prstGeom>
          <a:noFill/>
          <a:ln/>
        </p:spPr>
        <p:txBody>
          <a:bodyPr wrap="square" lIns="0" tIns="0" rIns="0" bIns="0" rtlCol="0" anchor="t"/>
          <a:lstStyle/>
          <a:p>
            <a:pPr algn="ctr" indent="0" marL="0">
              <a:lnSpc>
                <a:spcPts val="2500"/>
              </a:lnSpc>
              <a:buNone/>
            </a:pPr>
            <a:r>
              <a:rPr lang="en-US" sz="2000" dirty="0">
                <a:solidFill>
                  <a:srgbClr val="3B3535"/>
                </a:solidFill>
                <a:latin typeface="Alexandria Semi Bold" pitchFamily="34" charset="0"/>
                <a:ea typeface="Alexandria Semi Bold" pitchFamily="34" charset="-122"/>
                <a:cs typeface="Alexandria Semi Bold" pitchFamily="34" charset="-120"/>
              </a:rPr>
              <a:t>Score &amp; cross-check</a:t>
            </a:r>
            <a:endParaRPr lang="en-US" sz="2000" dirty="0"/>
          </a:p>
        </p:txBody>
      </p:sp>
      <p:pic>
        <p:nvPicPr>
          <p:cNvPr id="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61474" y="4036736"/>
            <a:ext cx="567648" cy="567648"/>
          </a:xfrm>
          <a:prstGeom prst="rect">
            <a:avLst/>
          </a:prstGeom>
        </p:spPr>
      </p:pic>
      <p:sp>
        <p:nvSpPr>
          <p:cNvPr id="10" name="Text 4"/>
          <p:cNvSpPr/>
          <p:nvPr/>
        </p:nvSpPr>
        <p:spPr>
          <a:xfrm>
            <a:off x="8980853" y="3014260"/>
            <a:ext cx="2397070" cy="319302"/>
          </a:xfrm>
          <a:prstGeom prst="rect">
            <a:avLst/>
          </a:prstGeom>
          <a:noFill/>
          <a:ln/>
        </p:spPr>
        <p:txBody>
          <a:bodyPr wrap="none" lIns="0" tIns="0" rIns="0" bIns="0" rtlCol="0" anchor="t"/>
          <a:lstStyle/>
          <a:p>
            <a:pPr algn="ctr" indent="0" marL="0">
              <a:lnSpc>
                <a:spcPts val="2500"/>
              </a:lnSpc>
              <a:buNone/>
            </a:pPr>
            <a:r>
              <a:rPr lang="en-US" sz="2000" dirty="0">
                <a:solidFill>
                  <a:srgbClr val="3B3535"/>
                </a:solidFill>
                <a:latin typeface="Alexandria Semi Bold" pitchFamily="34" charset="0"/>
                <a:ea typeface="Alexandria Semi Bold" pitchFamily="34" charset="-122"/>
                <a:cs typeface="Alexandria Semi Bold" pitchFamily="34" charset="-120"/>
              </a:rPr>
              <a:t>Warn/block</a:t>
            </a:r>
            <a:endParaRPr lang="en-US" sz="2000" dirty="0"/>
          </a:p>
        </p:txBody>
      </p:sp>
      <p:pic>
        <p:nvPicPr>
          <p:cNvPr id="11"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71253" y="4408368"/>
            <a:ext cx="567649" cy="567648"/>
          </a:xfrm>
          <a:prstGeom prst="rect">
            <a:avLst/>
          </a:prstGeom>
        </p:spPr>
      </p:pic>
      <p:sp>
        <p:nvSpPr>
          <p:cNvPr id="12" name="Text 5"/>
          <p:cNvSpPr/>
          <p:nvPr/>
        </p:nvSpPr>
        <p:spPr>
          <a:xfrm>
            <a:off x="1638657" y="7302222"/>
            <a:ext cx="11352967" cy="454104"/>
          </a:xfrm>
          <a:prstGeom prst="rect">
            <a:avLst/>
          </a:prstGeom>
          <a:noFill/>
          <a:ln/>
        </p:spPr>
        <p:txBody>
          <a:bodyPr wrap="square" lIns="0" tIns="0" rIns="0" bIns="0" rtlCol="0" anchor="t"/>
          <a:lstStyle/>
          <a:p>
            <a:pPr algn="l" indent="0" marL="0">
              <a:lnSpc>
                <a:spcPts val="1750"/>
              </a:lnSpc>
              <a:buNone/>
            </a:pPr>
            <a:r>
              <a:rPr lang="en-US" sz="1250" dirty="0">
                <a:solidFill>
                  <a:srgbClr val="3B3535"/>
                </a:solidFill>
                <a:latin typeface="Sora Light" pitchFamily="34" charset="0"/>
                <a:ea typeface="Sora Light" pitchFamily="34" charset="-122"/>
                <a:cs typeface="Sora Light" pitchFamily="34" charset="-120"/>
              </a:rPr>
              <a:t>Extensions capture the URL, extract features (length, SSL, domain age, lexical tokens), score with ML models, cross‑check threat feeds (Google Safe Browsing, PhishTank, VirusTotal) and present an actionable alert or block in real‑time.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348145"/>
            <a:ext cx="5692973" cy="566976"/>
          </a:xfrm>
          <a:prstGeom prst="rect">
            <a:avLst/>
          </a:prstGeom>
          <a:noFill/>
          <a:ln/>
        </p:spPr>
        <p:txBody>
          <a:bodyPr wrap="none" lIns="0" tIns="0" rIns="0" bIns="0" rtlCol="0" anchor="t"/>
          <a:lstStyle/>
          <a:p>
            <a:pPr algn="l" indent="0" marL="0">
              <a:lnSpc>
                <a:spcPts val="4450"/>
              </a:lnSpc>
              <a:buNone/>
            </a:pPr>
            <a:r>
              <a:rPr lang="en-US" sz="3550" dirty="0">
                <a:solidFill>
                  <a:srgbClr val="1F1E1E"/>
                </a:solidFill>
                <a:latin typeface="Alexandria Semi Bold" pitchFamily="34" charset="0"/>
                <a:ea typeface="Alexandria Semi Bold" pitchFamily="34" charset="-122"/>
                <a:cs typeface="Alexandria Semi Bold" pitchFamily="34" charset="-120"/>
              </a:rPr>
              <a:t>Impact &amp; Future Outlook</a:t>
            </a:r>
            <a:endParaRPr lang="en-US" sz="3550" dirty="0"/>
          </a:p>
        </p:txBody>
      </p:sp>
      <p:pic>
        <p:nvPicPr>
          <p:cNvPr id="3" name="Image 0" descr="preencoded.png">    </p:cNvPr>
          <p:cNvPicPr>
            <a:picLocks noChangeAspect="1"/>
          </p:cNvPicPr>
          <p:nvPr/>
        </p:nvPicPr>
        <p:blipFill>
          <a:blip r:embed="rId1"/>
          <a:stretch>
            <a:fillRect/>
          </a:stretch>
        </p:blipFill>
        <p:spPr>
          <a:xfrm>
            <a:off x="793790" y="2368748"/>
            <a:ext cx="1829753" cy="2287191"/>
          </a:xfrm>
          <a:prstGeom prst="rect">
            <a:avLst/>
          </a:prstGeom>
        </p:spPr>
      </p:pic>
      <p:sp>
        <p:nvSpPr>
          <p:cNvPr id="4" name="Text 1"/>
          <p:cNvSpPr/>
          <p:nvPr/>
        </p:nvSpPr>
        <p:spPr>
          <a:xfrm>
            <a:off x="793790" y="493942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Alexandria Semi Bold" pitchFamily="34" charset="0"/>
                <a:ea typeface="Alexandria Semi Bold" pitchFamily="34" charset="-122"/>
                <a:cs typeface="Alexandria Semi Bold" pitchFamily="34" charset="-120"/>
              </a:rPr>
              <a:t>Reduce harm</a:t>
            </a:r>
            <a:endParaRPr lang="en-US" sz="2200" dirty="0"/>
          </a:p>
        </p:txBody>
      </p:sp>
      <p:sp>
        <p:nvSpPr>
          <p:cNvPr id="5" name="Text 2"/>
          <p:cNvSpPr/>
          <p:nvPr/>
        </p:nvSpPr>
        <p:spPr>
          <a:xfrm>
            <a:off x="793790" y="5429845"/>
            <a:ext cx="4158615" cy="1451610"/>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Sora Light" pitchFamily="34" charset="0"/>
                <a:ea typeface="Sora Light" pitchFamily="34" charset="-122"/>
                <a:cs typeface="Sora Light" pitchFamily="34" charset="-120"/>
              </a:rPr>
              <a:t>Real‑time detection reduces phishing success and lowers user losses, increasing overall digital trust.</a:t>
            </a:r>
            <a:endParaRPr lang="en-US" sz="1750" dirty="0"/>
          </a:p>
        </p:txBody>
      </p:sp>
      <p:pic>
        <p:nvPicPr>
          <p:cNvPr id="6" name="Image 1" descr="preencoded.png">    </p:cNvPr>
          <p:cNvPicPr>
            <a:picLocks noChangeAspect="1"/>
          </p:cNvPicPr>
          <p:nvPr/>
        </p:nvPicPr>
        <p:blipFill>
          <a:blip r:embed="rId2"/>
          <a:stretch>
            <a:fillRect/>
          </a:stretch>
        </p:blipFill>
        <p:spPr>
          <a:xfrm>
            <a:off x="5235893" y="2368748"/>
            <a:ext cx="1829753" cy="2287191"/>
          </a:xfrm>
          <a:prstGeom prst="rect">
            <a:avLst/>
          </a:prstGeom>
        </p:spPr>
      </p:pic>
      <p:sp>
        <p:nvSpPr>
          <p:cNvPr id="7" name="Text 3"/>
          <p:cNvSpPr/>
          <p:nvPr/>
        </p:nvSpPr>
        <p:spPr>
          <a:xfrm>
            <a:off x="5235893" y="493942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Alexandria Semi Bold" pitchFamily="34" charset="0"/>
                <a:ea typeface="Alexandria Semi Bold" pitchFamily="34" charset="-122"/>
                <a:cs typeface="Alexandria Semi Bold" pitchFamily="34" charset="-120"/>
              </a:rPr>
              <a:t>Deeper telemetry</a:t>
            </a:r>
            <a:endParaRPr lang="en-US" sz="2200" dirty="0"/>
          </a:p>
        </p:txBody>
      </p:sp>
      <p:sp>
        <p:nvSpPr>
          <p:cNvPr id="8" name="Text 4"/>
          <p:cNvSpPr/>
          <p:nvPr/>
        </p:nvSpPr>
        <p:spPr>
          <a:xfrm>
            <a:off x="5235893" y="5429845"/>
            <a:ext cx="4158615" cy="1451610"/>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Sora Light" pitchFamily="34" charset="0"/>
                <a:ea typeface="Sora Light" pitchFamily="34" charset="-122"/>
                <a:cs typeface="Sora Light" pitchFamily="34" charset="-120"/>
              </a:rPr>
              <a:t>Future extensions may blend browser telemetry, network flow analysis and user interaction signals for richer context-aware protection.</a:t>
            </a:r>
            <a:endParaRPr lang="en-US" sz="1750" dirty="0"/>
          </a:p>
        </p:txBody>
      </p:sp>
      <p:pic>
        <p:nvPicPr>
          <p:cNvPr id="9" name="Image 2" descr="preencoded.png">    </p:cNvPr>
          <p:cNvPicPr>
            <a:picLocks noChangeAspect="1"/>
          </p:cNvPicPr>
          <p:nvPr/>
        </p:nvPicPr>
        <p:blipFill>
          <a:blip r:embed="rId3"/>
          <a:stretch>
            <a:fillRect/>
          </a:stretch>
        </p:blipFill>
        <p:spPr>
          <a:xfrm>
            <a:off x="9677995" y="2368748"/>
            <a:ext cx="1829753" cy="2287191"/>
          </a:xfrm>
          <a:prstGeom prst="rect">
            <a:avLst/>
          </a:prstGeom>
        </p:spPr>
      </p:pic>
      <p:sp>
        <p:nvSpPr>
          <p:cNvPr id="10" name="Text 5"/>
          <p:cNvSpPr/>
          <p:nvPr/>
        </p:nvSpPr>
        <p:spPr>
          <a:xfrm>
            <a:off x="9677995" y="493942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Alexandria Semi Bold" pitchFamily="34" charset="0"/>
                <a:ea typeface="Alexandria Semi Bold" pitchFamily="34" charset="-122"/>
                <a:cs typeface="Alexandria Semi Bold" pitchFamily="34" charset="-120"/>
              </a:rPr>
              <a:t>Empowered users</a:t>
            </a:r>
            <a:endParaRPr lang="en-US" sz="2200" dirty="0"/>
          </a:p>
        </p:txBody>
      </p:sp>
      <p:sp>
        <p:nvSpPr>
          <p:cNvPr id="11" name="Text 6"/>
          <p:cNvSpPr/>
          <p:nvPr/>
        </p:nvSpPr>
        <p:spPr>
          <a:xfrm>
            <a:off x="9677995" y="5429845"/>
            <a:ext cx="4158615" cy="1088708"/>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Sora Light" pitchFamily="34" charset="0"/>
                <a:ea typeface="Sora Light" pitchFamily="34" charset="-122"/>
                <a:cs typeface="Sora Light" pitchFamily="34" charset="-120"/>
              </a:rPr>
              <a:t>Clear, actionable alerts and explanations help users make safer choices without heavy friction.</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183362"/>
            <a:ext cx="7556421" cy="2126337"/>
          </a:xfrm>
          <a:prstGeom prst="rect">
            <a:avLst/>
          </a:prstGeom>
          <a:noFill/>
          <a:ln/>
        </p:spPr>
        <p:txBody>
          <a:bodyPr wrap="square" lIns="0" tIns="0" rIns="0" bIns="0" rtlCol="0" anchor="t"/>
          <a:lstStyle/>
          <a:p>
            <a:pPr algn="l" indent="0" marL="0">
              <a:lnSpc>
                <a:spcPts val="5550"/>
              </a:lnSpc>
              <a:buNone/>
            </a:pPr>
            <a:r>
              <a:rPr lang="en-US" sz="4450" dirty="0">
                <a:solidFill>
                  <a:srgbClr val="1F1E1E"/>
                </a:solidFill>
                <a:latin typeface="Alexandria Semi Bold" pitchFamily="34" charset="0"/>
                <a:ea typeface="Alexandria Semi Bold" pitchFamily="34" charset="-122"/>
                <a:cs typeface="Alexandria Semi Bold" pitchFamily="34" charset="-120"/>
              </a:rPr>
              <a:t>Conclusion: Safer Browsing Starts with Real‑Time Detection</a:t>
            </a:r>
            <a:endParaRPr lang="en-US" sz="4450" dirty="0"/>
          </a:p>
        </p:txBody>
      </p:sp>
      <p:sp>
        <p:nvSpPr>
          <p:cNvPr id="4" name="Text 1"/>
          <p:cNvSpPr/>
          <p:nvPr/>
        </p:nvSpPr>
        <p:spPr>
          <a:xfrm>
            <a:off x="793790" y="3649861"/>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Sora Light" pitchFamily="34" charset="0"/>
                <a:ea typeface="Sora Light" pitchFamily="34" charset="-122"/>
                <a:cs typeface="Sora Light" pitchFamily="34" charset="-120"/>
              </a:rPr>
              <a:t>Fake websites are an evolving global threat. Machine learning browser extensions deliver immediate, effective defence—essential for protecting users in India and worldwide. Adopt real‑time checks today: one reliable URL decision at a time.</a:t>
            </a:r>
            <a:endParaRPr lang="en-US" sz="1750" dirty="0"/>
          </a:p>
        </p:txBody>
      </p:sp>
      <p:sp>
        <p:nvSpPr>
          <p:cNvPr id="5" name="Shape 2"/>
          <p:cNvSpPr/>
          <p:nvPr/>
        </p:nvSpPr>
        <p:spPr>
          <a:xfrm>
            <a:off x="793790" y="5356622"/>
            <a:ext cx="7556421" cy="1689616"/>
          </a:xfrm>
          <a:prstGeom prst="roundRect">
            <a:avLst>
              <a:gd name="adj" fmla="val 5638"/>
            </a:avLst>
          </a:prstGeom>
          <a:solidFill>
            <a:srgbClr val="BFDFF2"/>
          </a:solidFill>
          <a:ln/>
        </p:spPr>
      </p:sp>
      <p:pic>
        <p:nvPicPr>
          <p:cNvPr id="6" name="Image 1" descr="preencoded.png">    </p:cNvPr>
          <p:cNvPicPr>
            <a:picLocks noChangeAspect="1"/>
          </p:cNvPicPr>
          <p:nvPr/>
        </p:nvPicPr>
        <p:blipFill>
          <a:blip r:embed="rId2"/>
          <a:stretch>
            <a:fillRect/>
          </a:stretch>
        </p:blipFill>
        <p:spPr>
          <a:xfrm>
            <a:off x="1020604" y="5693093"/>
            <a:ext cx="283488" cy="226814"/>
          </a:xfrm>
          <a:prstGeom prst="rect">
            <a:avLst/>
          </a:prstGeom>
        </p:spPr>
      </p:pic>
      <p:sp>
        <p:nvSpPr>
          <p:cNvPr id="7" name="Text 3"/>
          <p:cNvSpPr/>
          <p:nvPr/>
        </p:nvSpPr>
        <p:spPr>
          <a:xfrm>
            <a:off x="1530906" y="5640110"/>
            <a:ext cx="6592491"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Sora Light" pitchFamily="34" charset="0"/>
                <a:ea typeface="Sora Light" pitchFamily="34" charset="-122"/>
                <a:cs typeface="Sora Light" pitchFamily="34" charset="-120"/>
              </a:rPr>
              <a:t>Tip: Prioritise fast, explainable alerts and privacy‑conscious design when building or choosing an extension.</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2026-02-18T05:17:44Z</dcterms:created>
  <dcterms:modified xsi:type="dcterms:W3CDTF">2026-02-18T05:17:44Z</dcterms:modified>
</cp:coreProperties>
</file>