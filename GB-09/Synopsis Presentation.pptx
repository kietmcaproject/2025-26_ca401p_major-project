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1"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95"/>
  </p:normalViewPr>
  <p:slideViewPr>
    <p:cSldViewPr snapToGrid="0">
      <p:cViewPr varScale="1">
        <p:scale>
          <a:sx n="78" d="100"/>
          <a:sy n="78" d="100"/>
        </p:scale>
        <p:origin x="71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BA39B-7F23-46B3-B96C-20F72871BDF4}" type="datetimeFigureOut">
              <a:rPr lang="en-IN" smtClean="0"/>
              <a:t>17-02-2026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DA889E-2DDF-4E9E-8D55-5A6F4F9EC5A0}" type="slidenum">
              <a:rPr lang="en-IN" smtClean="0"/>
              <a:t>‹#›</a:t>
            </a:fld>
            <a:endParaRPr lang="en-IN"/>
          </a:p>
        </p:txBody>
      </p:sp>
    </p:spTree>
    <p:extLst>
      <p:ext uri="{BB962C8B-B14F-4D97-AF65-F5344CB8AC3E}">
        <p14:creationId xmlns:p14="http://schemas.microsoft.com/office/powerpoint/2010/main" val="2084414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54392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2195418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6163171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8F19E73-B7D3-DC45-A51F-7EDE10657769}"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52472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8F19E73-B7D3-DC45-A51F-7EDE10657769}" type="datetimeFigureOut">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2792271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F19E73-B7D3-DC45-A51F-7EDE10657769}" type="datetimeFigureOut">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916795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F19E73-B7D3-DC45-A51F-7EDE10657769}" type="datetimeFigureOut">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792798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F19E73-B7D3-DC45-A51F-7EDE10657769}"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2227675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F19E73-B7D3-DC45-A51F-7EDE10657769}" type="datetimeFigureOut">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353298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3640571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16691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2094907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837798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2823517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1251471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F19E73-B7D3-DC45-A51F-7EDE10657769}" type="datetimeFigureOut">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B3DA14-CF84-D04A-88F8-B789D22EF275}" type="slidenum">
              <a:rPr lang="en-US" smtClean="0"/>
              <a:t>‹#›</a:t>
            </a:fld>
            <a:endParaRPr lang="en-US"/>
          </a:p>
        </p:txBody>
      </p:sp>
    </p:spTree>
    <p:extLst>
      <p:ext uri="{BB962C8B-B14F-4D97-AF65-F5344CB8AC3E}">
        <p14:creationId xmlns:p14="http://schemas.microsoft.com/office/powerpoint/2010/main" val="5331399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0F0F1"/>
          </a:solidFill>
          <a:ln/>
        </p:spPr>
      </p:sp>
      <p:sp>
        <p:nvSpPr>
          <p:cNvPr id="3" name="Shape 1"/>
          <p:cNvSpPr/>
          <p:nvPr/>
        </p:nvSpPr>
        <p:spPr>
          <a:xfrm>
            <a:off x="0" y="0"/>
            <a:ext cx="12192000"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0699346" y="6457950"/>
            <a:ext cx="1435504" cy="342900"/>
          </a:xfrm>
          <a:prstGeom prst="rect">
            <a:avLst/>
          </a:prstGeom>
        </p:spPr>
      </p:pic>
    </p:spTree>
    <p:extLst>
      <p:ext uri="{BB962C8B-B14F-4D97-AF65-F5344CB8AC3E}">
        <p14:creationId xmlns:p14="http://schemas.microsoft.com/office/powerpoint/2010/main" val="1686841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8F19E73-B7D3-DC45-A51F-7EDE10657769}" type="datetimeFigureOut">
              <a:rPr lang="en-US" smtClean="0"/>
              <a:t>2/17/2026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C5B3DA14-CF84-D04A-88F8-B789D22EF275}" type="slidenum">
              <a:rPr lang="en-US" smtClean="0"/>
              <a:t>‹#›</a:t>
            </a:fld>
            <a:endParaRPr lang="en-US"/>
          </a:p>
        </p:txBody>
      </p:sp>
    </p:spTree>
    <p:extLst>
      <p:ext uri="{BB962C8B-B14F-4D97-AF65-F5344CB8AC3E}">
        <p14:creationId xmlns:p14="http://schemas.microsoft.com/office/powerpoint/2010/main" val="2190634369"/>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29392" y="144764"/>
            <a:ext cx="10842172" cy="6382581"/>
          </a:xfrm>
          <a:prstGeom prst="rect">
            <a:avLst/>
          </a:prstGeom>
          <a:noFill/>
        </p:spPr>
        <p:txBody>
          <a:bodyPr wrap="square">
            <a:spAutoFit/>
          </a:bodyPr>
          <a:lstStyle/>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SYNOPSIS Presentation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40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FAKE NEWS DETECTION</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by</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GUNJAN SHARMA</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202410116100080</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GOURAV CHAUHAN </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202410116100077</a:t>
            </a: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sym typeface="+mn-ea"/>
              </a:rPr>
              <a:t>GAURAV VISHWAKARMA</a:t>
            </a: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sym typeface="+mn-ea"/>
              </a:rPr>
              <a:t>  202410116100076</a:t>
            </a:r>
            <a:endPar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sym typeface="+mn-ea"/>
            </a:endParaRPr>
          </a:p>
          <a:p>
            <a:pPr algn="ctr">
              <a:lnSpc>
                <a:spcPct val="115000"/>
              </a:lnSpc>
              <a:spcAft>
                <a:spcPts val="1000"/>
              </a:spcAft>
            </a:pPr>
            <a:r>
              <a:rPr lang="en-IN" sz="2000" dirty="0">
                <a:solidFill>
                  <a:srgbClr val="1F497D"/>
                </a:solidFill>
                <a:latin typeface="Times New Roman" panose="02020603050405020304" pitchFamily="18" charset="0"/>
                <a:ea typeface="Calibri" panose="020F0502020204030204" pitchFamily="34" charset="0"/>
                <a:cs typeface="Times New Roman" panose="02020603050405020304" pitchFamily="18" charset="0"/>
                <a:sym typeface="+mn-ea"/>
              </a:rPr>
              <a:t>DIVYANSH PATHAK  202410116100067</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Session:2025-2026 (IV Semester)</a:t>
            </a: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Under the supervision of </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alt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Ms.</a:t>
            </a: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ANNU YADAV</a:t>
            </a: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2000" b="1" dirty="0">
                <a:solidFill>
                  <a:srgbClr val="1F497D"/>
                </a:solidFill>
                <a:latin typeface="Times New Roman" panose="02020603050405020304" pitchFamily="18" charset="0"/>
                <a:ea typeface="Calibri" panose="020F0502020204030204" pitchFamily="34" charset="0"/>
                <a:cs typeface="Times New Roman" panose="02020603050405020304" pitchFamily="18" charset="0"/>
              </a:rPr>
              <a:t> ASSISTANT PROFESSOR</a:t>
            </a: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 </a:t>
            </a:r>
          </a:p>
          <a:p>
            <a:pPr algn="ctr">
              <a:lnSpc>
                <a:spcPct val="115000"/>
              </a:lnSpc>
              <a:spcAft>
                <a:spcPts val="1000"/>
              </a:spcAft>
              <a:buNone/>
            </a:pPr>
            <a:r>
              <a:rPr lang="en-IN" sz="2000" b="1" dirty="0">
                <a:solidFill>
                  <a:srgbClr val="1F497D"/>
                </a:solidFill>
                <a:effectLst/>
                <a:latin typeface="Times New Roman" panose="02020603050405020304" pitchFamily="18" charset="0"/>
                <a:ea typeface="Calibri" panose="020F0502020204030204" pitchFamily="34" charset="0"/>
                <a:cs typeface="Times New Roman" panose="02020603050405020304" pitchFamily="18" charset="0"/>
              </a:rPr>
              <a:t>Department Of Computer Applications</a:t>
            </a:r>
          </a:p>
          <a:p>
            <a:pPr algn="ctr">
              <a:lnSpc>
                <a:spcPct val="115000"/>
              </a:lnSpc>
              <a:spcAft>
                <a:spcPts val="1000"/>
              </a:spcAft>
            </a:pPr>
            <a:r>
              <a:rPr lang="en-IN" sz="2000" b="1" dirty="0">
                <a:solidFill>
                  <a:srgbClr val="1F497D"/>
                </a:solidFill>
                <a:latin typeface="Times New Roman" panose="02020603050405020304" pitchFamily="18" charset="0"/>
                <a:cs typeface="Times New Roman" panose="02020603050405020304" pitchFamily="18" charset="0"/>
              </a:rPr>
              <a:t>KIET GROUP OF INSTITUTIONS, DELHI-NCR, GHAZIABAD-201206</a:t>
            </a:r>
          </a:p>
        </p:txBody>
      </p:sp>
      <p:pic>
        <p:nvPicPr>
          <p:cNvPr id="9" name="Picture 8" descr="A close-up of a logo&#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66" y="427512"/>
            <a:ext cx="3309483" cy="9154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p:cNvSpPr txBox="1"/>
          <p:nvPr/>
        </p:nvSpPr>
        <p:spPr>
          <a:xfrm>
            <a:off x="518556" y="176182"/>
            <a:ext cx="11673444" cy="5940088"/>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1. Title Slide: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Project title, team members, and presentation date.</a:t>
            </a:r>
          </a:p>
          <a:p>
            <a:pPr algn="just"/>
            <a:r>
              <a:rPr lang="en-IN" sz="2000" dirty="0">
                <a:latin typeface="Times New Roman" panose="02020603050405020304" pitchFamily="18" charset="0"/>
                <a:cs typeface="Times New Roman" panose="02020603050405020304" pitchFamily="18" charset="0"/>
              </a:rPr>
              <a:t>2. Project Overview: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Briefly introduce the project, its purpose, and the problem it solves.</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Highlight the project's significance and potential impact.</a:t>
            </a:r>
          </a:p>
          <a:p>
            <a:pPr algn="just"/>
            <a:r>
              <a:rPr lang="en-IN" sz="2000" dirty="0">
                <a:latin typeface="Times New Roman" panose="02020603050405020304" pitchFamily="18" charset="0"/>
                <a:cs typeface="Times New Roman" panose="02020603050405020304" pitchFamily="18" charset="0"/>
              </a:rPr>
              <a:t>3. Project Objectives: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Clearly state the specific objectives of the project.</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Explain what the project aims to achieve and how success will be measured.</a:t>
            </a:r>
          </a:p>
          <a:p>
            <a:pPr algn="just"/>
            <a:r>
              <a:rPr lang="en-IN" sz="2000" dirty="0">
                <a:latin typeface="Times New Roman" panose="02020603050405020304" pitchFamily="18" charset="0"/>
                <a:cs typeface="Times New Roman" panose="02020603050405020304" pitchFamily="18" charset="0"/>
              </a:rPr>
              <a:t>4. Project Scope: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Define the boundaries of the project, outlining what is included and excluded.</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Specify the key features, functionalities and modules</a:t>
            </a:r>
          </a:p>
          <a:p>
            <a:pPr algn="just"/>
            <a:r>
              <a:rPr lang="en-IN" sz="2000" dirty="0">
                <a:latin typeface="Times New Roman" panose="02020603050405020304" pitchFamily="18" charset="0"/>
                <a:cs typeface="Times New Roman" panose="02020603050405020304" pitchFamily="18" charset="0"/>
              </a:rPr>
              <a:t>5. Methodology: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Describe the chosen software development methodology (e.g., Agile, Waterfall).</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Explain the tools and technologies used for this approach.</a:t>
            </a:r>
          </a:p>
          <a:p>
            <a:pPr algn="just"/>
            <a:r>
              <a:rPr lang="en-IN" sz="2000" dirty="0">
                <a:latin typeface="Times New Roman" panose="02020603050405020304" pitchFamily="18" charset="0"/>
                <a:cs typeface="Times New Roman" panose="02020603050405020304" pitchFamily="18" charset="0"/>
              </a:rPr>
              <a:t>6. Hardware and Software Requirement</a:t>
            </a:r>
          </a:p>
          <a:p>
            <a:pPr marL="0" lvl="1" algn="just"/>
            <a:r>
              <a:rPr lang="en-IN" sz="2000" dirty="0">
                <a:latin typeface="Times New Roman" panose="02020603050405020304" pitchFamily="18" charset="0"/>
                <a:cs typeface="Times New Roman" panose="02020603050405020304" pitchFamily="18" charset="0"/>
              </a:rPr>
              <a:t>7. Timeline: </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Present a visual representation of the project schedule, including major milestones and deadlines.</a:t>
            </a:r>
          </a:p>
          <a:p>
            <a:pPr marL="742950" lvl="1" indent="-28575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 a Gantt chart or similar diagram to show the project's timeline.</a:t>
            </a:r>
          </a:p>
          <a:p>
            <a:pPr marL="0" lvl="1" algn="just"/>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0DC3EA2-91CC-17BE-487E-1DB1EE65152D}"/>
              </a:ext>
            </a:extLst>
          </p:cNvPr>
          <p:cNvSpPr txBox="1"/>
          <p:nvPr/>
        </p:nvSpPr>
        <p:spPr>
          <a:xfrm>
            <a:off x="688259" y="913155"/>
            <a:ext cx="10205884" cy="1200329"/>
          </a:xfrm>
          <a:prstGeom prst="rect">
            <a:avLst/>
          </a:prstGeom>
          <a:noFill/>
        </p:spPr>
        <p:txBody>
          <a:bodyPr wrap="square">
            <a:spAutoFit/>
          </a:bodyPr>
          <a:lstStyle/>
          <a:p>
            <a:pPr marL="0" lvl="1" algn="just"/>
            <a:r>
              <a:rPr lang="en-IN" dirty="0">
                <a:latin typeface="Times New Roman" panose="02020603050405020304" pitchFamily="18" charset="0"/>
                <a:cs typeface="Times New Roman" panose="02020603050405020304" pitchFamily="18" charset="0"/>
              </a:rPr>
              <a:t>8. </a:t>
            </a:r>
            <a:r>
              <a:rPr lang="en-IN" sz="1800" dirty="0">
                <a:latin typeface="Times New Roman" panose="02020603050405020304" pitchFamily="18" charset="0"/>
                <a:cs typeface="Times New Roman" panose="02020603050405020304" pitchFamily="18" charset="0"/>
              </a:rPr>
              <a:t>Project Outcome: Highlight the final result of the project, such as:</a:t>
            </a:r>
          </a:p>
          <a:p>
            <a:pPr marL="742950" lvl="1"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Research Paper Publication</a:t>
            </a:r>
          </a:p>
          <a:p>
            <a:pPr marL="742950" lvl="1"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Web/Mobile Application Development</a:t>
            </a:r>
          </a:p>
          <a:p>
            <a:pPr marL="742950" lvl="1" indent="-285750" algn="just">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Patent Filing/Grant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5B59CF-1695-7780-17C2-C149E9632E1E}"/>
              </a:ext>
            </a:extLst>
          </p:cNvPr>
          <p:cNvSpPr txBox="1"/>
          <p:nvPr/>
        </p:nvSpPr>
        <p:spPr>
          <a:xfrm>
            <a:off x="3746090" y="344592"/>
            <a:ext cx="6813755" cy="584775"/>
          </a:xfrm>
          <a:prstGeom prst="rect">
            <a:avLst/>
          </a:prstGeom>
          <a:noFill/>
        </p:spPr>
        <p:txBody>
          <a:bodyPr wrap="square">
            <a:spAutoFit/>
          </a:bodyPr>
          <a:lstStyle/>
          <a:p>
            <a:pPr algn="just"/>
            <a:r>
              <a:rPr lang="en-IN" sz="1800"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Project Overview: </a:t>
            </a:r>
          </a:p>
        </p:txBody>
      </p:sp>
      <p:sp>
        <p:nvSpPr>
          <p:cNvPr id="5" name="TextBox 4">
            <a:extLst>
              <a:ext uri="{FF2B5EF4-FFF2-40B4-BE49-F238E27FC236}">
                <a16:creationId xmlns:a16="http://schemas.microsoft.com/office/drawing/2014/main" id="{EC070CD2-06E1-26A8-D83E-0CF6CF322FBC}"/>
              </a:ext>
            </a:extLst>
          </p:cNvPr>
          <p:cNvSpPr txBox="1"/>
          <p:nvPr/>
        </p:nvSpPr>
        <p:spPr>
          <a:xfrm>
            <a:off x="432619" y="1158096"/>
            <a:ext cx="10648336" cy="4801314"/>
          </a:xfrm>
          <a:prstGeom prst="rect">
            <a:avLst/>
          </a:prstGeom>
          <a:noFill/>
        </p:spPr>
        <p:txBody>
          <a:bodyPr wrap="square">
            <a:spAutoFit/>
          </a:bodyPr>
          <a:lstStyle/>
          <a:p>
            <a:r>
              <a:rPr lang="en-US" b="1" dirty="0"/>
              <a:t> Project Overview: Fake News Detection System</a:t>
            </a:r>
          </a:p>
          <a:p>
            <a:endParaRPr lang="en-US" b="1" dirty="0"/>
          </a:p>
          <a:p>
            <a:r>
              <a:rPr lang="en-US" dirty="0"/>
              <a:t>The </a:t>
            </a:r>
            <a:r>
              <a:rPr lang="en-US" b="1" dirty="0"/>
              <a:t>Fake News Detection System</a:t>
            </a:r>
            <a:r>
              <a:rPr lang="en-US" dirty="0"/>
              <a:t> is an AI-powered application developed to identify and classify news articles as </a:t>
            </a:r>
            <a:r>
              <a:rPr lang="en-US" b="1" dirty="0"/>
              <a:t>Real or Fake</a:t>
            </a:r>
            <a:r>
              <a:rPr lang="en-US" dirty="0"/>
              <a:t>.</a:t>
            </a:r>
          </a:p>
          <a:p>
            <a:endParaRPr lang="en-US" dirty="0"/>
          </a:p>
          <a:p>
            <a:r>
              <a:rPr lang="en-US" dirty="0"/>
              <a:t>In today’s digital era, misinformation spreads rapidly through social media platforms such as Facebook, Twitter, and YouTube. This creates serious social, political, and economic consequences by influencing public opinion and spreading false narratives.</a:t>
            </a:r>
          </a:p>
          <a:p>
            <a:endParaRPr lang="en-US" dirty="0"/>
          </a:p>
          <a:p>
            <a:endParaRPr lang="en-US" dirty="0"/>
          </a:p>
          <a:p>
            <a:r>
              <a:rPr lang="en-US" b="1" dirty="0"/>
              <a:t>🔎 Problem it Solves</a:t>
            </a:r>
          </a:p>
          <a:p>
            <a:endParaRPr lang="en-US" b="1" dirty="0"/>
          </a:p>
          <a:p>
            <a:pPr marL="342900" indent="-342900">
              <a:buAutoNum type="arabicPeriod"/>
            </a:pPr>
            <a:r>
              <a:rPr lang="en-US" dirty="0"/>
              <a:t>Rapid spread of fake news online</a:t>
            </a:r>
          </a:p>
          <a:p>
            <a:endParaRPr lang="en-US" dirty="0"/>
          </a:p>
          <a:p>
            <a:r>
              <a:rPr lang="en-US" dirty="0"/>
              <a:t>2. Difficulty in manual fact-checking</a:t>
            </a:r>
          </a:p>
          <a:p>
            <a:endParaRPr lang="en-US" dirty="0"/>
          </a:p>
          <a:p>
            <a:r>
              <a:rPr lang="en-US" dirty="0"/>
              <a:t>3. Lack of automated verification systems</a:t>
            </a:r>
          </a:p>
        </p:txBody>
      </p:sp>
    </p:spTree>
    <p:extLst>
      <p:ext uri="{BB962C8B-B14F-4D97-AF65-F5344CB8AC3E}">
        <p14:creationId xmlns:p14="http://schemas.microsoft.com/office/powerpoint/2010/main" val="3777984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04071A-CA06-1D62-D82E-3F0F3BC4A2CC}"/>
              </a:ext>
            </a:extLst>
          </p:cNvPr>
          <p:cNvSpPr txBox="1"/>
          <p:nvPr/>
        </p:nvSpPr>
        <p:spPr>
          <a:xfrm>
            <a:off x="511277" y="953729"/>
            <a:ext cx="10333704" cy="5139869"/>
          </a:xfrm>
          <a:prstGeom prst="rect">
            <a:avLst/>
          </a:prstGeom>
          <a:noFill/>
        </p:spPr>
        <p:txBody>
          <a:bodyPr wrap="square">
            <a:spAutoFit/>
          </a:bodyPr>
          <a:lstStyle/>
          <a:p>
            <a:pPr marL="285750" indent="-285750">
              <a:buFont typeface="Wingdings" panose="05000000000000000000" pitchFamily="2" charset="2"/>
              <a:buChar char="q"/>
            </a:pPr>
            <a:r>
              <a:rPr lang="en-US" sz="2000" b="1" dirty="0"/>
              <a:t> Purpose of the Project</a:t>
            </a:r>
          </a:p>
          <a:p>
            <a:endParaRPr lang="en-US" b="1" dirty="0"/>
          </a:p>
          <a:p>
            <a:r>
              <a:rPr lang="en-US" dirty="0"/>
              <a:t>1.To build an intelligent system using </a:t>
            </a:r>
            <a:r>
              <a:rPr lang="en-US" b="1" dirty="0"/>
              <a:t>Natural Language Processing (NLP)</a:t>
            </a:r>
            <a:r>
              <a:rPr lang="en-US" dirty="0"/>
              <a:t> and </a:t>
            </a:r>
            <a:r>
              <a:rPr lang="en-US" b="1" dirty="0"/>
              <a:t>Machine Learning (ML).</a:t>
            </a:r>
          </a:p>
          <a:p>
            <a:endParaRPr lang="en-US" dirty="0"/>
          </a:p>
          <a:p>
            <a:r>
              <a:rPr lang="en-US" dirty="0"/>
              <a:t>2.To automatically analyze news content and determine its authenticity.</a:t>
            </a:r>
          </a:p>
          <a:p>
            <a:endParaRPr lang="en-US" dirty="0"/>
          </a:p>
          <a:p>
            <a:r>
              <a:rPr lang="en-US" dirty="0"/>
              <a:t>3. To reduce misinformation and promote reliable information.</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sz="2000" b="1" dirty="0"/>
              <a:t> Significance &amp; Impact</a:t>
            </a:r>
          </a:p>
          <a:p>
            <a:endParaRPr lang="en-US" b="1" dirty="0"/>
          </a:p>
          <a:p>
            <a:pPr marL="342900" indent="-342900">
              <a:buAutoNum type="arabicPeriod"/>
            </a:pPr>
            <a:r>
              <a:rPr lang="en-US" dirty="0"/>
              <a:t>Helps prevent the spread of false information.</a:t>
            </a:r>
          </a:p>
          <a:p>
            <a:endParaRPr lang="en-US" dirty="0"/>
          </a:p>
          <a:p>
            <a:r>
              <a:rPr lang="en-US" dirty="0"/>
              <a:t>2. Supports media credibility and digital trust.</a:t>
            </a:r>
          </a:p>
          <a:p>
            <a:endParaRPr lang="en-US" dirty="0"/>
          </a:p>
          <a:p>
            <a:r>
              <a:rPr lang="en-US" dirty="0"/>
              <a:t>3. Can be integrated into news platforms and social media for real-time detection.</a:t>
            </a:r>
          </a:p>
          <a:p>
            <a:endParaRPr lang="en-US" dirty="0"/>
          </a:p>
          <a:p>
            <a:r>
              <a:rPr lang="en-US" dirty="0"/>
              <a:t>4. Saves time and reduces human effort in fact-checking.</a:t>
            </a:r>
          </a:p>
        </p:txBody>
      </p:sp>
    </p:spTree>
    <p:extLst>
      <p:ext uri="{BB962C8B-B14F-4D97-AF65-F5344CB8AC3E}">
        <p14:creationId xmlns:p14="http://schemas.microsoft.com/office/powerpoint/2010/main" val="2897776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B542D9-5465-1272-9103-9C29C69EF921}"/>
              </a:ext>
            </a:extLst>
          </p:cNvPr>
          <p:cNvSpPr txBox="1"/>
          <p:nvPr/>
        </p:nvSpPr>
        <p:spPr>
          <a:xfrm>
            <a:off x="3372464" y="247953"/>
            <a:ext cx="7066935" cy="584775"/>
          </a:xfrm>
          <a:prstGeom prst="rect">
            <a:avLst/>
          </a:prstGeom>
          <a:noFill/>
        </p:spPr>
        <p:txBody>
          <a:bodyPr wrap="square">
            <a:spAutoFit/>
          </a:bodyPr>
          <a:lstStyle/>
          <a:p>
            <a:r>
              <a:rPr lang="en-IN" sz="3200" b="1" dirty="0"/>
              <a:t>Project Objectives</a:t>
            </a:r>
          </a:p>
        </p:txBody>
      </p:sp>
      <p:sp>
        <p:nvSpPr>
          <p:cNvPr id="91" name="TextBox 90">
            <a:extLst>
              <a:ext uri="{FF2B5EF4-FFF2-40B4-BE49-F238E27FC236}">
                <a16:creationId xmlns:a16="http://schemas.microsoft.com/office/drawing/2014/main" id="{451A2CA4-FB11-BF09-256E-E9298D02F02B}"/>
              </a:ext>
            </a:extLst>
          </p:cNvPr>
          <p:cNvSpPr txBox="1"/>
          <p:nvPr/>
        </p:nvSpPr>
        <p:spPr>
          <a:xfrm>
            <a:off x="481781" y="1169301"/>
            <a:ext cx="10933471" cy="5355312"/>
          </a:xfrm>
          <a:prstGeom prst="rect">
            <a:avLst/>
          </a:prstGeom>
          <a:noFill/>
        </p:spPr>
        <p:txBody>
          <a:bodyPr wrap="square">
            <a:spAutoFit/>
          </a:bodyPr>
          <a:lstStyle/>
          <a:p>
            <a:pPr marL="285750" indent="-285750">
              <a:buFont typeface="Wingdings" panose="05000000000000000000" pitchFamily="2" charset="2"/>
              <a:buChar char="v"/>
            </a:pPr>
            <a:r>
              <a:rPr lang="en-US" b="1" dirty="0"/>
              <a:t>Develop an Automated Detection System</a:t>
            </a:r>
          </a:p>
          <a:p>
            <a:endParaRPr lang="en-US" dirty="0"/>
          </a:p>
          <a:p>
            <a:pPr marL="742950" lvl="1" indent="-285750">
              <a:buFont typeface="+mj-lt"/>
              <a:buAutoNum type="arabicPeriod"/>
            </a:pPr>
            <a:r>
              <a:rPr lang="en-US" dirty="0"/>
              <a:t>Build a Machine Learning model to classify news as </a:t>
            </a:r>
            <a:r>
              <a:rPr lang="en-US" i="1" dirty="0"/>
              <a:t>Real</a:t>
            </a:r>
            <a:r>
              <a:rPr lang="en-US" dirty="0"/>
              <a:t> or </a:t>
            </a:r>
            <a:r>
              <a:rPr lang="en-US" i="1" dirty="0"/>
              <a:t>Fake</a:t>
            </a:r>
            <a:r>
              <a:rPr lang="en-US" dirty="0"/>
              <a:t>.</a:t>
            </a:r>
          </a:p>
          <a:p>
            <a:pPr lvl="1"/>
            <a:endParaRPr lang="en-US" dirty="0"/>
          </a:p>
          <a:p>
            <a:pPr marL="285750" indent="-285750">
              <a:buFont typeface="Wingdings" panose="05000000000000000000" pitchFamily="2" charset="2"/>
              <a:buChar char="v"/>
            </a:pPr>
            <a:r>
              <a:rPr lang="en-US" b="1" dirty="0"/>
              <a:t>Apply NLP Techniques</a:t>
            </a:r>
          </a:p>
          <a:p>
            <a:endParaRPr lang="en-US" b="1" dirty="0"/>
          </a:p>
          <a:p>
            <a:r>
              <a:rPr lang="en-US" b="1" dirty="0"/>
              <a:t>       1. </a:t>
            </a:r>
            <a:r>
              <a:rPr lang="en-US" dirty="0"/>
              <a:t>Perform text preprocessing, tokenization, and feature extraction.</a:t>
            </a:r>
          </a:p>
          <a:p>
            <a:endParaRPr lang="en-US" dirty="0"/>
          </a:p>
          <a:p>
            <a:pPr marL="285750" indent="-285750">
              <a:buFont typeface="Wingdings" panose="05000000000000000000" pitchFamily="2" charset="2"/>
              <a:buChar char="v"/>
            </a:pPr>
            <a:r>
              <a:rPr lang="en-US" b="1" dirty="0"/>
              <a:t>Compare Multiple ML Algorithms</a:t>
            </a:r>
          </a:p>
          <a:p>
            <a:endParaRPr lang="en-US" dirty="0"/>
          </a:p>
          <a:p>
            <a:pPr marL="742950" lvl="1" indent="-285750">
              <a:buFont typeface="+mj-lt"/>
              <a:buAutoNum type="arabicPeriod"/>
            </a:pPr>
            <a:r>
              <a:rPr lang="en-US" dirty="0"/>
              <a:t>Evaluate models like Logistic Regression, Naive Bayes, and SVM.</a:t>
            </a:r>
          </a:p>
          <a:p>
            <a:pPr lvl="1"/>
            <a:endParaRPr lang="en-US" dirty="0"/>
          </a:p>
          <a:p>
            <a:pPr marL="285750" indent="-285750">
              <a:buFont typeface="Wingdings" panose="05000000000000000000" pitchFamily="2" charset="2"/>
              <a:buChar char="v"/>
            </a:pPr>
            <a:r>
              <a:rPr lang="en-US" b="1" dirty="0"/>
              <a:t>Improve Detection Accuracy</a:t>
            </a:r>
          </a:p>
          <a:p>
            <a:endParaRPr lang="en-US" dirty="0"/>
          </a:p>
          <a:p>
            <a:pPr marL="742950" lvl="1" indent="-285750">
              <a:buFont typeface="+mj-lt"/>
              <a:buAutoNum type="arabicPeriod"/>
            </a:pPr>
            <a:r>
              <a:rPr lang="en-US" dirty="0"/>
              <a:t>Optimize the model to achieve high performance and reliability.</a:t>
            </a:r>
          </a:p>
          <a:p>
            <a:pPr lvl="1"/>
            <a:endParaRPr lang="en-US" dirty="0"/>
          </a:p>
          <a:p>
            <a:pPr marL="285750" indent="-285750">
              <a:buFont typeface="Wingdings" panose="05000000000000000000" pitchFamily="2" charset="2"/>
              <a:buChar char="v"/>
            </a:pPr>
            <a:r>
              <a:rPr lang="en-US" b="1" dirty="0"/>
              <a:t>Reduce Misinformation Spread</a:t>
            </a:r>
          </a:p>
          <a:p>
            <a:endParaRPr lang="en-US" dirty="0"/>
          </a:p>
          <a:p>
            <a:pPr marL="742950" lvl="1" indent="-285750">
              <a:buFont typeface="+mj-lt"/>
              <a:buAutoNum type="arabicPeriod"/>
            </a:pPr>
            <a:r>
              <a:rPr lang="en-US" dirty="0"/>
              <a:t>Provide a scalable solution that can assist digital platforms.</a:t>
            </a:r>
          </a:p>
        </p:txBody>
      </p:sp>
    </p:spTree>
    <p:extLst>
      <p:ext uri="{BB962C8B-B14F-4D97-AF65-F5344CB8AC3E}">
        <p14:creationId xmlns:p14="http://schemas.microsoft.com/office/powerpoint/2010/main" val="306276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17CE52-E013-8460-1F93-4151D6532824}"/>
              </a:ext>
            </a:extLst>
          </p:cNvPr>
          <p:cNvSpPr txBox="1"/>
          <p:nvPr/>
        </p:nvSpPr>
        <p:spPr>
          <a:xfrm>
            <a:off x="1120878" y="1213716"/>
            <a:ext cx="8325464" cy="3354765"/>
          </a:xfrm>
          <a:prstGeom prst="rect">
            <a:avLst/>
          </a:prstGeom>
          <a:noFill/>
        </p:spPr>
        <p:txBody>
          <a:bodyPr wrap="square">
            <a:spAutoFit/>
          </a:bodyPr>
          <a:lstStyle/>
          <a:p>
            <a:pPr>
              <a:buNone/>
            </a:pPr>
            <a:r>
              <a:rPr lang="en-US" sz="3200" b="1" dirty="0"/>
              <a:t>How Success Will Be Measured</a:t>
            </a:r>
          </a:p>
          <a:p>
            <a:pPr>
              <a:buNone/>
            </a:pPr>
            <a:endParaRPr lang="en-US" b="1" dirty="0"/>
          </a:p>
          <a:p>
            <a:pPr marL="285750" indent="-285750">
              <a:buFont typeface="Wingdings" panose="05000000000000000000" pitchFamily="2" charset="2"/>
              <a:buChar char="v"/>
            </a:pPr>
            <a:r>
              <a:rPr lang="en-US" dirty="0"/>
              <a:t> </a:t>
            </a:r>
            <a:r>
              <a:rPr lang="en-US" b="1" dirty="0"/>
              <a:t>Accuracy Score</a:t>
            </a:r>
            <a:r>
              <a:rPr lang="en-US" dirty="0"/>
              <a:t> – Percentage of correctly classified news articles</a:t>
            </a:r>
          </a:p>
          <a:p>
            <a:endParaRPr lang="en-US" dirty="0"/>
          </a:p>
          <a:p>
            <a:pPr marL="285750" indent="-285750">
              <a:buFont typeface="Wingdings" panose="05000000000000000000" pitchFamily="2" charset="2"/>
              <a:buChar char="v"/>
            </a:pPr>
            <a:r>
              <a:rPr lang="en-US" dirty="0"/>
              <a:t> </a:t>
            </a:r>
            <a:r>
              <a:rPr lang="en-US" b="1" dirty="0"/>
              <a:t>Precision &amp; Recall</a:t>
            </a:r>
            <a:r>
              <a:rPr lang="en-US" dirty="0"/>
              <a:t> – Ability to correctly detect fake news</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 </a:t>
            </a:r>
            <a:r>
              <a:rPr lang="en-US" b="1" dirty="0"/>
              <a:t>F1-Score</a:t>
            </a:r>
            <a:r>
              <a:rPr lang="en-US" dirty="0"/>
              <a:t> – Balance between precision and recall</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 </a:t>
            </a:r>
            <a:r>
              <a:rPr lang="en-US" b="1" dirty="0"/>
              <a:t>Confusion Matrix Analysis</a:t>
            </a:r>
            <a:r>
              <a:rPr lang="en-US" dirty="0"/>
              <a:t> – Detailed performance evaluation</a:t>
            </a:r>
          </a:p>
          <a:p>
            <a:endParaRPr lang="en-US" dirty="0"/>
          </a:p>
          <a:p>
            <a:pPr marL="285750" indent="-285750">
              <a:buFont typeface="Wingdings" panose="05000000000000000000" pitchFamily="2" charset="2"/>
              <a:buChar char="v"/>
            </a:pPr>
            <a:r>
              <a:rPr lang="en-US" dirty="0"/>
              <a:t> Model performance comparison to select the best algorithm</a:t>
            </a:r>
          </a:p>
        </p:txBody>
      </p:sp>
    </p:spTree>
    <p:extLst>
      <p:ext uri="{BB962C8B-B14F-4D97-AF65-F5344CB8AC3E}">
        <p14:creationId xmlns:p14="http://schemas.microsoft.com/office/powerpoint/2010/main" val="2976205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5E9699-3FCF-FB94-298C-2C56FD68E724}"/>
              </a:ext>
            </a:extLst>
          </p:cNvPr>
          <p:cNvSpPr txBox="1"/>
          <p:nvPr/>
        </p:nvSpPr>
        <p:spPr>
          <a:xfrm>
            <a:off x="452284" y="1238865"/>
            <a:ext cx="8699090" cy="2092881"/>
          </a:xfrm>
          <a:prstGeom prst="rect">
            <a:avLst/>
          </a:prstGeom>
          <a:noFill/>
        </p:spPr>
        <p:txBody>
          <a:bodyPr wrap="square">
            <a:spAutoFit/>
          </a:bodyPr>
          <a:lstStyle/>
          <a:p>
            <a:pPr>
              <a:buNone/>
            </a:pPr>
            <a:r>
              <a:rPr lang="en-US" sz="2000" b="1" dirty="0"/>
              <a:t> Expected Achievement</a:t>
            </a:r>
          </a:p>
          <a:p>
            <a:pPr>
              <a:buNone/>
            </a:pPr>
            <a:endParaRPr lang="en-US" sz="2000" b="1" dirty="0"/>
          </a:p>
          <a:p>
            <a:pPr>
              <a:buFont typeface="Arial" panose="020B0604020202020204" pitchFamily="34" charset="0"/>
              <a:buChar char="•"/>
            </a:pPr>
            <a:r>
              <a:rPr lang="en-US" dirty="0"/>
              <a:t>A trained and tested ML model with high accuracy</a:t>
            </a:r>
          </a:p>
          <a:p>
            <a:endParaRPr lang="en-US" dirty="0"/>
          </a:p>
          <a:p>
            <a:pPr>
              <a:buFont typeface="Arial" panose="020B0604020202020204" pitchFamily="34" charset="0"/>
              <a:buChar char="•"/>
            </a:pPr>
            <a:r>
              <a:rPr lang="en-US" dirty="0"/>
              <a:t>An efficient system capable of analyzing real-time news content</a:t>
            </a:r>
          </a:p>
          <a:p>
            <a:endParaRPr lang="en-US" dirty="0"/>
          </a:p>
          <a:p>
            <a:pPr>
              <a:buFont typeface="Arial" panose="020B0604020202020204" pitchFamily="34" charset="0"/>
              <a:buChar char="•"/>
            </a:pPr>
            <a:r>
              <a:rPr lang="en-US" dirty="0"/>
              <a:t>A practical solution that contributes to trustworthy digital media</a:t>
            </a:r>
          </a:p>
        </p:txBody>
      </p:sp>
    </p:spTree>
    <p:extLst>
      <p:ext uri="{BB962C8B-B14F-4D97-AF65-F5344CB8AC3E}">
        <p14:creationId xmlns:p14="http://schemas.microsoft.com/office/powerpoint/2010/main" val="4249129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AB4EB7-F105-56B0-FB50-A749E03326CD}"/>
              </a:ext>
            </a:extLst>
          </p:cNvPr>
          <p:cNvSpPr txBox="1"/>
          <p:nvPr/>
        </p:nvSpPr>
        <p:spPr>
          <a:xfrm>
            <a:off x="4073013" y="552754"/>
            <a:ext cx="6100916" cy="523220"/>
          </a:xfrm>
          <a:prstGeom prst="rect">
            <a:avLst/>
          </a:prstGeom>
          <a:noFill/>
        </p:spPr>
        <p:txBody>
          <a:bodyPr wrap="square">
            <a:spAutoFit/>
          </a:bodyPr>
          <a:lstStyle/>
          <a:p>
            <a:r>
              <a:rPr lang="en-IN" sz="2800" b="1" dirty="0"/>
              <a:t>Project Scope</a:t>
            </a:r>
          </a:p>
        </p:txBody>
      </p:sp>
      <p:sp>
        <p:nvSpPr>
          <p:cNvPr id="5" name="TextBox 4">
            <a:extLst>
              <a:ext uri="{FF2B5EF4-FFF2-40B4-BE49-F238E27FC236}">
                <a16:creationId xmlns:a16="http://schemas.microsoft.com/office/drawing/2014/main" id="{9356AF8B-D43E-54DA-1EC6-BED4B75D241D}"/>
              </a:ext>
            </a:extLst>
          </p:cNvPr>
          <p:cNvSpPr txBox="1"/>
          <p:nvPr/>
        </p:nvSpPr>
        <p:spPr>
          <a:xfrm>
            <a:off x="589935" y="1307800"/>
            <a:ext cx="10117394" cy="4801314"/>
          </a:xfrm>
          <a:prstGeom prst="rect">
            <a:avLst/>
          </a:prstGeom>
          <a:noFill/>
        </p:spPr>
        <p:txBody>
          <a:bodyPr wrap="square">
            <a:spAutoFit/>
          </a:bodyPr>
          <a:lstStyle/>
          <a:p>
            <a:pPr marL="285750" indent="-285750">
              <a:buFont typeface="Wingdings" panose="05000000000000000000" pitchFamily="2" charset="2"/>
              <a:buChar char="q"/>
            </a:pPr>
            <a:r>
              <a:rPr lang="en-US" b="1" dirty="0"/>
              <a:t> Project Boundaries</a:t>
            </a:r>
          </a:p>
          <a:p>
            <a:endParaRPr lang="en-US" b="1" dirty="0"/>
          </a:p>
          <a:p>
            <a:pPr>
              <a:buNone/>
            </a:pPr>
            <a:r>
              <a:rPr lang="en-US" b="1" dirty="0"/>
              <a:t>✅ Included in the Project</a:t>
            </a:r>
          </a:p>
          <a:p>
            <a:pPr>
              <a:buNone/>
            </a:pPr>
            <a:endParaRPr lang="en-US" b="1" dirty="0"/>
          </a:p>
          <a:p>
            <a:pPr marL="342900" indent="-342900">
              <a:buFont typeface="+mj-lt"/>
              <a:buAutoNum type="arabicParenR"/>
            </a:pPr>
            <a:r>
              <a:rPr lang="en-US" dirty="0"/>
              <a:t>Text-based news article analysis</a:t>
            </a:r>
          </a:p>
          <a:p>
            <a:pPr marL="342900" indent="-342900">
              <a:buFont typeface="+mj-lt"/>
              <a:buAutoNum type="arabicParenR"/>
            </a:pPr>
            <a:r>
              <a:rPr lang="en-US" dirty="0"/>
              <a:t>Data preprocessing using NLP techniques</a:t>
            </a:r>
          </a:p>
          <a:p>
            <a:pPr marL="342900" indent="-342900">
              <a:buFont typeface="+mj-lt"/>
              <a:buAutoNum type="arabicParenR"/>
            </a:pPr>
            <a:r>
              <a:rPr lang="en-US" dirty="0"/>
              <a:t>Feature extraction using TF-IDF</a:t>
            </a:r>
          </a:p>
          <a:p>
            <a:pPr marL="342900" indent="-342900">
              <a:buFont typeface="+mj-lt"/>
              <a:buAutoNum type="arabicParenR"/>
            </a:pPr>
            <a:r>
              <a:rPr lang="en-US" dirty="0"/>
              <a:t>Training and testing of Machine Learning models</a:t>
            </a:r>
          </a:p>
          <a:p>
            <a:pPr marL="342900" indent="-342900">
              <a:buFont typeface="+mj-lt"/>
              <a:buAutoNum type="arabicParenR"/>
            </a:pPr>
            <a:r>
              <a:rPr lang="en-US" dirty="0"/>
              <a:t>Classification output as </a:t>
            </a:r>
            <a:r>
              <a:rPr lang="en-US" b="1" dirty="0"/>
              <a:t>Real</a:t>
            </a:r>
            <a:r>
              <a:rPr lang="en-US" dirty="0"/>
              <a:t> or </a:t>
            </a:r>
            <a:r>
              <a:rPr lang="en-US" b="1" dirty="0"/>
              <a:t>Fake</a:t>
            </a:r>
            <a:endParaRPr lang="en-US" dirty="0"/>
          </a:p>
          <a:p>
            <a:pPr marL="342900" indent="-342900">
              <a:buFont typeface="+mj-lt"/>
              <a:buAutoNum type="arabicParenR"/>
            </a:pPr>
            <a:r>
              <a:rPr lang="en-US" dirty="0"/>
              <a:t>Performance evaluation using accuracy and other metrics</a:t>
            </a:r>
          </a:p>
          <a:p>
            <a:endParaRPr lang="en-US" dirty="0"/>
          </a:p>
          <a:p>
            <a:pPr>
              <a:buNone/>
            </a:pPr>
            <a:r>
              <a:rPr lang="en-US" b="1" dirty="0"/>
              <a:t>❌ Excluded from the Project</a:t>
            </a:r>
          </a:p>
          <a:p>
            <a:pPr>
              <a:buNone/>
            </a:pPr>
            <a:endParaRPr lang="en-US" b="1" dirty="0"/>
          </a:p>
          <a:p>
            <a:pPr marL="342900" indent="-342900">
              <a:buFont typeface="+mj-lt"/>
              <a:buAutoNum type="arabicParenR"/>
            </a:pPr>
            <a:r>
              <a:rPr lang="en-US" dirty="0"/>
              <a:t>Image or video-based fake news detection</a:t>
            </a:r>
          </a:p>
          <a:p>
            <a:pPr marL="342900" indent="-342900">
              <a:buFont typeface="+mj-lt"/>
              <a:buAutoNum type="arabicParenR"/>
            </a:pPr>
            <a:r>
              <a:rPr lang="en-US" dirty="0"/>
              <a:t>Live social media data scraping</a:t>
            </a:r>
          </a:p>
          <a:p>
            <a:pPr marL="342900" indent="-342900">
              <a:buFont typeface="+mj-lt"/>
              <a:buAutoNum type="arabicParenR"/>
            </a:pPr>
            <a:r>
              <a:rPr lang="en-US" dirty="0"/>
              <a:t>Multilingual news detection (only English dataset considered)</a:t>
            </a:r>
          </a:p>
          <a:p>
            <a:pPr marL="342900" indent="-342900">
              <a:buFont typeface="+mj-lt"/>
              <a:buAutoNum type="arabicParenR"/>
            </a:pPr>
            <a:r>
              <a:rPr lang="en-US" dirty="0"/>
              <a:t>Legal verification or human fact-checking integration</a:t>
            </a:r>
          </a:p>
        </p:txBody>
      </p:sp>
    </p:spTree>
    <p:extLst>
      <p:ext uri="{BB962C8B-B14F-4D97-AF65-F5344CB8AC3E}">
        <p14:creationId xmlns:p14="http://schemas.microsoft.com/office/powerpoint/2010/main" val="2458727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905F29-965A-485B-F8D1-52B6639A8403}"/>
              </a:ext>
            </a:extLst>
          </p:cNvPr>
          <p:cNvSpPr txBox="1"/>
          <p:nvPr/>
        </p:nvSpPr>
        <p:spPr>
          <a:xfrm>
            <a:off x="776748" y="599878"/>
            <a:ext cx="8413955" cy="5355312"/>
          </a:xfrm>
          <a:prstGeom prst="rect">
            <a:avLst/>
          </a:prstGeom>
          <a:noFill/>
        </p:spPr>
        <p:txBody>
          <a:bodyPr wrap="square">
            <a:spAutoFit/>
          </a:bodyPr>
          <a:lstStyle/>
          <a:p>
            <a:pPr marL="285750" indent="-285750">
              <a:buFont typeface="Wingdings" panose="05000000000000000000" pitchFamily="2" charset="2"/>
              <a:buChar char="q"/>
            </a:pPr>
            <a:r>
              <a:rPr lang="en-IN" b="1" dirty="0"/>
              <a:t>Key Features &amp; Functionalities</a:t>
            </a:r>
          </a:p>
          <a:p>
            <a:endParaRPr lang="en-IN" b="1" dirty="0"/>
          </a:p>
          <a:p>
            <a:pPr>
              <a:buNone/>
            </a:pPr>
            <a:r>
              <a:rPr lang="en-IN" b="1" dirty="0"/>
              <a:t>1. Data Processing Module</a:t>
            </a:r>
          </a:p>
          <a:p>
            <a:r>
              <a:rPr lang="en-IN" dirty="0"/>
              <a:t>Cleaning and preprocessing of text</a:t>
            </a:r>
          </a:p>
          <a:p>
            <a:r>
              <a:rPr lang="en-IN" dirty="0"/>
              <a:t>Removing stop words, punctuation, and noise</a:t>
            </a:r>
          </a:p>
          <a:p>
            <a:endParaRPr lang="en-IN" dirty="0"/>
          </a:p>
          <a:p>
            <a:pPr>
              <a:buNone/>
            </a:pPr>
            <a:r>
              <a:rPr lang="en-IN" b="1" dirty="0"/>
              <a:t>2. Feature Extraction Module</a:t>
            </a:r>
          </a:p>
          <a:p>
            <a:r>
              <a:rPr lang="en-IN" dirty="0"/>
              <a:t>Converting text into numerical format using TF-IDF</a:t>
            </a:r>
          </a:p>
          <a:p>
            <a:endParaRPr lang="en-IN" dirty="0"/>
          </a:p>
          <a:p>
            <a:pPr>
              <a:buNone/>
            </a:pPr>
            <a:r>
              <a:rPr lang="en-IN" b="1" dirty="0"/>
              <a:t>3. Model Training Module</a:t>
            </a:r>
          </a:p>
          <a:p>
            <a:r>
              <a:rPr lang="en-IN" dirty="0"/>
              <a:t>Training ML algorithms (Logistic Regression, Naive Bayes, SVM)</a:t>
            </a:r>
          </a:p>
          <a:p>
            <a:endParaRPr lang="en-IN" dirty="0"/>
          </a:p>
          <a:p>
            <a:pPr>
              <a:buNone/>
            </a:pPr>
            <a:r>
              <a:rPr lang="en-IN" b="1" dirty="0"/>
              <a:t>4. Prediction Module</a:t>
            </a:r>
          </a:p>
          <a:p>
            <a:r>
              <a:rPr lang="en-IN" dirty="0"/>
              <a:t>Accepts new news input</a:t>
            </a:r>
          </a:p>
          <a:p>
            <a:r>
              <a:rPr lang="en-IN" dirty="0"/>
              <a:t>Classifies it as </a:t>
            </a:r>
            <a:r>
              <a:rPr lang="en-IN" b="1" dirty="0"/>
              <a:t>Real or Fake</a:t>
            </a:r>
          </a:p>
          <a:p>
            <a:endParaRPr lang="en-IN" dirty="0"/>
          </a:p>
          <a:p>
            <a:pPr>
              <a:buNone/>
            </a:pPr>
            <a:r>
              <a:rPr lang="en-IN" b="1" dirty="0"/>
              <a:t>5. Evaluation Module</a:t>
            </a:r>
          </a:p>
          <a:p>
            <a:r>
              <a:rPr lang="en-IN" dirty="0"/>
              <a:t>Calculates Accuracy, Precision, Recall, and F1-Score</a:t>
            </a:r>
          </a:p>
          <a:p>
            <a:r>
              <a:rPr lang="en-IN" dirty="0"/>
              <a:t>Displays Confusion Matrix</a:t>
            </a:r>
          </a:p>
        </p:txBody>
      </p:sp>
    </p:spTree>
    <p:extLst>
      <p:ext uri="{BB962C8B-B14F-4D97-AF65-F5344CB8AC3E}">
        <p14:creationId xmlns:p14="http://schemas.microsoft.com/office/powerpoint/2010/main" val="3873888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B32605-0C74-203D-0D99-5FBEF15AEAD7}"/>
              </a:ext>
            </a:extLst>
          </p:cNvPr>
          <p:cNvSpPr txBox="1"/>
          <p:nvPr/>
        </p:nvSpPr>
        <p:spPr>
          <a:xfrm>
            <a:off x="1064341" y="1022844"/>
            <a:ext cx="6100916" cy="1754326"/>
          </a:xfrm>
          <a:prstGeom prst="rect">
            <a:avLst/>
          </a:prstGeom>
          <a:noFill/>
        </p:spPr>
        <p:txBody>
          <a:bodyPr wrap="square">
            <a:spAutoFit/>
          </a:bodyPr>
          <a:lstStyle/>
          <a:p>
            <a:pPr marL="285750" indent="-285750">
              <a:buFont typeface="Wingdings" panose="05000000000000000000" pitchFamily="2" charset="2"/>
              <a:buChar char="q"/>
            </a:pPr>
            <a:r>
              <a:rPr lang="en-US" b="1" dirty="0"/>
              <a:t>Software Development Methodology</a:t>
            </a:r>
          </a:p>
          <a:p>
            <a:pPr marL="285750" indent="-285750">
              <a:buFont typeface="Wingdings" panose="05000000000000000000" pitchFamily="2" charset="2"/>
              <a:buChar char="q"/>
            </a:pPr>
            <a:endParaRPr lang="en-US" b="1" dirty="0"/>
          </a:p>
          <a:p>
            <a:pPr>
              <a:buFont typeface="Arial" panose="020B0604020202020204" pitchFamily="34" charset="0"/>
              <a:buChar char="•"/>
            </a:pPr>
            <a:r>
              <a:rPr lang="en-US" dirty="0"/>
              <a:t>Agile Development Methodology used</a:t>
            </a:r>
          </a:p>
          <a:p>
            <a:pPr>
              <a:buFont typeface="Arial" panose="020B0604020202020204" pitchFamily="34" charset="0"/>
              <a:buChar char="•"/>
            </a:pPr>
            <a:r>
              <a:rPr lang="en-US" dirty="0"/>
              <a:t>Iterative and flexible development approach</a:t>
            </a:r>
          </a:p>
          <a:p>
            <a:pPr>
              <a:buFont typeface="Arial" panose="020B0604020202020204" pitchFamily="34" charset="0"/>
              <a:buChar char="•"/>
            </a:pPr>
            <a:r>
              <a:rPr lang="en-US" dirty="0"/>
              <a:t>Continuous testing and improvement</a:t>
            </a:r>
          </a:p>
          <a:p>
            <a:pPr>
              <a:buFont typeface="Arial" panose="020B0604020202020204" pitchFamily="34" charset="0"/>
              <a:buChar char="•"/>
            </a:pPr>
            <a:r>
              <a:rPr lang="en-US" dirty="0"/>
              <a:t>Suitable for Machine Learning projects</a:t>
            </a:r>
          </a:p>
        </p:txBody>
      </p:sp>
      <p:sp>
        <p:nvSpPr>
          <p:cNvPr id="4" name="TextBox 3">
            <a:extLst>
              <a:ext uri="{FF2B5EF4-FFF2-40B4-BE49-F238E27FC236}">
                <a16:creationId xmlns:a16="http://schemas.microsoft.com/office/drawing/2014/main" id="{E881CC79-7851-4E1A-74A0-4570D7187785}"/>
              </a:ext>
            </a:extLst>
          </p:cNvPr>
          <p:cNvSpPr txBox="1"/>
          <p:nvPr/>
        </p:nvSpPr>
        <p:spPr>
          <a:xfrm>
            <a:off x="4114799" y="304800"/>
            <a:ext cx="2556386" cy="523220"/>
          </a:xfrm>
          <a:prstGeom prst="rect">
            <a:avLst/>
          </a:prstGeom>
          <a:noFill/>
        </p:spPr>
        <p:txBody>
          <a:bodyPr wrap="square" rtlCol="0">
            <a:spAutoFit/>
          </a:bodyPr>
          <a:lstStyle/>
          <a:p>
            <a:r>
              <a:rPr lang="en-US" sz="2800" b="1" dirty="0"/>
              <a:t>Methodology</a:t>
            </a:r>
          </a:p>
        </p:txBody>
      </p:sp>
      <p:sp>
        <p:nvSpPr>
          <p:cNvPr id="6" name="TextBox 5">
            <a:extLst>
              <a:ext uri="{FF2B5EF4-FFF2-40B4-BE49-F238E27FC236}">
                <a16:creationId xmlns:a16="http://schemas.microsoft.com/office/drawing/2014/main" id="{61F848F9-9A2B-463F-401C-0F0A82523C6E}"/>
              </a:ext>
            </a:extLst>
          </p:cNvPr>
          <p:cNvSpPr txBox="1"/>
          <p:nvPr/>
        </p:nvSpPr>
        <p:spPr>
          <a:xfrm>
            <a:off x="1064341" y="2971994"/>
            <a:ext cx="6100916" cy="3693319"/>
          </a:xfrm>
          <a:prstGeom prst="rect">
            <a:avLst/>
          </a:prstGeom>
          <a:noFill/>
        </p:spPr>
        <p:txBody>
          <a:bodyPr wrap="square">
            <a:spAutoFit/>
          </a:bodyPr>
          <a:lstStyle/>
          <a:p>
            <a:pPr marL="285750" indent="-285750">
              <a:buFont typeface="Wingdings" panose="05000000000000000000" pitchFamily="2" charset="2"/>
              <a:buChar char="q"/>
            </a:pPr>
            <a:r>
              <a:rPr lang="en-IN" b="1" dirty="0"/>
              <a:t>Tools &amp; Technologies</a:t>
            </a:r>
          </a:p>
          <a:p>
            <a:pPr>
              <a:buNone/>
            </a:pPr>
            <a:endParaRPr lang="en-IN" b="1" dirty="0"/>
          </a:p>
          <a:p>
            <a:pPr>
              <a:buNone/>
            </a:pPr>
            <a:r>
              <a:rPr lang="en-IN" b="1" dirty="0"/>
              <a:t>Programming</a:t>
            </a:r>
          </a:p>
          <a:p>
            <a:pPr>
              <a:buFont typeface="Arial" panose="020B0604020202020204" pitchFamily="34" charset="0"/>
              <a:buChar char="•"/>
            </a:pPr>
            <a:r>
              <a:rPr lang="en-IN" dirty="0"/>
              <a:t>Python</a:t>
            </a:r>
          </a:p>
          <a:p>
            <a:pPr>
              <a:buFont typeface="Arial" panose="020B0604020202020204" pitchFamily="34" charset="0"/>
              <a:buChar char="•"/>
            </a:pPr>
            <a:r>
              <a:rPr lang="en-IN" dirty="0"/>
              <a:t>React, CSS, JavaScript</a:t>
            </a:r>
          </a:p>
          <a:p>
            <a:pPr>
              <a:buNone/>
            </a:pPr>
            <a:r>
              <a:rPr lang="en-IN" b="1" dirty="0"/>
              <a:t>Libraries</a:t>
            </a:r>
          </a:p>
          <a:p>
            <a:pPr>
              <a:buFont typeface="Arial" panose="020B0604020202020204" pitchFamily="34" charset="0"/>
              <a:buChar char="•"/>
            </a:pPr>
            <a:r>
              <a:rPr lang="en-IN" dirty="0"/>
              <a:t>Scikit-learn</a:t>
            </a:r>
          </a:p>
          <a:p>
            <a:pPr>
              <a:buFont typeface="Arial" panose="020B0604020202020204" pitchFamily="34" charset="0"/>
              <a:buChar char="•"/>
            </a:pPr>
            <a:r>
              <a:rPr lang="en-IN" dirty="0"/>
              <a:t>Pandas</a:t>
            </a:r>
          </a:p>
          <a:p>
            <a:pPr>
              <a:buFont typeface="Arial" panose="020B0604020202020204" pitchFamily="34" charset="0"/>
              <a:buChar char="•"/>
            </a:pPr>
            <a:r>
              <a:rPr lang="en-IN" dirty="0"/>
              <a:t>NumPy</a:t>
            </a:r>
          </a:p>
          <a:p>
            <a:pPr>
              <a:buFont typeface="Arial" panose="020B0604020202020204" pitchFamily="34" charset="0"/>
              <a:buChar char="•"/>
            </a:pPr>
            <a:r>
              <a:rPr lang="en-IN" dirty="0"/>
              <a:t>NLTK</a:t>
            </a:r>
          </a:p>
          <a:p>
            <a:pPr>
              <a:buNone/>
            </a:pPr>
            <a:r>
              <a:rPr lang="en-IN" b="1" dirty="0"/>
              <a:t>Backend</a:t>
            </a:r>
          </a:p>
          <a:p>
            <a:pPr>
              <a:buFont typeface="Arial" panose="020B0604020202020204" pitchFamily="34" charset="0"/>
              <a:buChar char="•"/>
            </a:pPr>
            <a:r>
              <a:rPr lang="en-IN" dirty="0"/>
              <a:t>Node.js</a:t>
            </a:r>
          </a:p>
          <a:p>
            <a:pPr>
              <a:buFont typeface="Arial" panose="020B0604020202020204" pitchFamily="34" charset="0"/>
              <a:buChar char="•"/>
            </a:pPr>
            <a:r>
              <a:rPr lang="en-IN" dirty="0"/>
              <a:t>REST API</a:t>
            </a:r>
          </a:p>
        </p:txBody>
      </p:sp>
    </p:spTree>
    <p:extLst>
      <p:ext uri="{BB962C8B-B14F-4D97-AF65-F5344CB8AC3E}">
        <p14:creationId xmlns:p14="http://schemas.microsoft.com/office/powerpoint/2010/main" val="748576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99811C-E1DC-3AC2-FFBF-4B691BC03FC9}"/>
              </a:ext>
            </a:extLst>
          </p:cNvPr>
          <p:cNvSpPr txBox="1"/>
          <p:nvPr/>
        </p:nvSpPr>
        <p:spPr>
          <a:xfrm>
            <a:off x="1015181" y="1089288"/>
            <a:ext cx="6100916" cy="2031325"/>
          </a:xfrm>
          <a:prstGeom prst="rect">
            <a:avLst/>
          </a:prstGeom>
          <a:noFill/>
        </p:spPr>
        <p:txBody>
          <a:bodyPr wrap="square">
            <a:spAutoFit/>
          </a:bodyPr>
          <a:lstStyle/>
          <a:p>
            <a:pPr marL="285750" indent="-285750">
              <a:buFont typeface="Wingdings" panose="05000000000000000000" pitchFamily="2" charset="2"/>
              <a:buChar char="q"/>
            </a:pPr>
            <a:r>
              <a:rPr lang="en-IN" b="1" dirty="0"/>
              <a:t>Hardware and Software Requirements</a:t>
            </a:r>
          </a:p>
          <a:p>
            <a:pPr marL="285750" indent="-285750">
              <a:buFont typeface="Wingdings" panose="05000000000000000000" pitchFamily="2" charset="2"/>
              <a:buChar char="q"/>
            </a:pPr>
            <a:endParaRPr lang="en-IN" b="1" dirty="0"/>
          </a:p>
          <a:p>
            <a:pPr>
              <a:buNone/>
            </a:pPr>
            <a:r>
              <a:rPr lang="en-IN" b="1" dirty="0"/>
              <a:t>Hardware Requirements</a:t>
            </a:r>
          </a:p>
          <a:p>
            <a:pPr>
              <a:buFont typeface="Arial" panose="020B0604020202020204" pitchFamily="34" charset="0"/>
              <a:buChar char="•"/>
            </a:pPr>
            <a:r>
              <a:rPr lang="en-IN" b="1" dirty="0"/>
              <a:t>Processor:</a:t>
            </a:r>
            <a:r>
              <a:rPr lang="en-IN" dirty="0"/>
              <a:t> Intel Core i3 or higher</a:t>
            </a:r>
          </a:p>
          <a:p>
            <a:pPr>
              <a:buFont typeface="Arial" panose="020B0604020202020204" pitchFamily="34" charset="0"/>
              <a:buChar char="•"/>
            </a:pPr>
            <a:r>
              <a:rPr lang="en-IN" b="1" dirty="0"/>
              <a:t>RAM:</a:t>
            </a:r>
            <a:r>
              <a:rPr lang="en-IN" dirty="0"/>
              <a:t> Minimum 4 GB (8 GB recommended)</a:t>
            </a:r>
          </a:p>
          <a:p>
            <a:pPr>
              <a:buFont typeface="Arial" panose="020B0604020202020204" pitchFamily="34" charset="0"/>
              <a:buChar char="•"/>
            </a:pPr>
            <a:r>
              <a:rPr lang="en-IN" b="1" dirty="0"/>
              <a:t>Storage:</a:t>
            </a:r>
            <a:r>
              <a:rPr lang="en-IN" dirty="0"/>
              <a:t> 20 GB free disk space</a:t>
            </a:r>
          </a:p>
          <a:p>
            <a:pPr>
              <a:buFont typeface="Arial" panose="020B0604020202020204" pitchFamily="34" charset="0"/>
              <a:buChar char="•"/>
            </a:pPr>
            <a:r>
              <a:rPr lang="en-IN" b="1" dirty="0"/>
              <a:t>System Type:</a:t>
            </a:r>
            <a:r>
              <a:rPr lang="en-IN" dirty="0"/>
              <a:t> 64-bit Computer</a:t>
            </a:r>
          </a:p>
        </p:txBody>
      </p:sp>
      <p:sp>
        <p:nvSpPr>
          <p:cNvPr id="6" name="TextBox 5">
            <a:extLst>
              <a:ext uri="{FF2B5EF4-FFF2-40B4-BE49-F238E27FC236}">
                <a16:creationId xmlns:a16="http://schemas.microsoft.com/office/drawing/2014/main" id="{0614D95F-2735-184D-428E-CBA712BBB3B3}"/>
              </a:ext>
            </a:extLst>
          </p:cNvPr>
          <p:cNvSpPr txBox="1"/>
          <p:nvPr/>
        </p:nvSpPr>
        <p:spPr>
          <a:xfrm>
            <a:off x="2989006" y="346276"/>
            <a:ext cx="7030065" cy="52322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Hardware and Software Requirement</a:t>
            </a:r>
          </a:p>
        </p:txBody>
      </p:sp>
      <p:sp>
        <p:nvSpPr>
          <p:cNvPr id="8" name="TextBox 7">
            <a:extLst>
              <a:ext uri="{FF2B5EF4-FFF2-40B4-BE49-F238E27FC236}">
                <a16:creationId xmlns:a16="http://schemas.microsoft.com/office/drawing/2014/main" id="{2651ACF6-B815-C812-F421-F64F9114CC73}"/>
              </a:ext>
            </a:extLst>
          </p:cNvPr>
          <p:cNvSpPr txBox="1"/>
          <p:nvPr/>
        </p:nvSpPr>
        <p:spPr>
          <a:xfrm>
            <a:off x="1015181" y="3429000"/>
            <a:ext cx="6100916" cy="2862322"/>
          </a:xfrm>
          <a:prstGeom prst="rect">
            <a:avLst/>
          </a:prstGeom>
          <a:noFill/>
        </p:spPr>
        <p:txBody>
          <a:bodyPr wrap="square">
            <a:spAutoFit/>
          </a:bodyPr>
          <a:lstStyle/>
          <a:p>
            <a:pPr marL="285750" indent="-285750">
              <a:buFont typeface="Wingdings" panose="05000000000000000000" pitchFamily="2" charset="2"/>
              <a:buChar char="q"/>
            </a:pPr>
            <a:r>
              <a:rPr lang="en-IN" b="1" dirty="0"/>
              <a:t>Software Requirements</a:t>
            </a:r>
          </a:p>
          <a:p>
            <a:pPr marL="285750" indent="-285750">
              <a:buFont typeface="Wingdings" panose="05000000000000000000" pitchFamily="2" charset="2"/>
              <a:buChar char="q"/>
            </a:pPr>
            <a:endParaRPr lang="en-IN" b="1" dirty="0"/>
          </a:p>
          <a:p>
            <a:pPr>
              <a:buNone/>
            </a:pPr>
            <a:r>
              <a:rPr lang="en-IN" b="1" dirty="0"/>
              <a:t>Operating System</a:t>
            </a:r>
          </a:p>
          <a:p>
            <a:pPr>
              <a:buFont typeface="Arial" panose="020B0604020202020204" pitchFamily="34" charset="0"/>
              <a:buChar char="•"/>
            </a:pPr>
            <a:r>
              <a:rPr lang="en-IN" dirty="0"/>
              <a:t>Windows 10 / Windows 11 / Linux / macOS</a:t>
            </a:r>
          </a:p>
          <a:p>
            <a:pPr>
              <a:buNone/>
            </a:pPr>
            <a:r>
              <a:rPr lang="en-IN" b="1" dirty="0"/>
              <a:t>Programming Language</a:t>
            </a:r>
          </a:p>
          <a:p>
            <a:pPr>
              <a:buFont typeface="Arial" panose="020B0604020202020204" pitchFamily="34" charset="0"/>
              <a:buChar char="•"/>
            </a:pPr>
            <a:r>
              <a:rPr lang="en-IN" dirty="0"/>
              <a:t>Python</a:t>
            </a:r>
          </a:p>
          <a:p>
            <a:pPr>
              <a:buNone/>
            </a:pPr>
            <a:r>
              <a:rPr lang="en-IN" b="1" dirty="0"/>
              <a:t>Development Tools</a:t>
            </a:r>
          </a:p>
          <a:p>
            <a:pPr>
              <a:buFont typeface="Arial" panose="020B0604020202020204" pitchFamily="34" charset="0"/>
              <a:buChar char="•"/>
            </a:pPr>
            <a:r>
              <a:rPr lang="en-IN" dirty="0"/>
              <a:t>Visual Studio Code</a:t>
            </a:r>
          </a:p>
          <a:p>
            <a:pPr>
              <a:buFont typeface="Arial" panose="020B0604020202020204" pitchFamily="34" charset="0"/>
              <a:buChar char="•"/>
            </a:pPr>
            <a:r>
              <a:rPr lang="en-IN" dirty="0"/>
              <a:t>Git &amp; GitHub</a:t>
            </a:r>
          </a:p>
          <a:p>
            <a:pPr>
              <a:buNone/>
            </a:pPr>
            <a:endParaRPr lang="en-IN" dirty="0"/>
          </a:p>
        </p:txBody>
      </p:sp>
    </p:spTree>
    <p:extLst>
      <p:ext uri="{BB962C8B-B14F-4D97-AF65-F5344CB8AC3E}">
        <p14:creationId xmlns:p14="http://schemas.microsoft.com/office/powerpoint/2010/main" val="1440947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2AB63F-8E12-ABA2-5560-47F885EC898A}"/>
              </a:ext>
            </a:extLst>
          </p:cNvPr>
          <p:cNvSpPr txBox="1"/>
          <p:nvPr/>
        </p:nvSpPr>
        <p:spPr>
          <a:xfrm>
            <a:off x="1172498" y="733827"/>
            <a:ext cx="6100916" cy="2862322"/>
          </a:xfrm>
          <a:prstGeom prst="rect">
            <a:avLst/>
          </a:prstGeom>
          <a:noFill/>
        </p:spPr>
        <p:txBody>
          <a:bodyPr wrap="square">
            <a:spAutoFit/>
          </a:bodyPr>
          <a:lstStyle/>
          <a:p>
            <a:pPr>
              <a:buNone/>
            </a:pPr>
            <a:r>
              <a:rPr lang="en-IN" b="1" dirty="0"/>
              <a:t>Libraries &amp; Frameworks</a:t>
            </a:r>
          </a:p>
          <a:p>
            <a:pPr>
              <a:buFont typeface="Arial" panose="020B0604020202020204" pitchFamily="34" charset="0"/>
              <a:buChar char="•"/>
            </a:pPr>
            <a:r>
              <a:rPr lang="en-IN" dirty="0"/>
              <a:t>Pandas</a:t>
            </a:r>
          </a:p>
          <a:p>
            <a:pPr>
              <a:buFont typeface="Arial" panose="020B0604020202020204" pitchFamily="34" charset="0"/>
              <a:buChar char="•"/>
            </a:pPr>
            <a:r>
              <a:rPr lang="en-IN" dirty="0"/>
              <a:t>NumPy</a:t>
            </a:r>
          </a:p>
          <a:p>
            <a:pPr>
              <a:buFont typeface="Arial" panose="020B0604020202020204" pitchFamily="34" charset="0"/>
              <a:buChar char="•"/>
            </a:pPr>
            <a:r>
              <a:rPr lang="en-IN" dirty="0"/>
              <a:t>Scikit-learn</a:t>
            </a:r>
          </a:p>
          <a:p>
            <a:pPr>
              <a:buFont typeface="Arial" panose="020B0604020202020204" pitchFamily="34" charset="0"/>
              <a:buChar char="•"/>
            </a:pPr>
            <a:r>
              <a:rPr lang="en-IN" dirty="0"/>
              <a:t>NLTK</a:t>
            </a:r>
          </a:p>
          <a:p>
            <a:pPr>
              <a:buFont typeface="Arial" panose="020B0604020202020204" pitchFamily="34" charset="0"/>
              <a:buChar char="•"/>
            </a:pPr>
            <a:r>
              <a:rPr lang="en-IN" dirty="0"/>
              <a:t>Node </a:t>
            </a:r>
            <a:r>
              <a:rPr lang="en-IN" dirty="0" err="1"/>
              <a:t>Js</a:t>
            </a:r>
            <a:endParaRPr lang="en-IN" dirty="0"/>
          </a:p>
          <a:p>
            <a:pPr>
              <a:buNone/>
            </a:pPr>
            <a:r>
              <a:rPr lang="en-IN" b="1" dirty="0"/>
              <a:t>Frontend Technologies</a:t>
            </a:r>
          </a:p>
          <a:p>
            <a:pPr>
              <a:buFont typeface="Arial" panose="020B0604020202020204" pitchFamily="34" charset="0"/>
              <a:buChar char="•"/>
            </a:pPr>
            <a:r>
              <a:rPr lang="en-IN" dirty="0"/>
              <a:t>React</a:t>
            </a:r>
          </a:p>
          <a:p>
            <a:pPr>
              <a:buFont typeface="Arial" panose="020B0604020202020204" pitchFamily="34" charset="0"/>
              <a:buChar char="•"/>
            </a:pPr>
            <a:r>
              <a:rPr lang="en-IN" dirty="0"/>
              <a:t>CSS</a:t>
            </a:r>
          </a:p>
          <a:p>
            <a:pPr>
              <a:buFont typeface="Arial" panose="020B0604020202020204" pitchFamily="34" charset="0"/>
              <a:buChar char="•"/>
            </a:pPr>
            <a:r>
              <a:rPr lang="en-IN" dirty="0"/>
              <a:t>JavaScript</a:t>
            </a:r>
          </a:p>
        </p:txBody>
      </p:sp>
    </p:spTree>
    <p:extLst>
      <p:ext uri="{BB962C8B-B14F-4D97-AF65-F5344CB8AC3E}">
        <p14:creationId xmlns:p14="http://schemas.microsoft.com/office/powerpoint/2010/main" val="570856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47699" y="1630362"/>
            <a:ext cx="5357713" cy="952500"/>
          </a:xfrm>
          <a:prstGeom prst="rect">
            <a:avLst/>
          </a:prstGeom>
          <a:solidFill>
            <a:schemeClr val="bg1"/>
          </a:solidFill>
          <a:ln>
            <a:solidFill>
              <a:schemeClr val="bg1"/>
            </a:solidFill>
          </a:ln>
        </p:spPr>
      </p:pic>
      <p:sp>
        <p:nvSpPr>
          <p:cNvPr id="4" name="Text 1"/>
          <p:cNvSpPr/>
          <p:nvPr/>
        </p:nvSpPr>
        <p:spPr>
          <a:xfrm>
            <a:off x="887115" y="2372768"/>
            <a:ext cx="3534271" cy="289223"/>
          </a:xfrm>
          <a:prstGeom prst="rect">
            <a:avLst/>
          </a:prstGeom>
          <a:noFill/>
          <a:ln/>
        </p:spPr>
        <p:txBody>
          <a:bodyPr wrap="none" lIns="0" tIns="0" rIns="0" bIns="0" rtlCol="0" anchor="t"/>
          <a:lstStyle/>
          <a:p>
            <a:pPr>
              <a:lnSpc>
                <a:spcPts val="2250"/>
              </a:lnSpc>
            </a:pPr>
            <a:r>
              <a:rPr lang="en-US" sz="1792" dirty="0">
                <a:solidFill>
                  <a:srgbClr val="4C4C4D"/>
                </a:solidFill>
                <a:latin typeface="Crimson Pro Semi Bold" pitchFamily="34" charset="0"/>
                <a:ea typeface="Crimson Pro Semi Bold" pitchFamily="34" charset="-122"/>
                <a:cs typeface="Crimson Pro Semi Bold" pitchFamily="34" charset="-120"/>
              </a:rPr>
              <a:t>Weeks 1-4: Requirements &amp; Planning</a:t>
            </a:r>
            <a:endParaRPr lang="en-US" sz="1792" dirty="0"/>
          </a:p>
        </p:txBody>
      </p:sp>
      <p:sp>
        <p:nvSpPr>
          <p:cNvPr id="5" name="Text 2"/>
          <p:cNvSpPr/>
          <p:nvPr/>
        </p:nvSpPr>
        <p:spPr>
          <a:xfrm>
            <a:off x="832741" y="2764631"/>
            <a:ext cx="4987628" cy="585788"/>
          </a:xfrm>
          <a:prstGeom prst="rect">
            <a:avLst/>
          </a:prstGeom>
          <a:noFill/>
          <a:ln/>
        </p:spPr>
        <p:txBody>
          <a:bodyPr wrap="square" lIns="0" tIns="0" rIns="0" bIns="0" rtlCol="0" anchor="t"/>
          <a:lstStyle/>
          <a:p>
            <a:pPr>
              <a:lnSpc>
                <a:spcPts val="2292"/>
              </a:lnSpc>
            </a:pPr>
            <a:r>
              <a:rPr lang="en-US" sz="1417" dirty="0">
                <a:solidFill>
                  <a:srgbClr val="4C4C4D"/>
                </a:solidFill>
                <a:latin typeface="Heebo" pitchFamily="34" charset="0"/>
                <a:ea typeface="Heebo" pitchFamily="34" charset="-122"/>
                <a:cs typeface="Heebo" pitchFamily="34" charset="-120"/>
              </a:rPr>
              <a:t>Finalize specifications, set up development environment, gather training datasets from reliable sources</a:t>
            </a:r>
            <a:endParaRPr lang="en-US" sz="1417" dirty="0"/>
          </a:p>
        </p:txBody>
      </p:sp>
      <p:pic>
        <p:nvPicPr>
          <p:cNvPr id="6" name="Image 1" descr="preencoded.png"/>
          <p:cNvPicPr>
            <a:picLocks noChangeAspect="1"/>
          </p:cNvPicPr>
          <p:nvPr/>
        </p:nvPicPr>
        <p:blipFill>
          <a:blip r:embed="rId3"/>
          <a:stretch>
            <a:fillRect/>
          </a:stretch>
        </p:blipFill>
        <p:spPr>
          <a:xfrm>
            <a:off x="6186587" y="1618357"/>
            <a:ext cx="5357713" cy="952500"/>
          </a:xfrm>
          <a:prstGeom prst="rect">
            <a:avLst/>
          </a:prstGeom>
        </p:spPr>
      </p:pic>
      <p:sp>
        <p:nvSpPr>
          <p:cNvPr id="7" name="Text 3"/>
          <p:cNvSpPr/>
          <p:nvPr/>
        </p:nvSpPr>
        <p:spPr>
          <a:xfrm>
            <a:off x="6371630" y="2354759"/>
            <a:ext cx="3085902" cy="289223"/>
          </a:xfrm>
          <a:prstGeom prst="rect">
            <a:avLst/>
          </a:prstGeom>
          <a:noFill/>
          <a:ln/>
        </p:spPr>
        <p:txBody>
          <a:bodyPr wrap="none" lIns="0" tIns="0" rIns="0" bIns="0" rtlCol="0" anchor="t"/>
          <a:lstStyle/>
          <a:p>
            <a:pPr>
              <a:lnSpc>
                <a:spcPts val="2250"/>
              </a:lnSpc>
            </a:pPr>
            <a:r>
              <a:rPr lang="en-US" sz="1792" dirty="0">
                <a:solidFill>
                  <a:srgbClr val="4C4C4D"/>
                </a:solidFill>
                <a:latin typeface="Crimson Pro Semi Bold" pitchFamily="34" charset="0"/>
                <a:ea typeface="Crimson Pro Semi Bold" pitchFamily="34" charset="-122"/>
                <a:cs typeface="Crimson Pro Semi Bold" pitchFamily="34" charset="-120"/>
              </a:rPr>
              <a:t>Weeks 5-10: Development Phase</a:t>
            </a:r>
            <a:endParaRPr lang="en-US" sz="1792" dirty="0"/>
          </a:p>
        </p:txBody>
      </p:sp>
      <p:sp>
        <p:nvSpPr>
          <p:cNvPr id="8" name="Text 4"/>
          <p:cNvSpPr/>
          <p:nvPr/>
        </p:nvSpPr>
        <p:spPr>
          <a:xfrm>
            <a:off x="6371630" y="2752626"/>
            <a:ext cx="4987628" cy="878682"/>
          </a:xfrm>
          <a:prstGeom prst="rect">
            <a:avLst/>
          </a:prstGeom>
          <a:noFill/>
          <a:ln/>
        </p:spPr>
        <p:txBody>
          <a:bodyPr wrap="square" lIns="0" tIns="0" rIns="0" bIns="0" rtlCol="0" anchor="t"/>
          <a:lstStyle/>
          <a:p>
            <a:pPr>
              <a:lnSpc>
                <a:spcPts val="2292"/>
              </a:lnSpc>
            </a:pPr>
            <a:r>
              <a:rPr lang="en-US" sz="1417" dirty="0">
                <a:solidFill>
                  <a:srgbClr val="4C4C4D"/>
                </a:solidFill>
                <a:latin typeface="Heebo" pitchFamily="34" charset="0"/>
                <a:ea typeface="Heebo" pitchFamily="34" charset="-122"/>
                <a:cs typeface="Heebo" pitchFamily="34" charset="-120"/>
              </a:rPr>
              <a:t>Build core detection algorithm, implement frontend interface, connect database systems, establish API endpoints</a:t>
            </a:r>
            <a:endParaRPr lang="en-US" sz="1417" dirty="0"/>
          </a:p>
        </p:txBody>
      </p:sp>
      <p:pic>
        <p:nvPicPr>
          <p:cNvPr id="9" name="Image 2" descr="preencoded.png"/>
          <p:cNvPicPr>
            <a:picLocks noChangeAspect="1"/>
          </p:cNvPicPr>
          <p:nvPr/>
        </p:nvPicPr>
        <p:blipFill>
          <a:blip r:embed="rId3"/>
          <a:stretch>
            <a:fillRect/>
          </a:stretch>
        </p:blipFill>
        <p:spPr>
          <a:xfrm>
            <a:off x="609301" y="4004717"/>
            <a:ext cx="5357713" cy="952500"/>
          </a:xfrm>
          <a:prstGeom prst="rect">
            <a:avLst/>
          </a:prstGeom>
        </p:spPr>
      </p:pic>
      <p:sp>
        <p:nvSpPr>
          <p:cNvPr id="10" name="Text 5"/>
          <p:cNvSpPr/>
          <p:nvPr/>
        </p:nvSpPr>
        <p:spPr>
          <a:xfrm>
            <a:off x="887115" y="4733924"/>
            <a:ext cx="2501206" cy="289223"/>
          </a:xfrm>
          <a:prstGeom prst="rect">
            <a:avLst/>
          </a:prstGeom>
          <a:noFill/>
          <a:ln/>
        </p:spPr>
        <p:txBody>
          <a:bodyPr wrap="none" lIns="0" tIns="0" rIns="0" bIns="0" rtlCol="0" anchor="t"/>
          <a:lstStyle/>
          <a:p>
            <a:pPr>
              <a:lnSpc>
                <a:spcPts val="2250"/>
              </a:lnSpc>
            </a:pPr>
            <a:r>
              <a:rPr lang="en-US" sz="1792" dirty="0">
                <a:solidFill>
                  <a:srgbClr val="4C4C4D"/>
                </a:solidFill>
                <a:latin typeface="Crimson Pro Semi Bold" pitchFamily="34" charset="0"/>
                <a:ea typeface="Crimson Pro Semi Bold" pitchFamily="34" charset="-122"/>
                <a:cs typeface="Crimson Pro Semi Bold" pitchFamily="34" charset="-120"/>
              </a:rPr>
              <a:t>Weeks 11-14: Testing Cycle</a:t>
            </a:r>
            <a:endParaRPr lang="en-US" sz="1792" dirty="0"/>
          </a:p>
        </p:txBody>
      </p:sp>
      <p:sp>
        <p:nvSpPr>
          <p:cNvPr id="11" name="Text 6"/>
          <p:cNvSpPr/>
          <p:nvPr/>
        </p:nvSpPr>
        <p:spPr>
          <a:xfrm>
            <a:off x="894507" y="5166566"/>
            <a:ext cx="4987628" cy="585788"/>
          </a:xfrm>
          <a:prstGeom prst="rect">
            <a:avLst/>
          </a:prstGeom>
          <a:noFill/>
          <a:ln/>
        </p:spPr>
        <p:txBody>
          <a:bodyPr wrap="square" lIns="0" tIns="0" rIns="0" bIns="0" rtlCol="0" anchor="t"/>
          <a:lstStyle/>
          <a:p>
            <a:pPr>
              <a:lnSpc>
                <a:spcPts val="2292"/>
              </a:lnSpc>
            </a:pPr>
            <a:r>
              <a:rPr lang="en-US" sz="1417" dirty="0">
                <a:solidFill>
                  <a:srgbClr val="4C4C4D"/>
                </a:solidFill>
                <a:latin typeface="Heebo" pitchFamily="34" charset="0"/>
                <a:ea typeface="Heebo" pitchFamily="34" charset="-122"/>
                <a:cs typeface="Heebo" pitchFamily="34" charset="-120"/>
              </a:rPr>
              <a:t>Conduct user acceptance testing, optimize model accuracy, fix critical bugs, validate scalability under expected load</a:t>
            </a:r>
            <a:endParaRPr lang="en-US" sz="1417" dirty="0"/>
          </a:p>
        </p:txBody>
      </p:sp>
      <p:pic>
        <p:nvPicPr>
          <p:cNvPr id="12" name="Image 3" descr="preencoded.png"/>
          <p:cNvPicPr>
            <a:picLocks noChangeAspect="1"/>
          </p:cNvPicPr>
          <p:nvPr/>
        </p:nvPicPr>
        <p:blipFill>
          <a:blip r:embed="rId3"/>
          <a:stretch>
            <a:fillRect/>
          </a:stretch>
        </p:blipFill>
        <p:spPr>
          <a:xfrm>
            <a:off x="6186587" y="3997523"/>
            <a:ext cx="5357713" cy="952500"/>
          </a:xfrm>
          <a:prstGeom prst="rect">
            <a:avLst/>
          </a:prstGeom>
        </p:spPr>
      </p:pic>
      <p:sp>
        <p:nvSpPr>
          <p:cNvPr id="13" name="Text 7"/>
          <p:cNvSpPr/>
          <p:nvPr/>
        </p:nvSpPr>
        <p:spPr>
          <a:xfrm>
            <a:off x="6371630" y="4733925"/>
            <a:ext cx="4223842" cy="289223"/>
          </a:xfrm>
          <a:prstGeom prst="rect">
            <a:avLst/>
          </a:prstGeom>
          <a:noFill/>
          <a:ln/>
        </p:spPr>
        <p:txBody>
          <a:bodyPr wrap="none" lIns="0" tIns="0" rIns="0" bIns="0" rtlCol="0" anchor="t"/>
          <a:lstStyle/>
          <a:p>
            <a:pPr>
              <a:lnSpc>
                <a:spcPts val="2250"/>
              </a:lnSpc>
            </a:pPr>
            <a:r>
              <a:rPr lang="en-US" sz="1792" dirty="0">
                <a:solidFill>
                  <a:srgbClr val="4C4C4D"/>
                </a:solidFill>
                <a:latin typeface="Crimson Pro Semi Bold" pitchFamily="34" charset="0"/>
                <a:ea typeface="Crimson Pro Semi Bold" pitchFamily="34" charset="-122"/>
                <a:cs typeface="Crimson Pro Semi Bold" pitchFamily="34" charset="-120"/>
              </a:rPr>
              <a:t>Weeks 15-16: Deployment &amp; Documentation</a:t>
            </a:r>
            <a:endParaRPr lang="en-US" sz="1792" dirty="0"/>
          </a:p>
        </p:txBody>
      </p:sp>
      <p:sp>
        <p:nvSpPr>
          <p:cNvPr id="14" name="Text 8"/>
          <p:cNvSpPr/>
          <p:nvPr/>
        </p:nvSpPr>
        <p:spPr>
          <a:xfrm>
            <a:off x="6371630" y="5131793"/>
            <a:ext cx="4987628" cy="585788"/>
          </a:xfrm>
          <a:prstGeom prst="rect">
            <a:avLst/>
          </a:prstGeom>
          <a:noFill/>
          <a:ln/>
        </p:spPr>
        <p:txBody>
          <a:bodyPr wrap="square" lIns="0" tIns="0" rIns="0" bIns="0" rtlCol="0" anchor="t"/>
          <a:lstStyle/>
          <a:p>
            <a:pPr>
              <a:lnSpc>
                <a:spcPts val="2292"/>
              </a:lnSpc>
            </a:pPr>
            <a:r>
              <a:rPr lang="en-US" sz="1417" dirty="0">
                <a:solidFill>
                  <a:srgbClr val="4C4C4D"/>
                </a:solidFill>
                <a:latin typeface="Heebo" pitchFamily="34" charset="0"/>
                <a:ea typeface="Heebo" pitchFamily="34" charset="-122"/>
                <a:cs typeface="Heebo" pitchFamily="34" charset="-120"/>
              </a:rPr>
              <a:t>Launch production version, write research paper for submission, prepare final presentation and user guides</a:t>
            </a:r>
            <a:endParaRPr lang="en-US" sz="1417" dirty="0"/>
          </a:p>
        </p:txBody>
      </p:sp>
      <p:sp>
        <p:nvSpPr>
          <p:cNvPr id="15" name="TextBox 14">
            <a:extLst>
              <a:ext uri="{FF2B5EF4-FFF2-40B4-BE49-F238E27FC236}">
                <a16:creationId xmlns:a16="http://schemas.microsoft.com/office/drawing/2014/main" id="{05944650-1768-6910-47DE-863A2015B848}"/>
              </a:ext>
            </a:extLst>
          </p:cNvPr>
          <p:cNvSpPr txBox="1"/>
          <p:nvPr/>
        </p:nvSpPr>
        <p:spPr>
          <a:xfrm>
            <a:off x="5026742" y="344444"/>
            <a:ext cx="6100916" cy="523220"/>
          </a:xfrm>
          <a:prstGeom prst="rect">
            <a:avLst/>
          </a:prstGeom>
          <a:noFill/>
        </p:spPr>
        <p:txBody>
          <a:bodyPr wrap="square">
            <a:spAutoFit/>
          </a:bodyPr>
          <a:lstStyle/>
          <a:p>
            <a:pPr algn="just"/>
            <a:r>
              <a:rPr lang="en-IN" sz="2800" b="1" dirty="0">
                <a:latin typeface="Times New Roman" panose="02020603050405020304" pitchFamily="18" charset="0"/>
                <a:cs typeface="Times New Roman" panose="02020603050405020304" pitchFamily="18" charset="0"/>
              </a:rPr>
              <a:t>Timeline</a:t>
            </a:r>
          </a:p>
        </p:txBody>
      </p:sp>
      <p:sp>
        <p:nvSpPr>
          <p:cNvPr id="16" name="TextBox 15">
            <a:extLst>
              <a:ext uri="{FF2B5EF4-FFF2-40B4-BE49-F238E27FC236}">
                <a16:creationId xmlns:a16="http://schemas.microsoft.com/office/drawing/2014/main" id="{B71564ED-2457-93FD-AC68-46659CF20237}"/>
              </a:ext>
            </a:extLst>
          </p:cNvPr>
          <p:cNvSpPr txBox="1"/>
          <p:nvPr/>
        </p:nvSpPr>
        <p:spPr>
          <a:xfrm>
            <a:off x="10510684" y="6322142"/>
            <a:ext cx="1681316" cy="535858"/>
          </a:xfrm>
          <a:prstGeom prst="rect">
            <a:avLst/>
          </a:prstGeom>
          <a:solidFill>
            <a:schemeClr val="bg1"/>
          </a:solidFill>
        </p:spPr>
        <p:txBody>
          <a:bodyPr wrap="square" rtlCol="0">
            <a:spAutoFit/>
          </a:bodyPr>
          <a:lstStyle/>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068AF5-9FC2-4AB1-35E9-8631B411A575}"/>
              </a:ext>
            </a:extLst>
          </p:cNvPr>
          <p:cNvSpPr txBox="1"/>
          <p:nvPr/>
        </p:nvSpPr>
        <p:spPr>
          <a:xfrm>
            <a:off x="1723104" y="889843"/>
            <a:ext cx="6100916" cy="5078313"/>
          </a:xfrm>
          <a:prstGeom prst="rect">
            <a:avLst/>
          </a:prstGeom>
          <a:noFill/>
        </p:spPr>
        <p:txBody>
          <a:bodyPr wrap="square">
            <a:spAutoFit/>
          </a:bodyPr>
          <a:lstStyle/>
          <a:p>
            <a:pPr>
              <a:buNone/>
            </a:pPr>
            <a:endParaRPr lang="en-US" b="1" dirty="0"/>
          </a:p>
          <a:p>
            <a:pPr marL="285750" indent="-285750">
              <a:buFont typeface="Wingdings" panose="05000000000000000000" pitchFamily="2" charset="2"/>
              <a:buChar char="q"/>
            </a:pPr>
            <a:r>
              <a:rPr lang="en-US" b="1" dirty="0"/>
              <a:t>Web Application Development</a:t>
            </a:r>
          </a:p>
          <a:p>
            <a:pPr>
              <a:buFont typeface="Arial" panose="020B0604020202020204" pitchFamily="34" charset="0"/>
              <a:buChar char="•"/>
            </a:pPr>
            <a:r>
              <a:rPr lang="en-US" dirty="0"/>
              <a:t>Developed a </a:t>
            </a:r>
            <a:r>
              <a:rPr lang="en-US" b="1" dirty="0"/>
              <a:t>Fake News Detection Web Application</a:t>
            </a:r>
            <a:endParaRPr lang="en-US" dirty="0"/>
          </a:p>
          <a:p>
            <a:pPr>
              <a:buFont typeface="Arial" panose="020B0604020202020204" pitchFamily="34" charset="0"/>
              <a:buChar char="•"/>
            </a:pPr>
            <a:r>
              <a:rPr lang="en-US" dirty="0"/>
              <a:t>Users can enter news content and get instant prediction</a:t>
            </a:r>
          </a:p>
          <a:p>
            <a:pPr>
              <a:buFont typeface="Arial" panose="020B0604020202020204" pitchFamily="34" charset="0"/>
              <a:buChar char="•"/>
            </a:pPr>
            <a:r>
              <a:rPr lang="en-US" dirty="0"/>
              <a:t>Classifies news as </a:t>
            </a:r>
            <a:r>
              <a:rPr lang="en-US" b="1" dirty="0"/>
              <a:t>Real</a:t>
            </a:r>
            <a:r>
              <a:rPr lang="en-US" dirty="0"/>
              <a:t> or </a:t>
            </a:r>
            <a:r>
              <a:rPr lang="en-US" b="1" dirty="0"/>
              <a:t>Fake</a:t>
            </a:r>
            <a:r>
              <a:rPr lang="en-US" dirty="0"/>
              <a:t> using Machine Learning</a:t>
            </a:r>
          </a:p>
          <a:p>
            <a:pPr>
              <a:buFont typeface="Arial" panose="020B0604020202020204" pitchFamily="34" charset="0"/>
              <a:buChar char="•"/>
            </a:pPr>
            <a:r>
              <a:rPr lang="en-US" dirty="0"/>
              <a:t>Interactive and user-friendly interface</a:t>
            </a:r>
          </a:p>
          <a:p>
            <a:pPr>
              <a:buNone/>
            </a:pPr>
            <a:endParaRPr lang="en-US" dirty="0"/>
          </a:p>
          <a:p>
            <a:pPr marL="285750" indent="-285750">
              <a:buFont typeface="Wingdings" panose="05000000000000000000" pitchFamily="2" charset="2"/>
              <a:buChar char="q"/>
            </a:pPr>
            <a:r>
              <a:rPr lang="en-US" b="1" dirty="0"/>
              <a:t>Machine Learning Model Implementation</a:t>
            </a:r>
          </a:p>
          <a:p>
            <a:pPr>
              <a:buFont typeface="Arial" panose="020B0604020202020204" pitchFamily="34" charset="0"/>
              <a:buChar char="•"/>
            </a:pPr>
            <a:r>
              <a:rPr lang="en-US" dirty="0"/>
              <a:t>Text preprocessing and feature extraction applied</a:t>
            </a:r>
          </a:p>
          <a:p>
            <a:pPr>
              <a:buFont typeface="Arial" panose="020B0604020202020204" pitchFamily="34" charset="0"/>
              <a:buChar char="•"/>
            </a:pPr>
            <a:r>
              <a:rPr lang="en-US" dirty="0"/>
              <a:t>Model trained using NLP techniques</a:t>
            </a:r>
          </a:p>
          <a:p>
            <a:pPr>
              <a:buFont typeface="Arial" panose="020B0604020202020204" pitchFamily="34" charset="0"/>
              <a:buChar char="•"/>
            </a:pPr>
            <a:r>
              <a:rPr lang="en-US" dirty="0"/>
              <a:t>Accurate classification of news articles</a:t>
            </a:r>
          </a:p>
          <a:p>
            <a:pPr>
              <a:buFont typeface="Arial" panose="020B0604020202020204" pitchFamily="34" charset="0"/>
              <a:buChar char="•"/>
            </a:pPr>
            <a:r>
              <a:rPr lang="en-US" dirty="0"/>
              <a:t>Real-time prediction capability</a:t>
            </a:r>
          </a:p>
          <a:p>
            <a:pPr>
              <a:buFont typeface="Arial" panose="020B0604020202020204" pitchFamily="34" charset="0"/>
              <a:buChar char="•"/>
            </a:pPr>
            <a:endParaRPr lang="en-US" dirty="0"/>
          </a:p>
          <a:p>
            <a:pPr marL="285750" indent="-285750">
              <a:buFont typeface="Wingdings" panose="05000000000000000000" pitchFamily="2" charset="2"/>
              <a:buChar char="q"/>
            </a:pPr>
            <a:r>
              <a:rPr lang="en-US" b="1" dirty="0"/>
              <a:t>Research Contribution</a:t>
            </a:r>
          </a:p>
          <a:p>
            <a:pPr>
              <a:buFont typeface="Arial" panose="020B0604020202020204" pitchFamily="34" charset="0"/>
              <a:buChar char="•"/>
            </a:pPr>
            <a:r>
              <a:rPr lang="en-US" dirty="0"/>
              <a:t>Demonstrates application of AI in combating misinformation</a:t>
            </a:r>
          </a:p>
          <a:p>
            <a:pPr>
              <a:buFont typeface="Arial" panose="020B0604020202020204" pitchFamily="34" charset="0"/>
              <a:buChar char="•"/>
            </a:pPr>
            <a:r>
              <a:rPr lang="en-US" dirty="0"/>
              <a:t>Can be extended for social media monitoring</a:t>
            </a:r>
          </a:p>
          <a:p>
            <a:pPr>
              <a:buFont typeface="Arial" panose="020B0604020202020204" pitchFamily="34" charset="0"/>
              <a:buChar char="•"/>
            </a:pPr>
            <a:r>
              <a:rPr lang="en-US" dirty="0"/>
              <a:t>Useful for journalism and public awareness</a:t>
            </a:r>
          </a:p>
        </p:txBody>
      </p:sp>
      <p:sp>
        <p:nvSpPr>
          <p:cNvPr id="5" name="TextBox 4">
            <a:extLst>
              <a:ext uri="{FF2B5EF4-FFF2-40B4-BE49-F238E27FC236}">
                <a16:creationId xmlns:a16="http://schemas.microsoft.com/office/drawing/2014/main" id="{102BE64E-59A5-DA62-0635-14407E332202}"/>
              </a:ext>
            </a:extLst>
          </p:cNvPr>
          <p:cNvSpPr txBox="1"/>
          <p:nvPr/>
        </p:nvSpPr>
        <p:spPr>
          <a:xfrm>
            <a:off x="4092677" y="267618"/>
            <a:ext cx="3202858" cy="954107"/>
          </a:xfrm>
          <a:prstGeom prst="rect">
            <a:avLst/>
          </a:prstGeom>
          <a:noFill/>
        </p:spPr>
        <p:txBody>
          <a:bodyPr wrap="square">
            <a:spAutoFit/>
          </a:bodyPr>
          <a:lstStyle/>
          <a:p>
            <a:pPr algn="just"/>
            <a:r>
              <a:rPr lang="en-US" sz="2800" b="1" dirty="0"/>
              <a:t>Project Outcome</a:t>
            </a:r>
          </a:p>
          <a:p>
            <a:pPr algn="just"/>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244320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453</TotalTime>
  <Words>1032</Words>
  <Application>Microsoft Office PowerPoint</Application>
  <PresentationFormat>Widescreen</PresentationFormat>
  <Paragraphs>217</Paragraphs>
  <Slides>15</Slides>
  <Notes>1</Notes>
  <HiddenSlides>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Crimson Pro Semi Bold</vt:lpstr>
      <vt:lpstr>Heebo</vt:lpstr>
      <vt:lpstr>Times New Roman</vt:lpstr>
      <vt:lpstr>Trebuchet MS</vt:lpstr>
      <vt:lpstr>Wingdings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neelam.rawat</dc:creator>
  <cp:lastModifiedBy>Gaurav Vishwakarma</cp:lastModifiedBy>
  <cp:revision>10</cp:revision>
  <dcterms:created xsi:type="dcterms:W3CDTF">2025-08-16T13:47:00Z</dcterms:created>
  <dcterms:modified xsi:type="dcterms:W3CDTF">2026-02-17T14:12:15Z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5470836F01CB498981FB4B25DFFE0262_13</vt:lpwstr>
  </property>
  <property fmtid="{D5CDD505-2E9C-101B-9397-08002B2CF9AE}" pid="3" name="KSOProductBuildVer">
    <vt:lpwstr>1033-12.2.0.21931</vt:lpwstr>
  </property>
</Properties>
</file>