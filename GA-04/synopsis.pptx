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9016" y="9686925"/>
            <a:ext cx="2153221" cy="5143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30000" y="0"/>
            <a:ext cx="6857998" cy="10286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9538" y="3380695"/>
            <a:ext cx="3705860" cy="873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49015" y="9686924"/>
            <a:ext cx="2153221" cy="51434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5018759" y="9431855"/>
            <a:ext cx="3269615" cy="769620"/>
          </a:xfrm>
          <a:custGeom>
            <a:avLst/>
            <a:gdLst/>
            <a:ahLst/>
            <a:cxnLst/>
            <a:rect l="l" t="t" r="r" b="b"/>
            <a:pathLst>
              <a:path w="3269615" h="769620">
                <a:moveTo>
                  <a:pt x="3252813" y="769419"/>
                </a:moveTo>
                <a:lnTo>
                  <a:pt x="0" y="692232"/>
                </a:lnTo>
                <a:lnTo>
                  <a:pt x="16426" y="0"/>
                </a:lnTo>
                <a:lnTo>
                  <a:pt x="3269239" y="77186"/>
                </a:lnTo>
                <a:lnTo>
                  <a:pt x="3252813" y="76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6049016" y="9686925"/>
            <a:ext cx="2153221" cy="5143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38009" y="700963"/>
            <a:ext cx="16411981" cy="1364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3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99804" y="2315184"/>
            <a:ext cx="10088245" cy="6588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333115" marR="3404870">
              <a:lnSpc>
                <a:spcPct val="112500"/>
              </a:lnSpc>
              <a:spcBef>
                <a:spcPts val="100"/>
              </a:spcBef>
            </a:pP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SYNOPSIS</a:t>
            </a:r>
            <a:r>
              <a:rPr dirty="0" sz="2500" spc="-70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10" b="1">
                <a:solidFill>
                  <a:srgbClr val="1F497D"/>
                </a:solidFill>
                <a:latin typeface="Times New Roman"/>
                <a:cs typeface="Times New Roman"/>
              </a:rPr>
              <a:t>Presentation </a:t>
            </a:r>
            <a:r>
              <a:rPr dirty="0" sz="2500" spc="-25" b="1">
                <a:solidFill>
                  <a:srgbClr val="1F497D"/>
                </a:solidFill>
                <a:latin typeface="Times New Roman"/>
                <a:cs typeface="Times New Roman"/>
              </a:rPr>
              <a:t>On</a:t>
            </a:r>
            <a:endParaRPr sz="2500">
              <a:latin typeface="Times New Roman"/>
              <a:cs typeface="Times New Roman"/>
            </a:endParaRPr>
          </a:p>
          <a:p>
            <a:pPr algn="ctr" marR="71755">
              <a:lnSpc>
                <a:spcPct val="100000"/>
              </a:lnSpc>
              <a:spcBef>
                <a:spcPts val="375"/>
              </a:spcBef>
            </a:pP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SKILL</a:t>
            </a:r>
            <a:r>
              <a:rPr dirty="0" sz="2500" spc="-55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20" b="1">
                <a:solidFill>
                  <a:srgbClr val="1F497D"/>
                </a:solidFill>
                <a:latin typeface="Times New Roman"/>
                <a:cs typeface="Times New Roman"/>
              </a:rPr>
              <a:t>SWAP</a:t>
            </a: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2500" spc="-25" b="1">
                <a:solidFill>
                  <a:srgbClr val="1F497D"/>
                </a:solidFill>
                <a:latin typeface="Times New Roman"/>
                <a:cs typeface="Times New Roman"/>
              </a:rPr>
              <a:t>by</a:t>
            </a: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900"/>
              </a:spcBef>
            </a:pP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Akansha</a:t>
            </a:r>
            <a:r>
              <a:rPr dirty="0" sz="2500" spc="-6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Tyagi</a:t>
            </a:r>
            <a:r>
              <a:rPr dirty="0" sz="2500" spc="-55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1F497D"/>
                </a:solidFill>
                <a:latin typeface="Times New Roman"/>
                <a:cs typeface="Times New Roman"/>
              </a:rPr>
              <a:t>202410116100014</a:t>
            </a: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Akshita</a:t>
            </a:r>
            <a:r>
              <a:rPr dirty="0" sz="2500" spc="-5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Gupta</a:t>
            </a:r>
            <a:r>
              <a:rPr dirty="0" sz="2500" spc="-5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1F497D"/>
                </a:solidFill>
                <a:latin typeface="Times New Roman"/>
                <a:cs typeface="Times New Roman"/>
              </a:rPr>
              <a:t>202410116100017</a:t>
            </a: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Akanksha</a:t>
            </a:r>
            <a:r>
              <a:rPr dirty="0" sz="2500" spc="-65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Dwivedi</a:t>
            </a:r>
            <a:r>
              <a:rPr dirty="0" sz="2500" spc="-65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1F497D"/>
                </a:solidFill>
                <a:latin typeface="Times New Roman"/>
                <a:cs typeface="Times New Roman"/>
              </a:rPr>
              <a:t>202410116100012</a:t>
            </a: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Aashi</a:t>
            </a:r>
            <a:r>
              <a:rPr dirty="0" sz="2500" spc="-55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10">
                <a:solidFill>
                  <a:srgbClr val="1F497D"/>
                </a:solidFill>
                <a:latin typeface="Times New Roman"/>
                <a:cs typeface="Times New Roman"/>
              </a:rPr>
              <a:t>202410116100004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2500" spc="-10" b="1">
                <a:solidFill>
                  <a:srgbClr val="1F497D"/>
                </a:solidFill>
                <a:latin typeface="Times New Roman"/>
                <a:cs typeface="Times New Roman"/>
              </a:rPr>
              <a:t>Session:2025-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2026</a:t>
            </a:r>
            <a:r>
              <a:rPr dirty="0" sz="2500" spc="-15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(IV</a:t>
            </a:r>
            <a:r>
              <a:rPr dirty="0" sz="2500" spc="-10" b="1">
                <a:solidFill>
                  <a:srgbClr val="1F497D"/>
                </a:solidFill>
                <a:latin typeface="Times New Roman"/>
                <a:cs typeface="Times New Roman"/>
              </a:rPr>
              <a:t> Semester)</a:t>
            </a:r>
            <a:endParaRPr sz="2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75"/>
              </a:spcBef>
            </a:pPr>
            <a:endParaRPr sz="2500">
              <a:latin typeface="Times New Roman"/>
              <a:cs typeface="Times New Roman"/>
            </a:endParaRPr>
          </a:p>
          <a:p>
            <a:pPr marL="3430270">
              <a:lnSpc>
                <a:spcPct val="100000"/>
              </a:lnSpc>
            </a:pP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Under</a:t>
            </a:r>
            <a:r>
              <a:rPr dirty="0" sz="2500" spc="-6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the</a:t>
            </a:r>
            <a:r>
              <a:rPr dirty="0" sz="2500" spc="-55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>
                <a:solidFill>
                  <a:srgbClr val="1F497D"/>
                </a:solidFill>
                <a:latin typeface="Times New Roman"/>
                <a:cs typeface="Times New Roman"/>
              </a:rPr>
              <a:t>supervision</a:t>
            </a:r>
            <a:r>
              <a:rPr dirty="0" sz="2500" spc="-55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25">
                <a:solidFill>
                  <a:srgbClr val="1F497D"/>
                </a:solidFill>
                <a:latin typeface="Times New Roman"/>
                <a:cs typeface="Times New Roman"/>
              </a:rPr>
              <a:t>of</a:t>
            </a:r>
            <a:endParaRPr sz="2500">
              <a:latin typeface="Times New Roman"/>
              <a:cs typeface="Times New Roman"/>
            </a:endParaRPr>
          </a:p>
          <a:p>
            <a:pPr marL="2376805" marR="2369185" indent="942340">
              <a:lnSpc>
                <a:spcPct val="112500"/>
              </a:lnSpc>
            </a:pP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Dr.</a:t>
            </a:r>
            <a:r>
              <a:rPr dirty="0" sz="2500" spc="-40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Shashank</a:t>
            </a:r>
            <a:r>
              <a:rPr dirty="0" sz="2500" spc="-40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10" b="1">
                <a:solidFill>
                  <a:srgbClr val="1F497D"/>
                </a:solidFill>
                <a:latin typeface="Times New Roman"/>
                <a:cs typeface="Times New Roman"/>
              </a:rPr>
              <a:t>Bharadwaj 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Department</a:t>
            </a:r>
            <a:r>
              <a:rPr dirty="0" sz="2500" spc="-85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Of</a:t>
            </a:r>
            <a:r>
              <a:rPr dirty="0" sz="2500" spc="-80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Computer</a:t>
            </a:r>
            <a:r>
              <a:rPr dirty="0" sz="2500" spc="-80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10" b="1">
                <a:solidFill>
                  <a:srgbClr val="1F497D"/>
                </a:solidFill>
                <a:latin typeface="Times New Roman"/>
                <a:cs typeface="Times New Roman"/>
              </a:rPr>
              <a:t>Applications</a:t>
            </a:r>
            <a:endParaRPr sz="25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KIET</a:t>
            </a:r>
            <a:r>
              <a:rPr dirty="0" sz="2500" spc="-25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GROUP</a:t>
            </a:r>
            <a:r>
              <a:rPr dirty="0" sz="2500" spc="-25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OF</a:t>
            </a:r>
            <a:r>
              <a:rPr dirty="0" sz="2500" spc="-25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INSTITUTIONS,</a:t>
            </a:r>
            <a:r>
              <a:rPr dirty="0" sz="2500" spc="-25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20" b="1">
                <a:solidFill>
                  <a:srgbClr val="1F497D"/>
                </a:solidFill>
                <a:latin typeface="Times New Roman"/>
                <a:cs typeface="Times New Roman"/>
              </a:rPr>
              <a:t>DELHI-</a:t>
            </a:r>
            <a:r>
              <a:rPr dirty="0" sz="2500" b="1">
                <a:solidFill>
                  <a:srgbClr val="1F497D"/>
                </a:solidFill>
                <a:latin typeface="Times New Roman"/>
                <a:cs typeface="Times New Roman"/>
              </a:rPr>
              <a:t>NCR,</a:t>
            </a:r>
            <a:r>
              <a:rPr dirty="0" sz="2500" spc="-25" b="1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dirty="0" sz="2500" spc="-20" b="1">
                <a:solidFill>
                  <a:srgbClr val="1F497D"/>
                </a:solidFill>
                <a:latin typeface="Times New Roman"/>
                <a:cs typeface="Times New Roman"/>
              </a:rPr>
              <a:t>GHAZIABAD-</a:t>
            </a:r>
            <a:r>
              <a:rPr dirty="0" sz="2500" spc="-10" b="1">
                <a:solidFill>
                  <a:srgbClr val="1F497D"/>
                </a:solidFill>
                <a:latin typeface="Times New Roman"/>
                <a:cs typeface="Times New Roman"/>
              </a:rPr>
              <a:t>201206</a:t>
            </a:r>
            <a:endParaRPr sz="2500">
              <a:latin typeface="Times New Roman"/>
              <a:cs typeface="Times New Roman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663255" cy="20626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2238" y="2909296"/>
            <a:ext cx="10355159" cy="5777190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5018759" y="9431855"/>
            <a:ext cx="3269615" cy="769620"/>
          </a:xfrm>
          <a:custGeom>
            <a:avLst/>
            <a:gdLst/>
            <a:ahLst/>
            <a:cxnLst/>
            <a:rect l="l" t="t" r="r" b="b"/>
            <a:pathLst>
              <a:path w="3269615" h="769620">
                <a:moveTo>
                  <a:pt x="3252813" y="769419"/>
                </a:moveTo>
                <a:lnTo>
                  <a:pt x="0" y="692232"/>
                </a:lnTo>
                <a:lnTo>
                  <a:pt x="16426" y="0"/>
                </a:lnTo>
                <a:lnTo>
                  <a:pt x="3269239" y="77186"/>
                </a:lnTo>
                <a:lnTo>
                  <a:pt x="3252813" y="76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05485" rIns="0" bIns="0" rtlCol="0" vert="horz">
            <a:spAutoFit/>
          </a:bodyPr>
          <a:lstStyle/>
          <a:p>
            <a:pPr marL="53975">
              <a:lnSpc>
                <a:spcPct val="100000"/>
              </a:lnSpc>
              <a:spcBef>
                <a:spcPts val="110"/>
              </a:spcBef>
            </a:pPr>
            <a:r>
              <a:rPr dirty="0" sz="5550" spc="-140"/>
              <a:t>Project</a:t>
            </a:r>
            <a:r>
              <a:rPr dirty="0" sz="5550" spc="-285"/>
              <a:t> </a:t>
            </a:r>
            <a:r>
              <a:rPr dirty="0" sz="5550" spc="-60"/>
              <a:t>Overview</a:t>
            </a:r>
            <a:endParaRPr sz="5550"/>
          </a:p>
        </p:txBody>
      </p:sp>
      <p:sp>
        <p:nvSpPr>
          <p:cNvPr id="5" name="object 5" descr=""/>
          <p:cNvSpPr txBox="1"/>
          <p:nvPr/>
        </p:nvSpPr>
        <p:spPr>
          <a:xfrm>
            <a:off x="12035976" y="2799863"/>
            <a:ext cx="5194935" cy="5857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50" spc="-90" b="1">
                <a:latin typeface="Tahoma"/>
                <a:cs typeface="Tahoma"/>
              </a:rPr>
              <a:t>What</a:t>
            </a:r>
            <a:r>
              <a:rPr dirty="0" sz="2750" spc="-160" b="1">
                <a:latin typeface="Tahoma"/>
                <a:cs typeface="Tahoma"/>
              </a:rPr>
              <a:t> </a:t>
            </a:r>
            <a:r>
              <a:rPr dirty="0" sz="2750" b="1">
                <a:latin typeface="Tahoma"/>
                <a:cs typeface="Tahoma"/>
              </a:rPr>
              <a:t>is</a:t>
            </a:r>
            <a:r>
              <a:rPr dirty="0" sz="2750" spc="-155" b="1">
                <a:latin typeface="Tahoma"/>
                <a:cs typeface="Tahoma"/>
              </a:rPr>
              <a:t> </a:t>
            </a:r>
            <a:r>
              <a:rPr dirty="0" sz="2750" spc="-75" b="1">
                <a:latin typeface="Tahoma"/>
                <a:cs typeface="Tahoma"/>
              </a:rPr>
              <a:t>Skill</a:t>
            </a:r>
            <a:r>
              <a:rPr dirty="0" sz="2750" spc="-155" b="1">
                <a:latin typeface="Tahoma"/>
                <a:cs typeface="Tahoma"/>
              </a:rPr>
              <a:t> </a:t>
            </a:r>
            <a:r>
              <a:rPr dirty="0" sz="2750" spc="-10" b="1">
                <a:latin typeface="Tahoma"/>
                <a:cs typeface="Tahoma"/>
              </a:rPr>
              <a:t>Swap?</a:t>
            </a:r>
            <a:endParaRPr sz="2750">
              <a:latin typeface="Tahoma"/>
              <a:cs typeface="Tahoma"/>
            </a:endParaRPr>
          </a:p>
          <a:p>
            <a:pPr marL="12700" marR="79375">
              <a:lnSpc>
                <a:spcPct val="136600"/>
              </a:lnSpc>
              <a:spcBef>
                <a:spcPts val="1450"/>
              </a:spcBef>
            </a:pPr>
            <a:r>
              <a:rPr dirty="0" sz="2150" spc="-50">
                <a:solidFill>
                  <a:srgbClr val="262525"/>
                </a:solidFill>
                <a:latin typeface="Verdana"/>
                <a:cs typeface="Verdana"/>
              </a:rPr>
              <a:t>An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intelligent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0">
                <a:solidFill>
                  <a:srgbClr val="262525"/>
                </a:solidFill>
                <a:latin typeface="Verdana"/>
                <a:cs typeface="Verdana"/>
              </a:rPr>
              <a:t>peer-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to-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peer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learning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platform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leveraging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70">
                <a:solidFill>
                  <a:srgbClr val="262525"/>
                </a:solidFill>
                <a:latin typeface="Verdana"/>
                <a:cs typeface="Verdana"/>
              </a:rPr>
              <a:t>AI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0">
                <a:solidFill>
                  <a:srgbClr val="262525"/>
                </a:solidFill>
                <a:latin typeface="Verdana"/>
                <a:cs typeface="Verdana"/>
              </a:rPr>
              <a:t>for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semantic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skill 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matching.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Unlike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traditional</a:t>
            </a:r>
            <a:r>
              <a:rPr dirty="0" sz="2150" spc="-1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keyword- </a:t>
            </a:r>
            <a:r>
              <a:rPr dirty="0" sz="2150" spc="-40">
                <a:solidFill>
                  <a:srgbClr val="262525"/>
                </a:solidFill>
                <a:latin typeface="Verdana"/>
                <a:cs typeface="Verdana"/>
              </a:rPr>
              <a:t>based</a:t>
            </a:r>
            <a:r>
              <a:rPr dirty="0" sz="2150" spc="-15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systems,</a:t>
            </a:r>
            <a:r>
              <a:rPr dirty="0" sz="2150" spc="-15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Skill</a:t>
            </a:r>
            <a:r>
              <a:rPr dirty="0" sz="2150" spc="-14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0">
                <a:solidFill>
                  <a:srgbClr val="262525"/>
                </a:solidFill>
                <a:latin typeface="Verdana"/>
                <a:cs typeface="Verdana"/>
              </a:rPr>
              <a:t>Swap</a:t>
            </a:r>
            <a:r>
              <a:rPr dirty="0" sz="2150" spc="-15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35">
                <a:solidFill>
                  <a:srgbClr val="262525"/>
                </a:solidFill>
                <a:latin typeface="Verdana"/>
                <a:cs typeface="Verdana"/>
              </a:rPr>
              <a:t>uses</a:t>
            </a:r>
            <a:r>
              <a:rPr dirty="0" sz="2150" spc="-14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vector 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embeddings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and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ChromaDB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to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deliver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accurate,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meaningful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connections </a:t>
            </a:r>
            <a:r>
              <a:rPr dirty="0" sz="2150" spc="-60">
                <a:solidFill>
                  <a:srgbClr val="262525"/>
                </a:solidFill>
                <a:latin typeface="Verdana"/>
                <a:cs typeface="Verdana"/>
              </a:rPr>
              <a:t>between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learners.</a:t>
            </a:r>
            <a:endParaRPr sz="215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2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2150">
              <a:latin typeface="Verdana"/>
              <a:cs typeface="Verdana"/>
            </a:endParaRPr>
          </a:p>
          <a:p>
            <a:pPr marL="12700" marR="5080">
              <a:lnSpc>
                <a:spcPct val="136600"/>
              </a:lnSpc>
            </a:pP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AI-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generated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explanations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45">
                <a:solidFill>
                  <a:srgbClr val="262525"/>
                </a:solidFill>
                <a:latin typeface="Verdana"/>
                <a:cs typeface="Verdana"/>
              </a:rPr>
              <a:t>powered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5">
                <a:solidFill>
                  <a:srgbClr val="262525"/>
                </a:solidFill>
                <a:latin typeface="Verdana"/>
                <a:cs typeface="Verdana"/>
              </a:rPr>
              <a:t>by </a:t>
            </a:r>
            <a:r>
              <a:rPr dirty="0" sz="2150" spc="-40">
                <a:solidFill>
                  <a:srgbClr val="262525"/>
                </a:solidFill>
                <a:latin typeface="Verdana"/>
                <a:cs typeface="Verdana"/>
              </a:rPr>
              <a:t>local</a:t>
            </a:r>
            <a:r>
              <a:rPr dirty="0" sz="2150" spc="-1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>
                <a:solidFill>
                  <a:srgbClr val="262525"/>
                </a:solidFill>
                <a:latin typeface="Verdana"/>
                <a:cs typeface="Verdana"/>
              </a:rPr>
              <a:t>LLM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0">
                <a:solidFill>
                  <a:srgbClr val="262525"/>
                </a:solidFill>
                <a:latin typeface="Verdana"/>
                <a:cs typeface="Verdana"/>
              </a:rPr>
              <a:t>provide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transparency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in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every match.</a:t>
            </a:r>
            <a:endParaRPr sz="2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8" y="3096583"/>
            <a:ext cx="792416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-80"/>
              <a:t>Problsm</a:t>
            </a:r>
            <a:r>
              <a:rPr dirty="0" sz="5550" spc="-310"/>
              <a:t> </a:t>
            </a:r>
            <a:r>
              <a:rPr dirty="0" sz="5550" spc="175"/>
              <a:t>S</a:t>
            </a:r>
            <a:r>
              <a:rPr dirty="0" sz="5550" spc="-310"/>
              <a:t> </a:t>
            </a:r>
            <a:r>
              <a:rPr dirty="0" sz="5550" spc="-10"/>
              <a:t>Significancs</a:t>
            </a:r>
            <a:endParaRPr sz="5550"/>
          </a:p>
        </p:txBody>
      </p:sp>
      <p:grpSp>
        <p:nvGrpSpPr>
          <p:cNvPr id="3" name="object 3" descr=""/>
          <p:cNvGrpSpPr/>
          <p:nvPr/>
        </p:nvGrpSpPr>
        <p:grpSpPr>
          <a:xfrm>
            <a:off x="987475" y="4585249"/>
            <a:ext cx="8019415" cy="2569845"/>
            <a:chOff x="987475" y="4585249"/>
            <a:chExt cx="8019415" cy="2569845"/>
          </a:xfrm>
        </p:grpSpPr>
        <p:sp>
          <p:nvSpPr>
            <p:cNvPr id="4" name="object 4" descr=""/>
            <p:cNvSpPr/>
            <p:nvPr/>
          </p:nvSpPr>
          <p:spPr>
            <a:xfrm>
              <a:off x="992238" y="4590011"/>
              <a:ext cx="8009890" cy="2560320"/>
            </a:xfrm>
            <a:custGeom>
              <a:avLst/>
              <a:gdLst/>
              <a:ahLst/>
              <a:cxnLst/>
              <a:rect l="l" t="t" r="r" b="b"/>
              <a:pathLst>
                <a:path w="8009890" h="2560320">
                  <a:moveTo>
                    <a:pt x="7890509" y="2559939"/>
                  </a:moveTo>
                  <a:lnTo>
                    <a:pt x="119348" y="2559939"/>
                  </a:lnTo>
                  <a:lnTo>
                    <a:pt x="72959" y="2550591"/>
                  </a:lnTo>
                  <a:lnTo>
                    <a:pt x="35009" y="2525089"/>
                  </a:lnTo>
                  <a:lnTo>
                    <a:pt x="9406" y="2487247"/>
                  </a:lnTo>
                  <a:lnTo>
                    <a:pt x="0" y="2440876"/>
                  </a:lnTo>
                  <a:lnTo>
                    <a:pt x="0" y="119062"/>
                  </a:lnTo>
                  <a:lnTo>
                    <a:pt x="9379" y="72732"/>
                  </a:lnTo>
                  <a:lnTo>
                    <a:pt x="34956" y="34885"/>
                  </a:lnTo>
                  <a:lnTo>
                    <a:pt x="72893" y="9361"/>
                  </a:lnTo>
                  <a:lnTo>
                    <a:pt x="119348" y="0"/>
                  </a:lnTo>
                  <a:lnTo>
                    <a:pt x="7890509" y="0"/>
                  </a:lnTo>
                  <a:lnTo>
                    <a:pt x="7936965" y="9361"/>
                  </a:lnTo>
                  <a:lnTo>
                    <a:pt x="7974901" y="34885"/>
                  </a:lnTo>
                  <a:lnTo>
                    <a:pt x="8000478" y="72732"/>
                  </a:lnTo>
                  <a:lnTo>
                    <a:pt x="8009857" y="119062"/>
                  </a:lnTo>
                  <a:lnTo>
                    <a:pt x="8009857" y="2440876"/>
                  </a:lnTo>
                  <a:lnTo>
                    <a:pt x="8000478" y="2487247"/>
                  </a:lnTo>
                  <a:lnTo>
                    <a:pt x="7974901" y="2525089"/>
                  </a:lnTo>
                  <a:lnTo>
                    <a:pt x="7936965" y="2550591"/>
                  </a:lnTo>
                  <a:lnTo>
                    <a:pt x="7890509" y="255993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87475" y="4585249"/>
              <a:ext cx="8019415" cy="2569845"/>
            </a:xfrm>
            <a:custGeom>
              <a:avLst/>
              <a:gdLst/>
              <a:ahLst/>
              <a:cxnLst/>
              <a:rect l="l" t="t" r="r" b="b"/>
              <a:pathLst>
                <a:path w="8019415" h="2569845">
                  <a:moveTo>
                    <a:pt x="124110" y="2569463"/>
                  </a:moveTo>
                  <a:lnTo>
                    <a:pt x="123827" y="2569463"/>
                  </a:lnTo>
                  <a:lnTo>
                    <a:pt x="75786" y="2559733"/>
                  </a:lnTo>
                  <a:lnTo>
                    <a:pt x="36337" y="2533197"/>
                  </a:lnTo>
                  <a:lnTo>
                    <a:pt x="9748" y="2493838"/>
                  </a:lnTo>
                  <a:lnTo>
                    <a:pt x="0" y="2445639"/>
                  </a:lnTo>
                  <a:lnTo>
                    <a:pt x="0" y="123825"/>
                  </a:lnTo>
                  <a:lnTo>
                    <a:pt x="9761" y="75625"/>
                  </a:lnTo>
                  <a:lnTo>
                    <a:pt x="36373" y="36266"/>
                  </a:lnTo>
                  <a:lnTo>
                    <a:pt x="75826" y="9730"/>
                  </a:lnTo>
                  <a:lnTo>
                    <a:pt x="124110" y="0"/>
                  </a:lnTo>
                  <a:lnTo>
                    <a:pt x="7895272" y="0"/>
                  </a:lnTo>
                  <a:lnTo>
                    <a:pt x="7895272" y="4762"/>
                  </a:lnTo>
                  <a:lnTo>
                    <a:pt x="124110" y="4762"/>
                  </a:lnTo>
                  <a:lnTo>
                    <a:pt x="124110" y="9525"/>
                  </a:lnTo>
                  <a:lnTo>
                    <a:pt x="79524" y="18517"/>
                  </a:lnTo>
                  <a:lnTo>
                    <a:pt x="43100" y="43029"/>
                  </a:lnTo>
                  <a:lnTo>
                    <a:pt x="18535" y="79364"/>
                  </a:lnTo>
                  <a:lnTo>
                    <a:pt x="9525" y="123825"/>
                  </a:lnTo>
                  <a:lnTo>
                    <a:pt x="9525" y="2445639"/>
                  </a:lnTo>
                  <a:lnTo>
                    <a:pt x="18535" y="2490140"/>
                  </a:lnTo>
                  <a:lnTo>
                    <a:pt x="43100" y="2526470"/>
                  </a:lnTo>
                  <a:lnTo>
                    <a:pt x="79524" y="2550960"/>
                  </a:lnTo>
                  <a:lnTo>
                    <a:pt x="124110" y="2559939"/>
                  </a:lnTo>
                  <a:lnTo>
                    <a:pt x="7942534" y="2559939"/>
                  </a:lnTo>
                  <a:lnTo>
                    <a:pt x="7918901" y="2564701"/>
                  </a:lnTo>
                  <a:lnTo>
                    <a:pt x="124110" y="2564701"/>
                  </a:lnTo>
                  <a:lnTo>
                    <a:pt x="124110" y="2569463"/>
                  </a:lnTo>
                  <a:close/>
                </a:path>
                <a:path w="8019415" h="2569845">
                  <a:moveTo>
                    <a:pt x="7942534" y="2559939"/>
                  </a:moveTo>
                  <a:lnTo>
                    <a:pt x="7895272" y="2559939"/>
                  </a:lnTo>
                  <a:lnTo>
                    <a:pt x="7939831" y="2550960"/>
                  </a:lnTo>
                  <a:lnTo>
                    <a:pt x="7976264" y="2526470"/>
                  </a:lnTo>
                  <a:lnTo>
                    <a:pt x="8000833" y="2490140"/>
                  </a:lnTo>
                  <a:lnTo>
                    <a:pt x="8009857" y="2445639"/>
                  </a:lnTo>
                  <a:lnTo>
                    <a:pt x="8009857" y="123825"/>
                  </a:lnTo>
                  <a:lnTo>
                    <a:pt x="8000855" y="79364"/>
                  </a:lnTo>
                  <a:lnTo>
                    <a:pt x="7976306" y="43029"/>
                  </a:lnTo>
                  <a:lnTo>
                    <a:pt x="7939877" y="18517"/>
                  </a:lnTo>
                  <a:lnTo>
                    <a:pt x="7895272" y="9525"/>
                  </a:lnTo>
                  <a:lnTo>
                    <a:pt x="124110" y="9525"/>
                  </a:lnTo>
                  <a:lnTo>
                    <a:pt x="124110" y="4762"/>
                  </a:lnTo>
                  <a:lnTo>
                    <a:pt x="7895272" y="4762"/>
                  </a:lnTo>
                  <a:lnTo>
                    <a:pt x="7895272" y="0"/>
                  </a:lnTo>
                  <a:lnTo>
                    <a:pt x="7943596" y="9730"/>
                  </a:lnTo>
                  <a:lnTo>
                    <a:pt x="7983044" y="36266"/>
                  </a:lnTo>
                  <a:lnTo>
                    <a:pt x="8009634" y="75625"/>
                  </a:lnTo>
                  <a:lnTo>
                    <a:pt x="8019382" y="123825"/>
                  </a:lnTo>
                  <a:lnTo>
                    <a:pt x="8019382" y="2445639"/>
                  </a:lnTo>
                  <a:lnTo>
                    <a:pt x="8009621" y="2493838"/>
                  </a:lnTo>
                  <a:lnTo>
                    <a:pt x="7983009" y="2533197"/>
                  </a:lnTo>
                  <a:lnTo>
                    <a:pt x="7943556" y="2559733"/>
                  </a:lnTo>
                  <a:lnTo>
                    <a:pt x="7942534" y="2559939"/>
                  </a:lnTo>
                  <a:close/>
                </a:path>
                <a:path w="8019415" h="2569845">
                  <a:moveTo>
                    <a:pt x="7895272" y="2569463"/>
                  </a:moveTo>
                  <a:lnTo>
                    <a:pt x="124099" y="2569463"/>
                  </a:lnTo>
                  <a:lnTo>
                    <a:pt x="124110" y="2564701"/>
                  </a:lnTo>
                  <a:lnTo>
                    <a:pt x="7895272" y="2564701"/>
                  </a:lnTo>
                  <a:lnTo>
                    <a:pt x="7895272" y="2569463"/>
                  </a:lnTo>
                  <a:close/>
                </a:path>
                <a:path w="8019415" h="2569845">
                  <a:moveTo>
                    <a:pt x="7895272" y="2569463"/>
                  </a:moveTo>
                  <a:lnTo>
                    <a:pt x="7895272" y="2564701"/>
                  </a:lnTo>
                  <a:lnTo>
                    <a:pt x="7918901" y="2564701"/>
                  </a:lnTo>
                  <a:lnTo>
                    <a:pt x="7895272" y="2569463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272584" y="4621405"/>
            <a:ext cx="6824345" cy="209359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80" b="1">
                <a:solidFill>
                  <a:srgbClr val="262525"/>
                </a:solidFill>
                <a:latin typeface="Tahoma"/>
                <a:cs typeface="Tahoma"/>
              </a:rPr>
              <a:t>Problem</a:t>
            </a:r>
            <a:r>
              <a:rPr dirty="0" sz="2750" spc="-15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Solved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Traditional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platforms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rely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0">
                <a:solidFill>
                  <a:srgbClr val="262525"/>
                </a:solidFill>
                <a:latin typeface="Verdana"/>
                <a:cs typeface="Verdana"/>
              </a:rPr>
              <a:t>on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0">
                <a:solidFill>
                  <a:srgbClr val="262525"/>
                </a:solidFill>
                <a:latin typeface="Verdana"/>
                <a:cs typeface="Verdana"/>
              </a:rPr>
              <a:t>rigid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keyword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0">
                <a:solidFill>
                  <a:srgbClr val="262525"/>
                </a:solidFill>
                <a:latin typeface="Verdana"/>
                <a:cs typeface="Verdana"/>
              </a:rPr>
              <a:t>matching,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resulting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in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poor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35">
                <a:solidFill>
                  <a:srgbClr val="262525"/>
                </a:solidFill>
                <a:latin typeface="Verdana"/>
                <a:cs typeface="Verdana"/>
              </a:rPr>
              <a:t>accuracy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and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missed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learning opportunities.</a:t>
            </a:r>
            <a:endParaRPr sz="2150">
              <a:latin typeface="Verdana"/>
              <a:cs typeface="Verdana"/>
            </a:endParaRPr>
          </a:p>
        </p:txBody>
      </p:sp>
      <p:grpSp>
        <p:nvGrpSpPr>
          <p:cNvPr id="7" name="object 7" descr=""/>
          <p:cNvGrpSpPr/>
          <p:nvPr/>
        </p:nvGrpSpPr>
        <p:grpSpPr>
          <a:xfrm>
            <a:off x="9280921" y="4585249"/>
            <a:ext cx="8020050" cy="2569845"/>
            <a:chOff x="9280921" y="4585249"/>
            <a:chExt cx="8020050" cy="2569845"/>
          </a:xfrm>
        </p:grpSpPr>
        <p:sp>
          <p:nvSpPr>
            <p:cNvPr id="8" name="object 8" descr=""/>
            <p:cNvSpPr/>
            <p:nvPr/>
          </p:nvSpPr>
          <p:spPr>
            <a:xfrm>
              <a:off x="9285683" y="4590011"/>
              <a:ext cx="8010525" cy="2560320"/>
            </a:xfrm>
            <a:custGeom>
              <a:avLst/>
              <a:gdLst/>
              <a:ahLst/>
              <a:cxnLst/>
              <a:rect l="l" t="t" r="r" b="b"/>
              <a:pathLst>
                <a:path w="8010525" h="2560320">
                  <a:moveTo>
                    <a:pt x="7890700" y="2559939"/>
                  </a:moveTo>
                  <a:lnTo>
                    <a:pt x="119348" y="2559939"/>
                  </a:lnTo>
                  <a:lnTo>
                    <a:pt x="72959" y="2550591"/>
                  </a:lnTo>
                  <a:lnTo>
                    <a:pt x="35009" y="2525089"/>
                  </a:lnTo>
                  <a:lnTo>
                    <a:pt x="9406" y="2487247"/>
                  </a:lnTo>
                  <a:lnTo>
                    <a:pt x="0" y="2440876"/>
                  </a:lnTo>
                  <a:lnTo>
                    <a:pt x="0" y="119062"/>
                  </a:lnTo>
                  <a:lnTo>
                    <a:pt x="9379" y="72732"/>
                  </a:lnTo>
                  <a:lnTo>
                    <a:pt x="34956" y="34885"/>
                  </a:lnTo>
                  <a:lnTo>
                    <a:pt x="72892" y="9361"/>
                  </a:lnTo>
                  <a:lnTo>
                    <a:pt x="119348" y="0"/>
                  </a:lnTo>
                  <a:lnTo>
                    <a:pt x="7890700" y="0"/>
                  </a:lnTo>
                  <a:lnTo>
                    <a:pt x="7937155" y="9361"/>
                  </a:lnTo>
                  <a:lnTo>
                    <a:pt x="7975091" y="34885"/>
                  </a:lnTo>
                  <a:lnTo>
                    <a:pt x="8000669" y="72732"/>
                  </a:lnTo>
                  <a:lnTo>
                    <a:pt x="8010048" y="119062"/>
                  </a:lnTo>
                  <a:lnTo>
                    <a:pt x="8010048" y="2440876"/>
                  </a:lnTo>
                  <a:lnTo>
                    <a:pt x="8000669" y="2487247"/>
                  </a:lnTo>
                  <a:lnTo>
                    <a:pt x="7975091" y="2525089"/>
                  </a:lnTo>
                  <a:lnTo>
                    <a:pt x="7937155" y="2550591"/>
                  </a:lnTo>
                  <a:lnTo>
                    <a:pt x="7890700" y="255993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9280921" y="4585249"/>
              <a:ext cx="8020050" cy="2569845"/>
            </a:xfrm>
            <a:custGeom>
              <a:avLst/>
              <a:gdLst/>
              <a:ahLst/>
              <a:cxnLst/>
              <a:rect l="l" t="t" r="r" b="b"/>
              <a:pathLst>
                <a:path w="8020050" h="2569845">
                  <a:moveTo>
                    <a:pt x="124110" y="2569463"/>
                  </a:moveTo>
                  <a:lnTo>
                    <a:pt x="123827" y="2569463"/>
                  </a:lnTo>
                  <a:lnTo>
                    <a:pt x="75786" y="2559733"/>
                  </a:lnTo>
                  <a:lnTo>
                    <a:pt x="36338" y="2533197"/>
                  </a:lnTo>
                  <a:lnTo>
                    <a:pt x="9748" y="2493838"/>
                  </a:lnTo>
                  <a:lnTo>
                    <a:pt x="0" y="2445639"/>
                  </a:lnTo>
                  <a:lnTo>
                    <a:pt x="0" y="123825"/>
                  </a:lnTo>
                  <a:lnTo>
                    <a:pt x="9761" y="75625"/>
                  </a:lnTo>
                  <a:lnTo>
                    <a:pt x="36373" y="36266"/>
                  </a:lnTo>
                  <a:lnTo>
                    <a:pt x="75826" y="9730"/>
                  </a:lnTo>
                  <a:lnTo>
                    <a:pt x="124110" y="0"/>
                  </a:lnTo>
                  <a:lnTo>
                    <a:pt x="7895462" y="0"/>
                  </a:lnTo>
                  <a:lnTo>
                    <a:pt x="7895462" y="4762"/>
                  </a:lnTo>
                  <a:lnTo>
                    <a:pt x="124110" y="4762"/>
                  </a:lnTo>
                  <a:lnTo>
                    <a:pt x="124110" y="9525"/>
                  </a:lnTo>
                  <a:lnTo>
                    <a:pt x="79524" y="18517"/>
                  </a:lnTo>
                  <a:lnTo>
                    <a:pt x="43100" y="43029"/>
                  </a:lnTo>
                  <a:lnTo>
                    <a:pt x="18535" y="79364"/>
                  </a:lnTo>
                  <a:lnTo>
                    <a:pt x="9525" y="123825"/>
                  </a:lnTo>
                  <a:lnTo>
                    <a:pt x="9525" y="2445639"/>
                  </a:lnTo>
                  <a:lnTo>
                    <a:pt x="18535" y="2490140"/>
                  </a:lnTo>
                  <a:lnTo>
                    <a:pt x="43100" y="2526470"/>
                  </a:lnTo>
                  <a:lnTo>
                    <a:pt x="79524" y="2550960"/>
                  </a:lnTo>
                  <a:lnTo>
                    <a:pt x="124110" y="2559939"/>
                  </a:lnTo>
                  <a:lnTo>
                    <a:pt x="7942725" y="2559939"/>
                  </a:lnTo>
                  <a:lnTo>
                    <a:pt x="7919092" y="2564701"/>
                  </a:lnTo>
                  <a:lnTo>
                    <a:pt x="124110" y="2564701"/>
                  </a:lnTo>
                  <a:lnTo>
                    <a:pt x="124110" y="2569463"/>
                  </a:lnTo>
                  <a:close/>
                </a:path>
                <a:path w="8020050" h="2569845">
                  <a:moveTo>
                    <a:pt x="7942725" y="2559939"/>
                  </a:moveTo>
                  <a:lnTo>
                    <a:pt x="7895462" y="2559939"/>
                  </a:lnTo>
                  <a:lnTo>
                    <a:pt x="7940021" y="2550960"/>
                  </a:lnTo>
                  <a:lnTo>
                    <a:pt x="7976455" y="2526470"/>
                  </a:lnTo>
                  <a:lnTo>
                    <a:pt x="8001024" y="2490140"/>
                  </a:lnTo>
                  <a:lnTo>
                    <a:pt x="8010048" y="2445639"/>
                  </a:lnTo>
                  <a:lnTo>
                    <a:pt x="8010048" y="123825"/>
                  </a:lnTo>
                  <a:lnTo>
                    <a:pt x="8001046" y="79364"/>
                  </a:lnTo>
                  <a:lnTo>
                    <a:pt x="7976496" y="43029"/>
                  </a:lnTo>
                  <a:lnTo>
                    <a:pt x="7940068" y="18517"/>
                  </a:lnTo>
                  <a:lnTo>
                    <a:pt x="7895462" y="9525"/>
                  </a:lnTo>
                  <a:lnTo>
                    <a:pt x="124110" y="9525"/>
                  </a:lnTo>
                  <a:lnTo>
                    <a:pt x="124110" y="4762"/>
                  </a:lnTo>
                  <a:lnTo>
                    <a:pt x="7895462" y="4762"/>
                  </a:lnTo>
                  <a:lnTo>
                    <a:pt x="7895462" y="0"/>
                  </a:lnTo>
                  <a:lnTo>
                    <a:pt x="7943786" y="9730"/>
                  </a:lnTo>
                  <a:lnTo>
                    <a:pt x="7983235" y="36266"/>
                  </a:lnTo>
                  <a:lnTo>
                    <a:pt x="8009824" y="75625"/>
                  </a:lnTo>
                  <a:lnTo>
                    <a:pt x="8019573" y="123825"/>
                  </a:lnTo>
                  <a:lnTo>
                    <a:pt x="8019573" y="2445639"/>
                  </a:lnTo>
                  <a:lnTo>
                    <a:pt x="8009811" y="2493838"/>
                  </a:lnTo>
                  <a:lnTo>
                    <a:pt x="7983199" y="2533197"/>
                  </a:lnTo>
                  <a:lnTo>
                    <a:pt x="7943746" y="2559733"/>
                  </a:lnTo>
                  <a:lnTo>
                    <a:pt x="7942725" y="2559939"/>
                  </a:lnTo>
                  <a:close/>
                </a:path>
                <a:path w="8020050" h="2569845">
                  <a:moveTo>
                    <a:pt x="7895462" y="2569463"/>
                  </a:moveTo>
                  <a:lnTo>
                    <a:pt x="124099" y="2569463"/>
                  </a:lnTo>
                  <a:lnTo>
                    <a:pt x="124110" y="2564701"/>
                  </a:lnTo>
                  <a:lnTo>
                    <a:pt x="7895462" y="2564701"/>
                  </a:lnTo>
                  <a:lnTo>
                    <a:pt x="7895462" y="2569463"/>
                  </a:lnTo>
                  <a:close/>
                </a:path>
                <a:path w="8020050" h="2569845">
                  <a:moveTo>
                    <a:pt x="7895462" y="2569463"/>
                  </a:moveTo>
                  <a:lnTo>
                    <a:pt x="7895462" y="2564701"/>
                  </a:lnTo>
                  <a:lnTo>
                    <a:pt x="7919092" y="2564701"/>
                  </a:lnTo>
                  <a:lnTo>
                    <a:pt x="7895462" y="2569463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/>
          <p:nvPr/>
        </p:nvSpPr>
        <p:spPr>
          <a:xfrm>
            <a:off x="9566030" y="4621405"/>
            <a:ext cx="7387590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Significance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60"/>
              </a:spcBef>
            </a:pP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Creates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an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0">
                <a:solidFill>
                  <a:srgbClr val="262525"/>
                </a:solidFill>
                <a:latin typeface="Verdana"/>
                <a:cs typeface="Verdana"/>
              </a:rPr>
              <a:t>intelligent,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transparent,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and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5">
                <a:solidFill>
                  <a:srgbClr val="262525"/>
                </a:solidFill>
                <a:latin typeface="Verdana"/>
                <a:cs typeface="Verdana"/>
              </a:rPr>
              <a:t>cost-</a:t>
            </a:r>
            <a:r>
              <a:rPr dirty="0" sz="2150" spc="-45">
                <a:solidFill>
                  <a:srgbClr val="262525"/>
                </a:solidFill>
                <a:latin typeface="Verdana"/>
                <a:cs typeface="Verdana"/>
              </a:rPr>
              <a:t>efficient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skill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exchange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ecosystem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using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0">
                <a:solidFill>
                  <a:srgbClr val="262525"/>
                </a:solidFill>
                <a:latin typeface="Verdana"/>
                <a:cs typeface="Verdana"/>
              </a:rPr>
              <a:t>advanced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70">
                <a:solidFill>
                  <a:srgbClr val="262525"/>
                </a:solidFill>
                <a:latin typeface="Verdana"/>
                <a:cs typeface="Verdana"/>
              </a:rPr>
              <a:t>AI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techniques.</a:t>
            </a:r>
            <a:endParaRPr sz="2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018759" y="9431855"/>
            <a:ext cx="3269615" cy="769620"/>
          </a:xfrm>
          <a:custGeom>
            <a:avLst/>
            <a:gdLst/>
            <a:ahLst/>
            <a:cxnLst/>
            <a:rect l="l" t="t" r="r" b="b"/>
            <a:pathLst>
              <a:path w="3269615" h="769620">
                <a:moveTo>
                  <a:pt x="3252813" y="769419"/>
                </a:moveTo>
                <a:lnTo>
                  <a:pt x="0" y="692232"/>
                </a:lnTo>
                <a:lnTo>
                  <a:pt x="16426" y="0"/>
                </a:lnTo>
                <a:lnTo>
                  <a:pt x="3269239" y="77186"/>
                </a:lnTo>
                <a:lnTo>
                  <a:pt x="3252813" y="76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538" y="1618865"/>
            <a:ext cx="6289040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-140"/>
              <a:t>Project</a:t>
            </a:r>
            <a:r>
              <a:rPr dirty="0" sz="5550" spc="-285"/>
              <a:t> </a:t>
            </a:r>
            <a:r>
              <a:rPr dirty="0" sz="5550" spc="-45"/>
              <a:t>Objectives</a:t>
            </a:r>
            <a:endParaRPr sz="5550"/>
          </a:p>
        </p:txBody>
      </p:sp>
      <p:sp>
        <p:nvSpPr>
          <p:cNvPr id="4" name="object 4" descr=""/>
          <p:cNvSpPr txBox="1"/>
          <p:nvPr/>
        </p:nvSpPr>
        <p:spPr>
          <a:xfrm>
            <a:off x="979538" y="3076638"/>
            <a:ext cx="30226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-60">
                <a:solidFill>
                  <a:srgbClr val="262525"/>
                </a:solidFill>
                <a:latin typeface="Tahoma"/>
                <a:cs typeface="Tahoma"/>
              </a:rPr>
              <a:t>01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992238" y="3556101"/>
            <a:ext cx="5245735" cy="38100"/>
          </a:xfrm>
          <a:custGeom>
            <a:avLst/>
            <a:gdLst/>
            <a:ahLst/>
            <a:cxnLst/>
            <a:rect l="l" t="t" r="r" b="b"/>
            <a:pathLst>
              <a:path w="5245735" h="38100">
                <a:moveTo>
                  <a:pt x="5245446" y="38099"/>
                </a:moveTo>
                <a:lnTo>
                  <a:pt x="0" y="38099"/>
                </a:lnTo>
                <a:lnTo>
                  <a:pt x="0" y="0"/>
                </a:lnTo>
                <a:lnTo>
                  <a:pt x="5245446" y="0"/>
                </a:lnTo>
                <a:lnTo>
                  <a:pt x="5245446" y="3809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979538" y="3746268"/>
            <a:ext cx="4726305" cy="185483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20"/>
              </a:spcBef>
            </a:pPr>
            <a:r>
              <a:rPr dirty="0" sz="2750" spc="-50" b="1">
                <a:solidFill>
                  <a:srgbClr val="262525"/>
                </a:solidFill>
                <a:latin typeface="Tahoma"/>
                <a:cs typeface="Tahoma"/>
              </a:rPr>
              <a:t>Develop</a:t>
            </a:r>
            <a:r>
              <a:rPr dirty="0" sz="2750" spc="-15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130" b="1">
                <a:solidFill>
                  <a:srgbClr val="262525"/>
                </a:solidFill>
                <a:latin typeface="Tahoma"/>
                <a:cs typeface="Tahoma"/>
              </a:rPr>
              <a:t>AI-</a:t>
            </a:r>
            <a:r>
              <a:rPr dirty="0" sz="2750" spc="-30" b="1">
                <a:solidFill>
                  <a:srgbClr val="262525"/>
                </a:solidFill>
                <a:latin typeface="Tahoma"/>
                <a:cs typeface="Tahoma"/>
              </a:rPr>
              <a:t>Based</a:t>
            </a:r>
            <a:r>
              <a:rPr dirty="0" sz="2750" spc="-15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30" b="1">
                <a:solidFill>
                  <a:srgbClr val="262525"/>
                </a:solidFill>
                <a:latin typeface="Tahoma"/>
                <a:cs typeface="Tahoma"/>
              </a:rPr>
              <a:t>Semantic </a:t>
            </a: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Matching</a:t>
            </a:r>
            <a:endParaRPr sz="2750">
              <a:latin typeface="Tahoma"/>
              <a:cs typeface="Tahoma"/>
            </a:endParaRPr>
          </a:p>
          <a:p>
            <a:pPr marL="12700" marR="10160">
              <a:lnSpc>
                <a:spcPct val="136600"/>
              </a:lnSpc>
              <a:spcBef>
                <a:spcPts val="670"/>
              </a:spcBef>
            </a:pP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Build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0">
                <a:solidFill>
                  <a:srgbClr val="262525"/>
                </a:solidFill>
                <a:latin typeface="Verdana"/>
                <a:cs typeface="Verdana"/>
              </a:rPr>
              <a:t>a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system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that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understands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0">
                <a:solidFill>
                  <a:srgbClr val="262525"/>
                </a:solidFill>
                <a:latin typeface="Verdana"/>
                <a:cs typeface="Verdana"/>
              </a:rPr>
              <a:t>skill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relationships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beyond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keywords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508505" y="3076638"/>
            <a:ext cx="36258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10">
                <a:solidFill>
                  <a:srgbClr val="262525"/>
                </a:solidFill>
                <a:latin typeface="Tahoma"/>
                <a:cs typeface="Tahoma"/>
              </a:rPr>
              <a:t>02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6521205" y="3556101"/>
            <a:ext cx="5245735" cy="38100"/>
          </a:xfrm>
          <a:custGeom>
            <a:avLst/>
            <a:gdLst/>
            <a:ahLst/>
            <a:cxnLst/>
            <a:rect l="l" t="t" r="r" b="b"/>
            <a:pathLst>
              <a:path w="5245734" h="38100">
                <a:moveTo>
                  <a:pt x="5245446" y="38099"/>
                </a:moveTo>
                <a:lnTo>
                  <a:pt x="0" y="38099"/>
                </a:lnTo>
                <a:lnTo>
                  <a:pt x="0" y="0"/>
                </a:lnTo>
                <a:lnTo>
                  <a:pt x="5245446" y="0"/>
                </a:lnTo>
                <a:lnTo>
                  <a:pt x="5245446" y="3809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6508505" y="3746268"/>
            <a:ext cx="4714875" cy="185483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5080">
              <a:lnSpc>
                <a:spcPct val="102299"/>
              </a:lnSpc>
              <a:spcBef>
                <a:spcPts val="20"/>
              </a:spcBef>
            </a:pPr>
            <a:r>
              <a:rPr dirty="0" sz="2750" spc="-150" b="1">
                <a:solidFill>
                  <a:srgbClr val="262525"/>
                </a:solidFill>
                <a:latin typeface="Tahoma"/>
                <a:cs typeface="Tahoma"/>
              </a:rPr>
              <a:t>Implement</a:t>
            </a:r>
            <a:r>
              <a:rPr dirty="0" sz="2750" spc="-17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b="1">
                <a:solidFill>
                  <a:srgbClr val="262525"/>
                </a:solidFill>
                <a:latin typeface="Tahoma"/>
                <a:cs typeface="Tahoma"/>
              </a:rPr>
              <a:t>Vector</a:t>
            </a:r>
            <a:r>
              <a:rPr dirty="0" sz="2750" spc="-16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60" b="1">
                <a:solidFill>
                  <a:srgbClr val="262525"/>
                </a:solidFill>
                <a:latin typeface="Tahoma"/>
                <a:cs typeface="Tahoma"/>
              </a:rPr>
              <a:t>Similarity </a:t>
            </a: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Search</a:t>
            </a:r>
            <a:endParaRPr sz="2750">
              <a:latin typeface="Tahoma"/>
              <a:cs typeface="Tahoma"/>
            </a:endParaRPr>
          </a:p>
          <a:p>
            <a:pPr marL="12700" marR="38100">
              <a:lnSpc>
                <a:spcPct val="136600"/>
              </a:lnSpc>
              <a:spcBef>
                <a:spcPts val="670"/>
              </a:spcBef>
            </a:pPr>
            <a:r>
              <a:rPr dirty="0" sz="2150">
                <a:solidFill>
                  <a:srgbClr val="262525"/>
                </a:solidFill>
                <a:latin typeface="Verdana"/>
                <a:cs typeface="Verdana"/>
              </a:rPr>
              <a:t>Use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embeddings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and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ChromaDB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5">
                <a:solidFill>
                  <a:srgbClr val="262525"/>
                </a:solidFill>
                <a:latin typeface="Verdana"/>
                <a:cs typeface="Verdana"/>
              </a:rPr>
              <a:t>for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intelligent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matching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2037462" y="3076638"/>
            <a:ext cx="361950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10">
                <a:solidFill>
                  <a:srgbClr val="262525"/>
                </a:solidFill>
                <a:latin typeface="Tahoma"/>
                <a:cs typeface="Tahoma"/>
              </a:rPr>
              <a:t>03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2050162" y="3556101"/>
            <a:ext cx="5245735" cy="38100"/>
          </a:xfrm>
          <a:custGeom>
            <a:avLst/>
            <a:gdLst/>
            <a:ahLst/>
            <a:cxnLst/>
            <a:rect l="l" t="t" r="r" b="b"/>
            <a:pathLst>
              <a:path w="5245734" h="38100">
                <a:moveTo>
                  <a:pt x="5245446" y="38099"/>
                </a:moveTo>
                <a:lnTo>
                  <a:pt x="0" y="38099"/>
                </a:lnTo>
                <a:lnTo>
                  <a:pt x="0" y="0"/>
                </a:lnTo>
                <a:lnTo>
                  <a:pt x="5245446" y="0"/>
                </a:lnTo>
                <a:lnTo>
                  <a:pt x="5245446" y="3809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2037462" y="3512355"/>
            <a:ext cx="5053330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140" b="1">
                <a:solidFill>
                  <a:srgbClr val="262525"/>
                </a:solidFill>
                <a:latin typeface="Tahoma"/>
                <a:cs typeface="Tahoma"/>
              </a:rPr>
              <a:t>Integrate</a:t>
            </a:r>
            <a:r>
              <a:rPr dirty="0" sz="2750" spc="-15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25" b="1">
                <a:solidFill>
                  <a:srgbClr val="262525"/>
                </a:solidFill>
                <a:latin typeface="Tahoma"/>
                <a:cs typeface="Tahoma"/>
              </a:rPr>
              <a:t>Local</a:t>
            </a:r>
            <a:r>
              <a:rPr dirty="0" sz="2750" spc="-15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25" b="1">
                <a:solidFill>
                  <a:srgbClr val="262525"/>
                </a:solidFill>
                <a:latin typeface="Tahoma"/>
                <a:cs typeface="Tahoma"/>
              </a:rPr>
              <a:t>LLM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Generate</a:t>
            </a:r>
            <a:r>
              <a:rPr dirty="0" sz="2150" spc="-10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transparent,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human-</a:t>
            </a:r>
            <a:r>
              <a:rPr dirty="0" sz="2150" spc="-35">
                <a:solidFill>
                  <a:srgbClr val="262525"/>
                </a:solidFill>
                <a:latin typeface="Verdana"/>
                <a:cs typeface="Verdana"/>
              </a:rPr>
              <a:t>readable </a:t>
            </a: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match</a:t>
            </a:r>
            <a:r>
              <a:rPr dirty="0" sz="2150" spc="-15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explanations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79538" y="6197561"/>
            <a:ext cx="36893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140">
                <a:solidFill>
                  <a:srgbClr val="262525"/>
                </a:solidFill>
                <a:latin typeface="Tahoma"/>
                <a:cs typeface="Tahoma"/>
              </a:rPr>
              <a:t>04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992238" y="6677025"/>
            <a:ext cx="8010525" cy="38100"/>
          </a:xfrm>
          <a:custGeom>
            <a:avLst/>
            <a:gdLst/>
            <a:ahLst/>
            <a:cxnLst/>
            <a:rect l="l" t="t" r="r" b="b"/>
            <a:pathLst>
              <a:path w="8010525" h="38100">
                <a:moveTo>
                  <a:pt x="8009929" y="38099"/>
                </a:moveTo>
                <a:lnTo>
                  <a:pt x="0" y="38099"/>
                </a:lnTo>
                <a:lnTo>
                  <a:pt x="0" y="0"/>
                </a:lnTo>
                <a:lnTo>
                  <a:pt x="8009929" y="0"/>
                </a:lnTo>
                <a:lnTo>
                  <a:pt x="8009929" y="3809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979538" y="6633277"/>
            <a:ext cx="6042025" cy="1198245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85" b="1">
                <a:solidFill>
                  <a:srgbClr val="262525"/>
                </a:solidFill>
                <a:latin typeface="Tahoma"/>
                <a:cs typeface="Tahoma"/>
              </a:rPr>
              <a:t>Build</a:t>
            </a:r>
            <a:r>
              <a:rPr dirty="0" sz="2750" spc="-13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50" b="1">
                <a:solidFill>
                  <a:srgbClr val="262525"/>
                </a:solidFill>
                <a:latin typeface="Tahoma"/>
                <a:cs typeface="Tahoma"/>
              </a:rPr>
              <a:t>Production-</a:t>
            </a:r>
            <a:r>
              <a:rPr dirty="0" sz="2750" spc="-65" b="1">
                <a:solidFill>
                  <a:srgbClr val="262525"/>
                </a:solidFill>
                <a:latin typeface="Tahoma"/>
                <a:cs typeface="Tahoma"/>
              </a:rPr>
              <a:t>Ready</a:t>
            </a:r>
            <a:r>
              <a:rPr dirty="0" sz="2750" spc="-12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Application</a:t>
            </a:r>
            <a:endParaRPr sz="27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0"/>
              </a:spcBef>
            </a:pP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Deploy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0">
                <a:solidFill>
                  <a:srgbClr val="262525"/>
                </a:solidFill>
                <a:latin typeface="Verdana"/>
                <a:cs typeface="Verdana"/>
              </a:rPr>
              <a:t>a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45">
                <a:solidFill>
                  <a:srgbClr val="262525"/>
                </a:solidFill>
                <a:latin typeface="Verdana"/>
                <a:cs typeface="Verdana"/>
              </a:rPr>
              <a:t>scalable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full-stack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solution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272984" y="6197561"/>
            <a:ext cx="354965" cy="3587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50" spc="80">
                <a:solidFill>
                  <a:srgbClr val="262525"/>
                </a:solidFill>
                <a:latin typeface="Tahoma"/>
                <a:cs typeface="Tahoma"/>
              </a:rPr>
              <a:t>05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9285684" y="6677025"/>
            <a:ext cx="8010525" cy="38100"/>
          </a:xfrm>
          <a:custGeom>
            <a:avLst/>
            <a:gdLst/>
            <a:ahLst/>
            <a:cxnLst/>
            <a:rect l="l" t="t" r="r" b="b"/>
            <a:pathLst>
              <a:path w="8010525" h="38100">
                <a:moveTo>
                  <a:pt x="8009929" y="38099"/>
                </a:moveTo>
                <a:lnTo>
                  <a:pt x="0" y="38099"/>
                </a:lnTo>
                <a:lnTo>
                  <a:pt x="0" y="0"/>
                </a:lnTo>
                <a:lnTo>
                  <a:pt x="8009929" y="0"/>
                </a:lnTo>
                <a:lnTo>
                  <a:pt x="8009929" y="38099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9272984" y="6633277"/>
            <a:ext cx="6813550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85" b="1">
                <a:solidFill>
                  <a:srgbClr val="262525"/>
                </a:solidFill>
                <a:latin typeface="Tahoma"/>
                <a:cs typeface="Tahoma"/>
              </a:rPr>
              <a:t>Demonstrate</a:t>
            </a:r>
            <a:r>
              <a:rPr dirty="0" sz="2750" spc="-12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30" b="1">
                <a:solidFill>
                  <a:srgbClr val="262525"/>
                </a:solidFill>
                <a:latin typeface="Tahoma"/>
                <a:cs typeface="Tahoma"/>
              </a:rPr>
              <a:t>Applied</a:t>
            </a:r>
            <a:r>
              <a:rPr dirty="0" sz="2750" spc="-12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25" b="1">
                <a:solidFill>
                  <a:srgbClr val="262525"/>
                </a:solidFill>
                <a:latin typeface="Tahoma"/>
                <a:cs typeface="Tahoma"/>
              </a:rPr>
              <a:t>AI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 spc="-40">
                <a:solidFill>
                  <a:srgbClr val="262525"/>
                </a:solidFill>
                <a:latin typeface="Verdana"/>
                <a:cs typeface="Verdana"/>
              </a:rPr>
              <a:t>Showcase</a:t>
            </a:r>
            <a:r>
              <a:rPr dirty="0" sz="2150" spc="-1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real-</a:t>
            </a:r>
            <a:r>
              <a:rPr dirty="0" sz="2150" spc="-60">
                <a:solidFill>
                  <a:srgbClr val="262525"/>
                </a:solidFill>
                <a:latin typeface="Verdana"/>
                <a:cs typeface="Verdana"/>
              </a:rPr>
              <a:t>world</a:t>
            </a:r>
            <a:r>
              <a:rPr dirty="0" sz="2150" spc="-1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70">
                <a:solidFill>
                  <a:srgbClr val="262525"/>
                </a:solidFill>
                <a:latin typeface="Verdana"/>
                <a:cs typeface="Verdana"/>
              </a:rPr>
              <a:t>AI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implementation</a:t>
            </a:r>
            <a:r>
              <a:rPr dirty="0" sz="2150" spc="-1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in</a:t>
            </a: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education technology</a:t>
            </a:r>
            <a:endParaRPr sz="2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9538" y="2239924"/>
            <a:ext cx="478345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-140"/>
              <a:t>Project</a:t>
            </a:r>
            <a:r>
              <a:rPr dirty="0" sz="5550" spc="-285"/>
              <a:t> </a:t>
            </a:r>
            <a:r>
              <a:rPr dirty="0" sz="5550" spc="-10"/>
              <a:t>Scope</a:t>
            </a:r>
            <a:endParaRPr sz="555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488" y="4811610"/>
            <a:ext cx="85725" cy="85724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488" y="5259285"/>
            <a:ext cx="85725" cy="85724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488" y="5706960"/>
            <a:ext cx="85725" cy="8572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488" y="6154635"/>
            <a:ext cx="85725" cy="85724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488" y="6602310"/>
            <a:ext cx="85725" cy="85724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488" y="7049985"/>
            <a:ext cx="85725" cy="857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79538" y="3841762"/>
            <a:ext cx="5219065" cy="340995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0" b="1">
                <a:latin typeface="Tahoma"/>
                <a:cs typeface="Tahoma"/>
              </a:rPr>
              <a:t>Inclusions</a:t>
            </a:r>
            <a:endParaRPr sz="3300">
              <a:latin typeface="Tahoma"/>
              <a:cs typeface="Tahoma"/>
            </a:endParaRPr>
          </a:p>
          <a:p>
            <a:pPr marL="342265" marR="5080">
              <a:lnSpc>
                <a:spcPct val="136600"/>
              </a:lnSpc>
              <a:spcBef>
                <a:spcPts val="1520"/>
              </a:spcBef>
            </a:pPr>
            <a:r>
              <a:rPr dirty="0" sz="2150" spc="75">
                <a:solidFill>
                  <a:srgbClr val="262525"/>
                </a:solidFill>
                <a:latin typeface="Verdana"/>
                <a:cs typeface="Verdana"/>
              </a:rPr>
              <a:t>JWT-</a:t>
            </a:r>
            <a:r>
              <a:rPr dirty="0" sz="2150" spc="-40">
                <a:solidFill>
                  <a:srgbClr val="262525"/>
                </a:solidFill>
                <a:latin typeface="Verdana"/>
                <a:cs typeface="Verdana"/>
              </a:rPr>
              <a:t>based</a:t>
            </a:r>
            <a:r>
              <a:rPr dirty="0" sz="21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authentication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system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Skill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profile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0">
                <a:solidFill>
                  <a:srgbClr val="262525"/>
                </a:solidFill>
                <a:latin typeface="Verdana"/>
                <a:cs typeface="Verdana"/>
              </a:rPr>
              <a:t>creation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and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management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Embedding</a:t>
            </a:r>
            <a:r>
              <a:rPr dirty="0" sz="2150" spc="-1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generation</a:t>
            </a:r>
            <a:r>
              <a:rPr dirty="0" sz="2150" spc="-1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pipeline </a:t>
            </a:r>
            <a:r>
              <a:rPr dirty="0" sz="2150" spc="-40">
                <a:solidFill>
                  <a:srgbClr val="262525"/>
                </a:solidFill>
                <a:latin typeface="Verdana"/>
                <a:cs typeface="Verdana"/>
              </a:rPr>
              <a:t>Vector</a:t>
            </a:r>
            <a:r>
              <a:rPr dirty="0" sz="2150" spc="-15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0">
                <a:solidFill>
                  <a:srgbClr val="262525"/>
                </a:solidFill>
                <a:latin typeface="Verdana"/>
                <a:cs typeface="Verdana"/>
              </a:rPr>
              <a:t>storage</a:t>
            </a:r>
            <a:r>
              <a:rPr dirty="0" sz="2150" spc="-14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using</a:t>
            </a:r>
            <a:r>
              <a:rPr dirty="0" sz="2150" spc="-14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ChromaDB</a:t>
            </a:r>
            <a:endParaRPr sz="2150">
              <a:latin typeface="Verdana"/>
              <a:cs typeface="Verdana"/>
            </a:endParaRPr>
          </a:p>
          <a:p>
            <a:pPr marL="342265" marR="226060">
              <a:lnSpc>
                <a:spcPct val="136600"/>
              </a:lnSpc>
            </a:pPr>
            <a:r>
              <a:rPr dirty="0" sz="2150" spc="-114">
                <a:solidFill>
                  <a:srgbClr val="262525"/>
                </a:solidFill>
                <a:latin typeface="Verdana"/>
                <a:cs typeface="Verdana"/>
              </a:rPr>
              <a:t>AI-</a:t>
            </a:r>
            <a:r>
              <a:rPr dirty="0" sz="2150" spc="-40">
                <a:solidFill>
                  <a:srgbClr val="262525"/>
                </a:solidFill>
                <a:latin typeface="Verdana"/>
                <a:cs typeface="Verdana"/>
              </a:rPr>
              <a:t>based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semantic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matching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0">
                <a:solidFill>
                  <a:srgbClr val="262525"/>
                </a:solidFill>
                <a:latin typeface="Verdana"/>
                <a:cs typeface="Verdana"/>
              </a:rPr>
              <a:t>engine </a:t>
            </a:r>
            <a:r>
              <a:rPr dirty="0" sz="2150">
                <a:solidFill>
                  <a:srgbClr val="262525"/>
                </a:solidFill>
                <a:latin typeface="Verdana"/>
                <a:cs typeface="Verdana"/>
              </a:rPr>
              <a:t>LLM-</a:t>
            </a:r>
            <a:r>
              <a:rPr dirty="0" sz="2150" spc="-45">
                <a:solidFill>
                  <a:srgbClr val="262525"/>
                </a:solidFill>
                <a:latin typeface="Verdana"/>
                <a:cs typeface="Verdana"/>
              </a:rPr>
              <a:t>powered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explanation</a:t>
            </a:r>
            <a:r>
              <a:rPr dirty="0" sz="2150" spc="-6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system</a:t>
            </a:r>
            <a:endParaRPr sz="215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9295208" y="3591515"/>
            <a:ext cx="8211820" cy="4415155"/>
            <a:chOff x="9295208" y="3591515"/>
            <a:chExt cx="8211820" cy="4415155"/>
          </a:xfrm>
        </p:grpSpPr>
        <p:sp>
          <p:nvSpPr>
            <p:cNvPr id="11" name="object 11" descr=""/>
            <p:cNvSpPr/>
            <p:nvPr/>
          </p:nvSpPr>
          <p:spPr>
            <a:xfrm>
              <a:off x="9295208" y="3591515"/>
              <a:ext cx="8211820" cy="4415155"/>
            </a:xfrm>
            <a:custGeom>
              <a:avLst/>
              <a:gdLst/>
              <a:ahLst/>
              <a:cxnLst/>
              <a:rect l="l" t="t" r="r" b="b"/>
              <a:pathLst>
                <a:path w="8211819" h="4415155">
                  <a:moveTo>
                    <a:pt x="8010144" y="4415132"/>
                  </a:moveTo>
                  <a:lnTo>
                    <a:pt x="204120" y="4415132"/>
                  </a:lnTo>
                  <a:lnTo>
                    <a:pt x="157334" y="4409734"/>
                  </a:lnTo>
                  <a:lnTo>
                    <a:pt x="114376" y="4394383"/>
                  </a:lnTo>
                  <a:lnTo>
                    <a:pt x="76475" y="4370293"/>
                  </a:lnTo>
                  <a:lnTo>
                    <a:pt x="44859" y="4338687"/>
                  </a:lnTo>
                  <a:lnTo>
                    <a:pt x="20756" y="4300788"/>
                  </a:lnTo>
                  <a:lnTo>
                    <a:pt x="5393" y="4257819"/>
                  </a:lnTo>
                  <a:lnTo>
                    <a:pt x="0" y="4211002"/>
                  </a:lnTo>
                  <a:lnTo>
                    <a:pt x="0" y="204120"/>
                  </a:lnTo>
                  <a:lnTo>
                    <a:pt x="5393" y="157334"/>
                  </a:lnTo>
                  <a:lnTo>
                    <a:pt x="20756" y="114376"/>
                  </a:lnTo>
                  <a:lnTo>
                    <a:pt x="44859" y="76475"/>
                  </a:lnTo>
                  <a:lnTo>
                    <a:pt x="76475" y="44859"/>
                  </a:lnTo>
                  <a:lnTo>
                    <a:pt x="114376" y="20756"/>
                  </a:lnTo>
                  <a:lnTo>
                    <a:pt x="157334" y="5393"/>
                  </a:lnTo>
                  <a:lnTo>
                    <a:pt x="204120" y="0"/>
                  </a:lnTo>
                  <a:lnTo>
                    <a:pt x="8010144" y="0"/>
                  </a:lnTo>
                  <a:lnTo>
                    <a:pt x="8056960" y="5393"/>
                  </a:lnTo>
                  <a:lnTo>
                    <a:pt x="8099930" y="20756"/>
                  </a:lnTo>
                  <a:lnTo>
                    <a:pt x="8137829" y="44859"/>
                  </a:lnTo>
                  <a:lnTo>
                    <a:pt x="8169435" y="76475"/>
                  </a:lnTo>
                  <a:lnTo>
                    <a:pt x="8193525" y="114376"/>
                  </a:lnTo>
                  <a:lnTo>
                    <a:pt x="8208876" y="157334"/>
                  </a:lnTo>
                  <a:lnTo>
                    <a:pt x="8211766" y="182426"/>
                  </a:lnTo>
                  <a:lnTo>
                    <a:pt x="8211766" y="4232690"/>
                  </a:lnTo>
                  <a:lnTo>
                    <a:pt x="8193508" y="4300788"/>
                  </a:lnTo>
                  <a:lnTo>
                    <a:pt x="8169405" y="4338687"/>
                  </a:lnTo>
                  <a:lnTo>
                    <a:pt x="8137789" y="4370293"/>
                  </a:lnTo>
                  <a:lnTo>
                    <a:pt x="8099888" y="4394383"/>
                  </a:lnTo>
                  <a:lnTo>
                    <a:pt x="8056930" y="4409734"/>
                  </a:lnTo>
                  <a:lnTo>
                    <a:pt x="8010144" y="4415132"/>
                  </a:lnTo>
                  <a:close/>
                </a:path>
              </a:pathLst>
            </a:custGeom>
            <a:solidFill>
              <a:srgbClr val="5D98F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3980" y="4811610"/>
              <a:ext cx="85725" cy="857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73980" y="5259285"/>
              <a:ext cx="85725" cy="85724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9566030" y="3841762"/>
            <a:ext cx="6738620" cy="20669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300" spc="-10" b="1">
                <a:latin typeface="Tahoma"/>
                <a:cs typeface="Tahoma"/>
              </a:rPr>
              <a:t>Exclusions</a:t>
            </a:r>
            <a:endParaRPr sz="3300">
              <a:latin typeface="Tahoma"/>
              <a:cs typeface="Tahoma"/>
            </a:endParaRPr>
          </a:p>
          <a:p>
            <a:pPr marL="342265" marR="5080">
              <a:lnSpc>
                <a:spcPct val="136600"/>
              </a:lnSpc>
              <a:spcBef>
                <a:spcPts val="1520"/>
              </a:spcBef>
            </a:pPr>
            <a:r>
              <a:rPr dirty="0" sz="2150" spc="-70">
                <a:latin typeface="Verdana"/>
                <a:cs typeface="Verdana"/>
              </a:rPr>
              <a:t>Real-</a:t>
            </a:r>
            <a:r>
              <a:rPr dirty="0" sz="2150" spc="-120">
                <a:latin typeface="Verdana"/>
                <a:cs typeface="Verdana"/>
              </a:rPr>
              <a:t>time</a:t>
            </a:r>
            <a:r>
              <a:rPr dirty="0" sz="2150" spc="-125">
                <a:latin typeface="Verdana"/>
                <a:cs typeface="Verdana"/>
              </a:rPr>
              <a:t> </a:t>
            </a:r>
            <a:r>
              <a:rPr dirty="0" sz="2150" spc="-60">
                <a:latin typeface="Verdana"/>
                <a:cs typeface="Verdana"/>
              </a:rPr>
              <a:t>video</a:t>
            </a:r>
            <a:r>
              <a:rPr dirty="0" sz="2150" spc="-125">
                <a:latin typeface="Verdana"/>
                <a:cs typeface="Verdana"/>
              </a:rPr>
              <a:t> </a:t>
            </a:r>
            <a:r>
              <a:rPr dirty="0" sz="2150" spc="-60">
                <a:latin typeface="Verdana"/>
                <a:cs typeface="Verdana"/>
              </a:rPr>
              <a:t>calling</a:t>
            </a:r>
            <a:r>
              <a:rPr dirty="0" sz="2150" spc="-125">
                <a:latin typeface="Verdana"/>
                <a:cs typeface="Verdana"/>
              </a:rPr>
              <a:t> </a:t>
            </a:r>
            <a:r>
              <a:rPr dirty="0" sz="2150" spc="-90">
                <a:latin typeface="Verdana"/>
                <a:cs typeface="Verdana"/>
              </a:rPr>
              <a:t>(planned</a:t>
            </a:r>
            <a:r>
              <a:rPr dirty="0" sz="2150" spc="-125">
                <a:latin typeface="Verdana"/>
                <a:cs typeface="Verdana"/>
              </a:rPr>
              <a:t> </a:t>
            </a:r>
            <a:r>
              <a:rPr dirty="0" sz="2150" spc="-50">
                <a:latin typeface="Verdana"/>
                <a:cs typeface="Verdana"/>
              </a:rPr>
              <a:t>for</a:t>
            </a:r>
            <a:r>
              <a:rPr dirty="0" sz="2150" spc="-125">
                <a:latin typeface="Verdana"/>
                <a:cs typeface="Verdana"/>
              </a:rPr>
              <a:t> </a:t>
            </a:r>
            <a:r>
              <a:rPr dirty="0" sz="2150" spc="-85">
                <a:latin typeface="Verdana"/>
                <a:cs typeface="Verdana"/>
              </a:rPr>
              <a:t>future</a:t>
            </a:r>
            <a:r>
              <a:rPr dirty="0" sz="2150" spc="-120">
                <a:latin typeface="Verdana"/>
                <a:cs typeface="Verdana"/>
              </a:rPr>
              <a:t> </a:t>
            </a:r>
            <a:r>
              <a:rPr dirty="0" sz="2150" spc="-10">
                <a:latin typeface="Verdana"/>
                <a:cs typeface="Verdana"/>
              </a:rPr>
              <a:t>phase) </a:t>
            </a:r>
            <a:r>
              <a:rPr dirty="0" sz="2150" spc="-35">
                <a:latin typeface="Verdana"/>
                <a:cs typeface="Verdana"/>
              </a:rPr>
              <a:t>Paid</a:t>
            </a:r>
            <a:r>
              <a:rPr dirty="0" sz="2150" spc="-150">
                <a:latin typeface="Verdana"/>
                <a:cs typeface="Verdana"/>
              </a:rPr>
              <a:t> </a:t>
            </a:r>
            <a:r>
              <a:rPr dirty="0" sz="2150" spc="-35">
                <a:latin typeface="Verdana"/>
                <a:cs typeface="Verdana"/>
              </a:rPr>
              <a:t>cloud</a:t>
            </a:r>
            <a:r>
              <a:rPr dirty="0" sz="2150" spc="-145">
                <a:latin typeface="Verdana"/>
                <a:cs typeface="Verdana"/>
              </a:rPr>
              <a:t> </a:t>
            </a:r>
            <a:r>
              <a:rPr dirty="0" sz="2150" spc="-170">
                <a:latin typeface="Verdana"/>
                <a:cs typeface="Verdana"/>
              </a:rPr>
              <a:t>AI</a:t>
            </a:r>
            <a:r>
              <a:rPr dirty="0" sz="2150" spc="-145">
                <a:latin typeface="Verdana"/>
                <a:cs typeface="Verdana"/>
              </a:rPr>
              <a:t> </a:t>
            </a:r>
            <a:r>
              <a:rPr dirty="0" sz="2150" spc="-65">
                <a:latin typeface="Verdana"/>
                <a:cs typeface="Verdana"/>
              </a:rPr>
              <a:t>APIs</a:t>
            </a:r>
            <a:r>
              <a:rPr dirty="0" sz="2150" spc="-150">
                <a:latin typeface="Verdana"/>
                <a:cs typeface="Verdana"/>
              </a:rPr>
              <a:t> </a:t>
            </a:r>
            <a:r>
              <a:rPr dirty="0" sz="2150" spc="-90">
                <a:latin typeface="Verdana"/>
                <a:cs typeface="Verdana"/>
              </a:rPr>
              <a:t>(using</a:t>
            </a:r>
            <a:r>
              <a:rPr dirty="0" sz="2150" spc="-145">
                <a:latin typeface="Verdana"/>
                <a:cs typeface="Verdana"/>
              </a:rPr>
              <a:t> </a:t>
            </a:r>
            <a:r>
              <a:rPr dirty="0" sz="2150" spc="-40">
                <a:latin typeface="Verdana"/>
                <a:cs typeface="Verdana"/>
              </a:rPr>
              <a:t>local</a:t>
            </a:r>
            <a:r>
              <a:rPr dirty="0" sz="2150" spc="-145">
                <a:latin typeface="Verdana"/>
                <a:cs typeface="Verdana"/>
              </a:rPr>
              <a:t> </a:t>
            </a:r>
            <a:r>
              <a:rPr dirty="0" sz="2150" spc="-70">
                <a:latin typeface="Verdana"/>
                <a:cs typeface="Verdana"/>
              </a:rPr>
              <a:t>models</a:t>
            </a:r>
            <a:r>
              <a:rPr dirty="0" sz="2150" spc="-145">
                <a:latin typeface="Verdana"/>
                <a:cs typeface="Verdana"/>
              </a:rPr>
              <a:t> </a:t>
            </a:r>
            <a:r>
              <a:rPr dirty="0" sz="2150" spc="-50">
                <a:latin typeface="Verdana"/>
                <a:cs typeface="Verdana"/>
              </a:rPr>
              <a:t>for</a:t>
            </a:r>
            <a:r>
              <a:rPr dirty="0" sz="2150" spc="-150">
                <a:latin typeface="Verdana"/>
                <a:cs typeface="Verdana"/>
              </a:rPr>
              <a:t> </a:t>
            </a:r>
            <a:r>
              <a:rPr dirty="0" sz="2150" spc="-20">
                <a:latin typeface="Verdana"/>
                <a:cs typeface="Verdana"/>
              </a:rPr>
              <a:t>cost </a:t>
            </a:r>
            <a:r>
              <a:rPr dirty="0" sz="2150" spc="-10">
                <a:latin typeface="Verdana"/>
                <a:cs typeface="Verdana"/>
              </a:rPr>
              <a:t>efficiency)</a:t>
            </a:r>
            <a:endParaRPr sz="2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018759" y="9431855"/>
            <a:ext cx="3269615" cy="769620"/>
          </a:xfrm>
          <a:custGeom>
            <a:avLst/>
            <a:gdLst/>
            <a:ahLst/>
            <a:cxnLst/>
            <a:rect l="l" t="t" r="r" b="b"/>
            <a:pathLst>
              <a:path w="3269615" h="769620">
                <a:moveTo>
                  <a:pt x="3252813" y="769419"/>
                </a:moveTo>
                <a:lnTo>
                  <a:pt x="0" y="692232"/>
                </a:lnTo>
                <a:lnTo>
                  <a:pt x="16426" y="0"/>
                </a:lnTo>
                <a:lnTo>
                  <a:pt x="3269239" y="77186"/>
                </a:lnTo>
                <a:lnTo>
                  <a:pt x="3252813" y="76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Technology</a:t>
            </a:r>
            <a:r>
              <a:rPr dirty="0" spc="-360"/>
              <a:t> </a:t>
            </a:r>
            <a:r>
              <a:rPr dirty="0" spc="-10"/>
              <a:t>Stack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0709" y="2116188"/>
            <a:ext cx="1694973" cy="1694973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938009" y="3873067"/>
            <a:ext cx="3662679" cy="116713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600" spc="-10" b="1">
                <a:solidFill>
                  <a:srgbClr val="262525"/>
                </a:solidFill>
                <a:latin typeface="Tahoma"/>
                <a:cs typeface="Tahoma"/>
              </a:rPr>
              <a:t>Frontend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2100" spc="-110">
                <a:solidFill>
                  <a:srgbClr val="262525"/>
                </a:solidFill>
                <a:latin typeface="Verdana"/>
                <a:cs typeface="Verdana"/>
              </a:rPr>
              <a:t>React.js,</a:t>
            </a:r>
            <a:r>
              <a:rPr dirty="0" sz="210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60">
                <a:solidFill>
                  <a:srgbClr val="262525"/>
                </a:solidFill>
                <a:latin typeface="Verdana"/>
                <a:cs typeface="Verdana"/>
              </a:rPr>
              <a:t>Tailwind</a:t>
            </a:r>
            <a:r>
              <a:rPr dirty="0" sz="210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85">
                <a:solidFill>
                  <a:srgbClr val="262525"/>
                </a:solidFill>
                <a:latin typeface="Verdana"/>
                <a:cs typeface="Verdana"/>
              </a:rPr>
              <a:t>CSS,</a:t>
            </a:r>
            <a:r>
              <a:rPr dirty="0" sz="210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262525"/>
                </a:solidFill>
                <a:latin typeface="Verdana"/>
                <a:cs typeface="Verdana"/>
              </a:rPr>
              <a:t>Axios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28621" y="2116188"/>
            <a:ext cx="1695154" cy="1695154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5115921" y="3873220"/>
            <a:ext cx="3171190" cy="158623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600" spc="-10" b="1">
                <a:solidFill>
                  <a:srgbClr val="262525"/>
                </a:solidFill>
                <a:latin typeface="Tahoma"/>
                <a:cs typeface="Tahoma"/>
              </a:rPr>
              <a:t>Backend</a:t>
            </a:r>
            <a:endParaRPr sz="2600">
              <a:latin typeface="Tahoma"/>
              <a:cs typeface="Tahoma"/>
            </a:endParaRPr>
          </a:p>
          <a:p>
            <a:pPr marL="12700" marR="5080">
              <a:lnSpc>
                <a:spcPct val="131000"/>
              </a:lnSpc>
              <a:spcBef>
                <a:spcPts val="720"/>
              </a:spcBef>
            </a:pPr>
            <a:r>
              <a:rPr dirty="0" sz="2100" spc="-95">
                <a:solidFill>
                  <a:srgbClr val="262525"/>
                </a:solidFill>
                <a:latin typeface="Verdana"/>
                <a:cs typeface="Verdana"/>
              </a:rPr>
              <a:t>Node.js,</a:t>
            </a:r>
            <a:r>
              <a:rPr dirty="0" sz="210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100">
                <a:solidFill>
                  <a:srgbClr val="262525"/>
                </a:solidFill>
                <a:latin typeface="Verdana"/>
                <a:cs typeface="Verdana"/>
              </a:rPr>
              <a:t>Express.js,</a:t>
            </a:r>
            <a:r>
              <a:rPr dirty="0" sz="2100" spc="-1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30">
                <a:solidFill>
                  <a:srgbClr val="262525"/>
                </a:solidFill>
                <a:latin typeface="Verdana"/>
                <a:cs typeface="Verdana"/>
              </a:rPr>
              <a:t>MVC </a:t>
            </a:r>
            <a:r>
              <a:rPr dirty="0" sz="2100" spc="-10">
                <a:solidFill>
                  <a:srgbClr val="262525"/>
                </a:solidFill>
                <a:latin typeface="Verdana"/>
                <a:cs typeface="Verdana"/>
              </a:rPr>
              <a:t>Architecture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06667" y="2116188"/>
            <a:ext cx="1694973" cy="1694973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9293967" y="3873067"/>
            <a:ext cx="3463290" cy="116713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600" spc="-10" b="1">
                <a:solidFill>
                  <a:srgbClr val="262525"/>
                </a:solidFill>
                <a:latin typeface="Tahoma"/>
                <a:cs typeface="Tahoma"/>
              </a:rPr>
              <a:t>Database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2100" spc="-60">
                <a:solidFill>
                  <a:srgbClr val="262525"/>
                </a:solidFill>
                <a:latin typeface="Verdana"/>
                <a:cs typeface="Verdana"/>
              </a:rPr>
              <a:t>MongoDB,</a:t>
            </a:r>
            <a:r>
              <a:rPr dirty="0" sz="2100" spc="-1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30">
                <a:solidFill>
                  <a:srgbClr val="262525"/>
                </a:solidFill>
                <a:latin typeface="Verdana"/>
                <a:cs typeface="Verdana"/>
              </a:rPr>
              <a:t>Mongoose</a:t>
            </a:r>
            <a:r>
              <a:rPr dirty="0" sz="2100" spc="-114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25">
                <a:solidFill>
                  <a:srgbClr val="262525"/>
                </a:solidFill>
                <a:latin typeface="Verdana"/>
                <a:cs typeface="Verdana"/>
              </a:rPr>
              <a:t>ODM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484570" y="2116188"/>
            <a:ext cx="1695154" cy="1695154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13471870" y="3873220"/>
            <a:ext cx="3130550" cy="200533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600" spc="-204" b="1">
                <a:solidFill>
                  <a:srgbClr val="262525"/>
                </a:solidFill>
                <a:latin typeface="Tahoma"/>
                <a:cs typeface="Tahoma"/>
              </a:rPr>
              <a:t>AI</a:t>
            </a:r>
            <a:r>
              <a:rPr dirty="0" sz="2600" spc="-12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600" spc="80" b="1">
                <a:solidFill>
                  <a:srgbClr val="262525"/>
                </a:solidFill>
                <a:latin typeface="Tahoma"/>
                <a:cs typeface="Tahoma"/>
              </a:rPr>
              <a:t>S</a:t>
            </a:r>
            <a:r>
              <a:rPr dirty="0" sz="2600" spc="-12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600" b="1">
                <a:solidFill>
                  <a:srgbClr val="262525"/>
                </a:solidFill>
                <a:latin typeface="Tahoma"/>
                <a:cs typeface="Tahoma"/>
              </a:rPr>
              <a:t>Vector</a:t>
            </a:r>
            <a:r>
              <a:rPr dirty="0" sz="2600" spc="-12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600" spc="-10" b="1">
                <a:solidFill>
                  <a:srgbClr val="262525"/>
                </a:solidFill>
                <a:latin typeface="Tahoma"/>
                <a:cs typeface="Tahoma"/>
              </a:rPr>
              <a:t>System</a:t>
            </a:r>
            <a:endParaRPr sz="2600">
              <a:latin typeface="Tahoma"/>
              <a:cs typeface="Tahoma"/>
            </a:endParaRPr>
          </a:p>
          <a:p>
            <a:pPr marL="12700" marR="136525">
              <a:lnSpc>
                <a:spcPct val="131000"/>
              </a:lnSpc>
              <a:spcBef>
                <a:spcPts val="720"/>
              </a:spcBef>
            </a:pPr>
            <a:r>
              <a:rPr dirty="0" sz="2100" spc="-105">
                <a:solidFill>
                  <a:srgbClr val="262525"/>
                </a:solidFill>
                <a:latin typeface="Verdana"/>
                <a:cs typeface="Verdana"/>
              </a:rPr>
              <a:t>Ollama</a:t>
            </a:r>
            <a:r>
              <a:rPr dirty="0" sz="2100" spc="-14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100">
                <a:solidFill>
                  <a:srgbClr val="262525"/>
                </a:solidFill>
                <a:latin typeface="Verdana"/>
                <a:cs typeface="Verdana"/>
              </a:rPr>
              <a:t>(Phi/TinyLlama), </a:t>
            </a:r>
            <a:r>
              <a:rPr dirty="0" sz="2100" spc="-75">
                <a:solidFill>
                  <a:srgbClr val="262525"/>
                </a:solidFill>
                <a:latin typeface="Verdana"/>
                <a:cs typeface="Verdana"/>
              </a:rPr>
              <a:t>Embeddings</a:t>
            </a:r>
            <a:r>
              <a:rPr dirty="0" sz="2100" spc="-10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262525"/>
                </a:solidFill>
                <a:latin typeface="Verdana"/>
                <a:cs typeface="Verdana"/>
              </a:rPr>
              <a:t>Model, ChromaDB</a:t>
            </a:r>
            <a:endParaRPr sz="2100">
              <a:latin typeface="Verdana"/>
              <a:cs typeface="Verdana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0709" y="6513756"/>
            <a:ext cx="1694973" cy="1694973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938009" y="8270646"/>
            <a:ext cx="2555875" cy="116713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600" b="1">
                <a:solidFill>
                  <a:srgbClr val="262525"/>
                </a:solidFill>
                <a:latin typeface="Tahoma"/>
                <a:cs typeface="Tahoma"/>
              </a:rPr>
              <a:t>Version</a:t>
            </a:r>
            <a:r>
              <a:rPr dirty="0" sz="2600" spc="-15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600" spc="-10" b="1">
                <a:solidFill>
                  <a:srgbClr val="262525"/>
                </a:solidFill>
                <a:latin typeface="Tahoma"/>
                <a:cs typeface="Tahoma"/>
              </a:rPr>
              <a:t>Control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dirty="0" sz="2100" spc="-100">
                <a:solidFill>
                  <a:srgbClr val="262525"/>
                </a:solidFill>
                <a:latin typeface="Verdana"/>
                <a:cs typeface="Verdana"/>
              </a:rPr>
              <a:t>Git</a:t>
            </a:r>
            <a:r>
              <a:rPr dirty="0" sz="2100" spc="-14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190">
                <a:solidFill>
                  <a:srgbClr val="262525"/>
                </a:solidFill>
                <a:latin typeface="Verdana"/>
                <a:cs typeface="Verdana"/>
              </a:rPr>
              <a:t>&amp;</a:t>
            </a:r>
            <a:r>
              <a:rPr dirty="0" sz="2100" spc="-14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00" spc="-10">
                <a:solidFill>
                  <a:srgbClr val="262525"/>
                </a:solidFill>
                <a:latin typeface="Verdana"/>
                <a:cs typeface="Verdana"/>
              </a:rPr>
              <a:t>GitHub</a:t>
            </a:r>
            <a:endParaRPr sz="2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8884" y="776735"/>
            <a:ext cx="5445125" cy="62547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900" spc="-75"/>
              <a:t>Development</a:t>
            </a:r>
            <a:r>
              <a:rPr dirty="0" sz="3900" spc="-190"/>
              <a:t> </a:t>
            </a:r>
            <a:r>
              <a:rPr dirty="0" sz="3900" spc="-35"/>
              <a:t>Timeline</a:t>
            </a:r>
            <a:endParaRPr sz="3900"/>
          </a:p>
        </p:txBody>
      </p:sp>
      <p:grpSp>
        <p:nvGrpSpPr>
          <p:cNvPr id="3" name="object 3" descr=""/>
          <p:cNvGrpSpPr/>
          <p:nvPr/>
        </p:nvGrpSpPr>
        <p:grpSpPr>
          <a:xfrm>
            <a:off x="8337870" y="1733845"/>
            <a:ext cx="1038860" cy="7736205"/>
            <a:chOff x="8337870" y="1733845"/>
            <a:chExt cx="1038860" cy="7736205"/>
          </a:xfrm>
        </p:grpSpPr>
        <p:sp>
          <p:nvSpPr>
            <p:cNvPr id="4" name="object 4" descr=""/>
            <p:cNvSpPr/>
            <p:nvPr/>
          </p:nvSpPr>
          <p:spPr>
            <a:xfrm>
              <a:off x="8337867" y="1738616"/>
              <a:ext cx="820419" cy="7731125"/>
            </a:xfrm>
            <a:custGeom>
              <a:avLst/>
              <a:gdLst/>
              <a:ahLst/>
              <a:cxnLst/>
              <a:rect l="l" t="t" r="r" b="b"/>
              <a:pathLst>
                <a:path w="820420" h="7731125">
                  <a:moveTo>
                    <a:pt x="607021" y="219659"/>
                  </a:moveTo>
                  <a:lnTo>
                    <a:pt x="600646" y="213271"/>
                  </a:lnTo>
                  <a:lnTo>
                    <a:pt x="6375" y="213271"/>
                  </a:lnTo>
                  <a:lnTo>
                    <a:pt x="0" y="219659"/>
                  </a:lnTo>
                  <a:lnTo>
                    <a:pt x="0" y="235470"/>
                  </a:lnTo>
                  <a:lnTo>
                    <a:pt x="6375" y="241846"/>
                  </a:lnTo>
                  <a:lnTo>
                    <a:pt x="600646" y="241846"/>
                  </a:lnTo>
                  <a:lnTo>
                    <a:pt x="607021" y="235470"/>
                  </a:lnTo>
                  <a:lnTo>
                    <a:pt x="607021" y="219659"/>
                  </a:lnTo>
                  <a:close/>
                </a:path>
                <a:path w="820420" h="7731125">
                  <a:moveTo>
                    <a:pt x="820407" y="6375"/>
                  </a:moveTo>
                  <a:lnTo>
                    <a:pt x="814031" y="0"/>
                  </a:lnTo>
                  <a:lnTo>
                    <a:pt x="798220" y="0"/>
                  </a:lnTo>
                  <a:lnTo>
                    <a:pt x="791832" y="6375"/>
                  </a:lnTo>
                  <a:lnTo>
                    <a:pt x="791832" y="7724673"/>
                  </a:lnTo>
                  <a:lnTo>
                    <a:pt x="798220" y="7731061"/>
                  </a:lnTo>
                  <a:lnTo>
                    <a:pt x="814031" y="7731061"/>
                  </a:lnTo>
                  <a:lnTo>
                    <a:pt x="820407" y="7724673"/>
                  </a:lnTo>
                  <a:lnTo>
                    <a:pt x="820407" y="6375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8916371" y="1738607"/>
              <a:ext cx="455295" cy="455295"/>
            </a:xfrm>
            <a:custGeom>
              <a:avLst/>
              <a:gdLst/>
              <a:ahLst/>
              <a:cxnLst/>
              <a:rect l="l" t="t" r="r" b="b"/>
              <a:pathLst>
                <a:path w="455295" h="455294">
                  <a:moveTo>
                    <a:pt x="370236" y="455199"/>
                  </a:moveTo>
                  <a:lnTo>
                    <a:pt x="84963" y="455199"/>
                  </a:lnTo>
                  <a:lnTo>
                    <a:pt x="51917" y="448567"/>
                  </a:lnTo>
                  <a:lnTo>
                    <a:pt x="24907" y="430363"/>
                  </a:lnTo>
                  <a:lnTo>
                    <a:pt x="6685" y="403336"/>
                  </a:lnTo>
                  <a:lnTo>
                    <a:pt x="0" y="370236"/>
                  </a:lnTo>
                  <a:lnTo>
                    <a:pt x="0" y="84963"/>
                  </a:lnTo>
                  <a:lnTo>
                    <a:pt x="6685" y="51917"/>
                  </a:lnTo>
                  <a:lnTo>
                    <a:pt x="24907" y="24907"/>
                  </a:lnTo>
                  <a:lnTo>
                    <a:pt x="51917" y="6685"/>
                  </a:lnTo>
                  <a:lnTo>
                    <a:pt x="84963" y="0"/>
                  </a:lnTo>
                  <a:lnTo>
                    <a:pt x="370236" y="0"/>
                  </a:lnTo>
                  <a:lnTo>
                    <a:pt x="403322" y="6685"/>
                  </a:lnTo>
                  <a:lnTo>
                    <a:pt x="430327" y="24907"/>
                  </a:lnTo>
                  <a:lnTo>
                    <a:pt x="448527" y="51917"/>
                  </a:lnTo>
                  <a:lnTo>
                    <a:pt x="455199" y="84963"/>
                  </a:lnTo>
                  <a:lnTo>
                    <a:pt x="455199" y="370236"/>
                  </a:lnTo>
                  <a:lnTo>
                    <a:pt x="448505" y="403336"/>
                  </a:lnTo>
                  <a:lnTo>
                    <a:pt x="430239" y="430363"/>
                  </a:lnTo>
                  <a:lnTo>
                    <a:pt x="403223" y="448567"/>
                  </a:lnTo>
                  <a:lnTo>
                    <a:pt x="403083" y="448567"/>
                  </a:lnTo>
                  <a:lnTo>
                    <a:pt x="370236" y="455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8911608" y="1733845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20" h="464819">
                  <a:moveTo>
                    <a:pt x="89725" y="464724"/>
                  </a:moveTo>
                  <a:lnTo>
                    <a:pt x="89396" y="464724"/>
                  </a:lnTo>
                  <a:lnTo>
                    <a:pt x="54810" y="457723"/>
                  </a:lnTo>
                  <a:lnTo>
                    <a:pt x="26289" y="438507"/>
                  </a:lnTo>
                  <a:lnTo>
                    <a:pt x="7054" y="409967"/>
                  </a:lnTo>
                  <a:lnTo>
                    <a:pt x="0" y="374999"/>
                  </a:lnTo>
                  <a:lnTo>
                    <a:pt x="0" y="89725"/>
                  </a:lnTo>
                  <a:lnTo>
                    <a:pt x="7054" y="54810"/>
                  </a:lnTo>
                  <a:lnTo>
                    <a:pt x="26289" y="26289"/>
                  </a:lnTo>
                  <a:lnTo>
                    <a:pt x="54810" y="7054"/>
                  </a:lnTo>
                  <a:lnTo>
                    <a:pt x="89725" y="0"/>
                  </a:lnTo>
                  <a:lnTo>
                    <a:pt x="374999" y="0"/>
                  </a:lnTo>
                  <a:lnTo>
                    <a:pt x="374999" y="4762"/>
                  </a:lnTo>
                  <a:lnTo>
                    <a:pt x="89725" y="4762"/>
                  </a:lnTo>
                  <a:lnTo>
                    <a:pt x="89725" y="9525"/>
                  </a:lnTo>
                  <a:lnTo>
                    <a:pt x="58509" y="15827"/>
                  </a:lnTo>
                  <a:lnTo>
                    <a:pt x="33016" y="33016"/>
                  </a:lnTo>
                  <a:lnTo>
                    <a:pt x="15828" y="58508"/>
                  </a:lnTo>
                  <a:lnTo>
                    <a:pt x="9525" y="89725"/>
                  </a:lnTo>
                  <a:lnTo>
                    <a:pt x="9525" y="374999"/>
                  </a:lnTo>
                  <a:lnTo>
                    <a:pt x="15828" y="406215"/>
                  </a:lnTo>
                  <a:lnTo>
                    <a:pt x="33016" y="431708"/>
                  </a:lnTo>
                  <a:lnTo>
                    <a:pt x="58509" y="448896"/>
                  </a:lnTo>
                  <a:lnTo>
                    <a:pt x="89725" y="455199"/>
                  </a:lnTo>
                  <a:lnTo>
                    <a:pt x="413578" y="455199"/>
                  </a:lnTo>
                  <a:lnTo>
                    <a:pt x="409835" y="457723"/>
                  </a:lnTo>
                  <a:lnTo>
                    <a:pt x="409649" y="457723"/>
                  </a:lnTo>
                  <a:lnTo>
                    <a:pt x="398570" y="459962"/>
                  </a:lnTo>
                  <a:lnTo>
                    <a:pt x="89725" y="459962"/>
                  </a:lnTo>
                  <a:lnTo>
                    <a:pt x="89725" y="464724"/>
                  </a:lnTo>
                  <a:close/>
                </a:path>
                <a:path w="464820" h="464819">
                  <a:moveTo>
                    <a:pt x="413578" y="455199"/>
                  </a:moveTo>
                  <a:lnTo>
                    <a:pt x="374999" y="455199"/>
                  </a:lnTo>
                  <a:lnTo>
                    <a:pt x="406216" y="448896"/>
                  </a:lnTo>
                  <a:lnTo>
                    <a:pt x="431708" y="431708"/>
                  </a:lnTo>
                  <a:lnTo>
                    <a:pt x="448897" y="406215"/>
                  </a:lnTo>
                  <a:lnTo>
                    <a:pt x="455200" y="374999"/>
                  </a:lnTo>
                  <a:lnTo>
                    <a:pt x="455200" y="89725"/>
                  </a:lnTo>
                  <a:lnTo>
                    <a:pt x="448950" y="58508"/>
                  </a:lnTo>
                  <a:lnTo>
                    <a:pt x="431780" y="33016"/>
                  </a:lnTo>
                  <a:lnTo>
                    <a:pt x="406269" y="15827"/>
                  </a:lnTo>
                  <a:lnTo>
                    <a:pt x="374999" y="9525"/>
                  </a:lnTo>
                  <a:lnTo>
                    <a:pt x="89725" y="9525"/>
                  </a:lnTo>
                  <a:lnTo>
                    <a:pt x="89725" y="4762"/>
                  </a:lnTo>
                  <a:lnTo>
                    <a:pt x="374999" y="4762"/>
                  </a:lnTo>
                  <a:lnTo>
                    <a:pt x="374999" y="0"/>
                  </a:lnTo>
                  <a:lnTo>
                    <a:pt x="409914" y="7054"/>
                  </a:lnTo>
                  <a:lnTo>
                    <a:pt x="438436" y="26289"/>
                  </a:lnTo>
                  <a:lnTo>
                    <a:pt x="457670" y="54810"/>
                  </a:lnTo>
                  <a:lnTo>
                    <a:pt x="464791" y="89725"/>
                  </a:lnTo>
                  <a:lnTo>
                    <a:pt x="464791" y="374999"/>
                  </a:lnTo>
                  <a:lnTo>
                    <a:pt x="458417" y="406215"/>
                  </a:lnTo>
                  <a:lnTo>
                    <a:pt x="457634" y="409967"/>
                  </a:lnTo>
                  <a:lnTo>
                    <a:pt x="442972" y="431708"/>
                  </a:lnTo>
                  <a:lnTo>
                    <a:pt x="438330" y="438507"/>
                  </a:lnTo>
                  <a:lnTo>
                    <a:pt x="413578" y="455199"/>
                  </a:lnTo>
                  <a:close/>
                </a:path>
                <a:path w="464820" h="464819">
                  <a:moveTo>
                    <a:pt x="374999" y="464724"/>
                  </a:moveTo>
                  <a:lnTo>
                    <a:pt x="89712" y="464724"/>
                  </a:lnTo>
                  <a:lnTo>
                    <a:pt x="89725" y="459962"/>
                  </a:lnTo>
                  <a:lnTo>
                    <a:pt x="374999" y="459962"/>
                  </a:lnTo>
                  <a:lnTo>
                    <a:pt x="374999" y="464724"/>
                  </a:lnTo>
                  <a:close/>
                </a:path>
                <a:path w="464820" h="464819">
                  <a:moveTo>
                    <a:pt x="374999" y="464724"/>
                  </a:moveTo>
                  <a:lnTo>
                    <a:pt x="374999" y="459962"/>
                  </a:lnTo>
                  <a:lnTo>
                    <a:pt x="398570" y="459962"/>
                  </a:lnTo>
                  <a:lnTo>
                    <a:pt x="374999" y="46472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067448" y="1749564"/>
            <a:ext cx="153035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560" b="1">
                <a:solidFill>
                  <a:srgbClr val="262525"/>
                </a:solidFill>
                <a:latin typeface="Tahoma"/>
                <a:cs typeface="Tahoma"/>
              </a:rPr>
              <a:t>1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4508107" y="1636371"/>
            <a:ext cx="3637279" cy="80200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95"/>
              </a:spcBef>
            </a:pPr>
            <a:r>
              <a:rPr dirty="0" sz="1900" b="1">
                <a:solidFill>
                  <a:srgbClr val="262525"/>
                </a:solidFill>
                <a:latin typeface="Tahoma"/>
                <a:cs typeface="Tahoma"/>
              </a:rPr>
              <a:t>Week</a:t>
            </a:r>
            <a:r>
              <a:rPr dirty="0" sz="1900" spc="-1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900" spc="-455" b="1">
                <a:solidFill>
                  <a:srgbClr val="262525"/>
                </a:solidFill>
                <a:latin typeface="Tahoma"/>
                <a:cs typeface="Tahoma"/>
              </a:rPr>
              <a:t>1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50" spc="-80">
                <a:solidFill>
                  <a:srgbClr val="262525"/>
                </a:solidFill>
                <a:latin typeface="Verdana"/>
                <a:cs typeface="Verdana"/>
              </a:rPr>
              <a:t>Requirement</a:t>
            </a:r>
            <a:r>
              <a:rPr dirty="0" sz="155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262525"/>
                </a:solidFill>
                <a:latin typeface="Verdana"/>
                <a:cs typeface="Verdana"/>
              </a:rPr>
              <a:t>Analysis</a:t>
            </a:r>
            <a:r>
              <a:rPr dirty="0" sz="155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135">
                <a:solidFill>
                  <a:srgbClr val="262525"/>
                </a:solidFill>
                <a:latin typeface="Verdana"/>
                <a:cs typeface="Verdana"/>
              </a:rPr>
              <a:t>&amp;</a:t>
            </a:r>
            <a:r>
              <a:rPr dirty="0" sz="1550" spc="-85">
                <a:solidFill>
                  <a:srgbClr val="262525"/>
                </a:solidFill>
                <a:latin typeface="Verdana"/>
                <a:cs typeface="Verdana"/>
              </a:rPr>
              <a:t> System </a:t>
            </a:r>
            <a:r>
              <a:rPr dirty="0" sz="1550" spc="-10">
                <a:solidFill>
                  <a:srgbClr val="262525"/>
                </a:solidFill>
                <a:latin typeface="Verdana"/>
                <a:cs typeface="Verdana"/>
              </a:rPr>
              <a:t>Design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911608" y="2832201"/>
            <a:ext cx="1038860" cy="464820"/>
            <a:chOff x="8911608" y="2832201"/>
            <a:chExt cx="1038860" cy="464820"/>
          </a:xfrm>
        </p:grpSpPr>
        <p:sp>
          <p:nvSpPr>
            <p:cNvPr id="10" name="object 10" descr=""/>
            <p:cNvSpPr/>
            <p:nvPr/>
          </p:nvSpPr>
          <p:spPr>
            <a:xfrm>
              <a:off x="9343053" y="3050229"/>
              <a:ext cx="607060" cy="28575"/>
            </a:xfrm>
            <a:custGeom>
              <a:avLst/>
              <a:gdLst/>
              <a:ahLst/>
              <a:cxnLst/>
              <a:rect l="l" t="t" r="r" b="b"/>
              <a:pathLst>
                <a:path w="607059" h="28575">
                  <a:moveTo>
                    <a:pt x="60064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00646" y="0"/>
                  </a:lnTo>
                  <a:lnTo>
                    <a:pt x="607028" y="6381"/>
                  </a:lnTo>
                  <a:lnTo>
                    <a:pt x="607028" y="22193"/>
                  </a:lnTo>
                  <a:lnTo>
                    <a:pt x="600646" y="2857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916371" y="2836963"/>
              <a:ext cx="455295" cy="455295"/>
            </a:xfrm>
            <a:custGeom>
              <a:avLst/>
              <a:gdLst/>
              <a:ahLst/>
              <a:cxnLst/>
              <a:rect l="l" t="t" r="r" b="b"/>
              <a:pathLst>
                <a:path w="455295" h="455295">
                  <a:moveTo>
                    <a:pt x="370236" y="455199"/>
                  </a:moveTo>
                  <a:lnTo>
                    <a:pt x="84963" y="455199"/>
                  </a:lnTo>
                  <a:lnTo>
                    <a:pt x="51917" y="448567"/>
                  </a:lnTo>
                  <a:lnTo>
                    <a:pt x="24907" y="430363"/>
                  </a:lnTo>
                  <a:lnTo>
                    <a:pt x="6685" y="403336"/>
                  </a:lnTo>
                  <a:lnTo>
                    <a:pt x="0" y="370236"/>
                  </a:lnTo>
                  <a:lnTo>
                    <a:pt x="0" y="84963"/>
                  </a:lnTo>
                  <a:lnTo>
                    <a:pt x="6685" y="51917"/>
                  </a:lnTo>
                  <a:lnTo>
                    <a:pt x="24907" y="24907"/>
                  </a:lnTo>
                  <a:lnTo>
                    <a:pt x="51917" y="6685"/>
                  </a:lnTo>
                  <a:lnTo>
                    <a:pt x="84963" y="0"/>
                  </a:lnTo>
                  <a:lnTo>
                    <a:pt x="370236" y="0"/>
                  </a:lnTo>
                  <a:lnTo>
                    <a:pt x="403322" y="6685"/>
                  </a:lnTo>
                  <a:lnTo>
                    <a:pt x="430327" y="24907"/>
                  </a:lnTo>
                  <a:lnTo>
                    <a:pt x="448527" y="51917"/>
                  </a:lnTo>
                  <a:lnTo>
                    <a:pt x="455199" y="84963"/>
                  </a:lnTo>
                  <a:lnTo>
                    <a:pt x="455199" y="370236"/>
                  </a:lnTo>
                  <a:lnTo>
                    <a:pt x="448505" y="403336"/>
                  </a:lnTo>
                  <a:lnTo>
                    <a:pt x="430239" y="430363"/>
                  </a:lnTo>
                  <a:lnTo>
                    <a:pt x="403223" y="448567"/>
                  </a:lnTo>
                  <a:lnTo>
                    <a:pt x="403083" y="448567"/>
                  </a:lnTo>
                  <a:lnTo>
                    <a:pt x="370236" y="455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911608" y="2832201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20" h="464820">
                  <a:moveTo>
                    <a:pt x="89725" y="464724"/>
                  </a:moveTo>
                  <a:lnTo>
                    <a:pt x="89396" y="464724"/>
                  </a:lnTo>
                  <a:lnTo>
                    <a:pt x="54810" y="457723"/>
                  </a:lnTo>
                  <a:lnTo>
                    <a:pt x="26289" y="438507"/>
                  </a:lnTo>
                  <a:lnTo>
                    <a:pt x="7054" y="409967"/>
                  </a:lnTo>
                  <a:lnTo>
                    <a:pt x="0" y="374999"/>
                  </a:lnTo>
                  <a:lnTo>
                    <a:pt x="0" y="89725"/>
                  </a:lnTo>
                  <a:lnTo>
                    <a:pt x="26289" y="26289"/>
                  </a:lnTo>
                  <a:lnTo>
                    <a:pt x="89725" y="0"/>
                  </a:lnTo>
                  <a:lnTo>
                    <a:pt x="374999" y="0"/>
                  </a:lnTo>
                  <a:lnTo>
                    <a:pt x="374999" y="4762"/>
                  </a:lnTo>
                  <a:lnTo>
                    <a:pt x="89725" y="4762"/>
                  </a:lnTo>
                  <a:lnTo>
                    <a:pt x="89725" y="9525"/>
                  </a:lnTo>
                  <a:lnTo>
                    <a:pt x="58509" y="15827"/>
                  </a:lnTo>
                  <a:lnTo>
                    <a:pt x="33016" y="33016"/>
                  </a:lnTo>
                  <a:lnTo>
                    <a:pt x="15828" y="58508"/>
                  </a:lnTo>
                  <a:lnTo>
                    <a:pt x="9525" y="89725"/>
                  </a:lnTo>
                  <a:lnTo>
                    <a:pt x="9525" y="374999"/>
                  </a:lnTo>
                  <a:lnTo>
                    <a:pt x="15828" y="406216"/>
                  </a:lnTo>
                  <a:lnTo>
                    <a:pt x="33016" y="431708"/>
                  </a:lnTo>
                  <a:lnTo>
                    <a:pt x="58509" y="448896"/>
                  </a:lnTo>
                  <a:lnTo>
                    <a:pt x="89725" y="455199"/>
                  </a:lnTo>
                  <a:lnTo>
                    <a:pt x="413578" y="455199"/>
                  </a:lnTo>
                  <a:lnTo>
                    <a:pt x="409835" y="457723"/>
                  </a:lnTo>
                  <a:lnTo>
                    <a:pt x="409649" y="457723"/>
                  </a:lnTo>
                  <a:lnTo>
                    <a:pt x="398570" y="459962"/>
                  </a:lnTo>
                  <a:lnTo>
                    <a:pt x="89725" y="459962"/>
                  </a:lnTo>
                  <a:lnTo>
                    <a:pt x="89725" y="464724"/>
                  </a:lnTo>
                  <a:close/>
                </a:path>
                <a:path w="464820" h="464820">
                  <a:moveTo>
                    <a:pt x="413578" y="455199"/>
                  </a:moveTo>
                  <a:lnTo>
                    <a:pt x="374999" y="455199"/>
                  </a:lnTo>
                  <a:lnTo>
                    <a:pt x="406216" y="448896"/>
                  </a:lnTo>
                  <a:lnTo>
                    <a:pt x="431708" y="431708"/>
                  </a:lnTo>
                  <a:lnTo>
                    <a:pt x="448897" y="406216"/>
                  </a:lnTo>
                  <a:lnTo>
                    <a:pt x="455200" y="374999"/>
                  </a:lnTo>
                  <a:lnTo>
                    <a:pt x="455200" y="89725"/>
                  </a:lnTo>
                  <a:lnTo>
                    <a:pt x="448950" y="58508"/>
                  </a:lnTo>
                  <a:lnTo>
                    <a:pt x="431780" y="33016"/>
                  </a:lnTo>
                  <a:lnTo>
                    <a:pt x="406269" y="15827"/>
                  </a:lnTo>
                  <a:lnTo>
                    <a:pt x="374999" y="9525"/>
                  </a:lnTo>
                  <a:lnTo>
                    <a:pt x="89725" y="9525"/>
                  </a:lnTo>
                  <a:lnTo>
                    <a:pt x="89725" y="4762"/>
                  </a:lnTo>
                  <a:lnTo>
                    <a:pt x="374999" y="4762"/>
                  </a:lnTo>
                  <a:lnTo>
                    <a:pt x="374999" y="0"/>
                  </a:lnTo>
                  <a:lnTo>
                    <a:pt x="409914" y="7054"/>
                  </a:lnTo>
                  <a:lnTo>
                    <a:pt x="438436" y="26289"/>
                  </a:lnTo>
                  <a:lnTo>
                    <a:pt x="457670" y="54810"/>
                  </a:lnTo>
                  <a:lnTo>
                    <a:pt x="464791" y="89725"/>
                  </a:lnTo>
                  <a:lnTo>
                    <a:pt x="464791" y="374999"/>
                  </a:lnTo>
                  <a:lnTo>
                    <a:pt x="458417" y="406216"/>
                  </a:lnTo>
                  <a:lnTo>
                    <a:pt x="457634" y="409967"/>
                  </a:lnTo>
                  <a:lnTo>
                    <a:pt x="442972" y="431708"/>
                  </a:lnTo>
                  <a:lnTo>
                    <a:pt x="438330" y="438507"/>
                  </a:lnTo>
                  <a:lnTo>
                    <a:pt x="413578" y="455199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89712" y="464724"/>
                  </a:lnTo>
                  <a:lnTo>
                    <a:pt x="89725" y="459962"/>
                  </a:lnTo>
                  <a:lnTo>
                    <a:pt x="374999" y="459962"/>
                  </a:lnTo>
                  <a:lnTo>
                    <a:pt x="374999" y="464724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374999" y="459962"/>
                  </a:lnTo>
                  <a:lnTo>
                    <a:pt x="398570" y="459962"/>
                  </a:lnTo>
                  <a:lnTo>
                    <a:pt x="374999" y="46472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 descr=""/>
          <p:cNvSpPr txBox="1"/>
          <p:nvPr/>
        </p:nvSpPr>
        <p:spPr>
          <a:xfrm>
            <a:off x="9037235" y="2847911"/>
            <a:ext cx="213360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50" b="1">
                <a:solidFill>
                  <a:srgbClr val="262525"/>
                </a:solidFill>
                <a:latin typeface="Tahoma"/>
                <a:cs typeface="Tahoma"/>
              </a:rPr>
              <a:t>2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0143178" y="2734728"/>
            <a:ext cx="3178810" cy="80200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900" b="1">
                <a:solidFill>
                  <a:srgbClr val="262525"/>
                </a:solidFill>
                <a:latin typeface="Tahoma"/>
                <a:cs typeface="Tahoma"/>
              </a:rPr>
              <a:t>Weeks</a:t>
            </a:r>
            <a:r>
              <a:rPr dirty="0" sz="1900" spc="-3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900" spc="-25" b="1">
                <a:solidFill>
                  <a:srgbClr val="262525"/>
                </a:solidFill>
                <a:latin typeface="Tahoma"/>
                <a:cs typeface="Tahoma"/>
              </a:rPr>
              <a:t>2–3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50" spc="-60">
                <a:solidFill>
                  <a:srgbClr val="262525"/>
                </a:solidFill>
                <a:latin typeface="Verdana"/>
                <a:cs typeface="Verdana"/>
              </a:rPr>
              <a:t>Frontend</a:t>
            </a:r>
            <a:r>
              <a:rPr dirty="0" sz="1550" spc="-9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135">
                <a:solidFill>
                  <a:srgbClr val="262525"/>
                </a:solidFill>
                <a:latin typeface="Verdana"/>
                <a:cs typeface="Verdana"/>
              </a:rPr>
              <a:t>&amp;</a:t>
            </a:r>
            <a:r>
              <a:rPr dirty="0" sz="155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262525"/>
                </a:solidFill>
                <a:latin typeface="Verdana"/>
                <a:cs typeface="Verdana"/>
              </a:rPr>
              <a:t>Backend</a:t>
            </a:r>
            <a:r>
              <a:rPr dirty="0" sz="155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50">
                <a:solidFill>
                  <a:srgbClr val="262525"/>
                </a:solidFill>
                <a:latin typeface="Verdana"/>
                <a:cs typeface="Verdana"/>
              </a:rPr>
              <a:t>Development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8337870" y="3820867"/>
            <a:ext cx="1038860" cy="464820"/>
            <a:chOff x="8337870" y="3820867"/>
            <a:chExt cx="1038860" cy="464820"/>
          </a:xfrm>
        </p:grpSpPr>
        <p:sp>
          <p:nvSpPr>
            <p:cNvPr id="16" name="object 16" descr=""/>
            <p:cNvSpPr/>
            <p:nvPr/>
          </p:nvSpPr>
          <p:spPr>
            <a:xfrm>
              <a:off x="8337870" y="4038894"/>
              <a:ext cx="607060" cy="28575"/>
            </a:xfrm>
            <a:custGeom>
              <a:avLst/>
              <a:gdLst/>
              <a:ahLst/>
              <a:cxnLst/>
              <a:rect l="l" t="t" r="r" b="b"/>
              <a:pathLst>
                <a:path w="607059" h="28575">
                  <a:moveTo>
                    <a:pt x="60064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00646" y="0"/>
                  </a:lnTo>
                  <a:lnTo>
                    <a:pt x="607028" y="6381"/>
                  </a:lnTo>
                  <a:lnTo>
                    <a:pt x="607028" y="22193"/>
                  </a:lnTo>
                  <a:lnTo>
                    <a:pt x="600646" y="2857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8916371" y="3825630"/>
              <a:ext cx="455295" cy="455295"/>
            </a:xfrm>
            <a:custGeom>
              <a:avLst/>
              <a:gdLst/>
              <a:ahLst/>
              <a:cxnLst/>
              <a:rect l="l" t="t" r="r" b="b"/>
              <a:pathLst>
                <a:path w="455295" h="455295">
                  <a:moveTo>
                    <a:pt x="370236" y="455199"/>
                  </a:moveTo>
                  <a:lnTo>
                    <a:pt x="84963" y="455199"/>
                  </a:lnTo>
                  <a:lnTo>
                    <a:pt x="51917" y="448567"/>
                  </a:lnTo>
                  <a:lnTo>
                    <a:pt x="24907" y="430363"/>
                  </a:lnTo>
                  <a:lnTo>
                    <a:pt x="6685" y="403336"/>
                  </a:lnTo>
                  <a:lnTo>
                    <a:pt x="0" y="370236"/>
                  </a:lnTo>
                  <a:lnTo>
                    <a:pt x="0" y="84963"/>
                  </a:lnTo>
                  <a:lnTo>
                    <a:pt x="6685" y="51917"/>
                  </a:lnTo>
                  <a:lnTo>
                    <a:pt x="24907" y="24907"/>
                  </a:lnTo>
                  <a:lnTo>
                    <a:pt x="51917" y="6685"/>
                  </a:lnTo>
                  <a:lnTo>
                    <a:pt x="84963" y="0"/>
                  </a:lnTo>
                  <a:lnTo>
                    <a:pt x="370236" y="0"/>
                  </a:lnTo>
                  <a:lnTo>
                    <a:pt x="403322" y="6685"/>
                  </a:lnTo>
                  <a:lnTo>
                    <a:pt x="430327" y="24907"/>
                  </a:lnTo>
                  <a:lnTo>
                    <a:pt x="448527" y="51917"/>
                  </a:lnTo>
                  <a:lnTo>
                    <a:pt x="455199" y="84963"/>
                  </a:lnTo>
                  <a:lnTo>
                    <a:pt x="455199" y="370236"/>
                  </a:lnTo>
                  <a:lnTo>
                    <a:pt x="448505" y="403336"/>
                  </a:lnTo>
                  <a:lnTo>
                    <a:pt x="430239" y="430363"/>
                  </a:lnTo>
                  <a:lnTo>
                    <a:pt x="403223" y="448567"/>
                  </a:lnTo>
                  <a:lnTo>
                    <a:pt x="403083" y="448567"/>
                  </a:lnTo>
                  <a:lnTo>
                    <a:pt x="370236" y="455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911608" y="3820867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20" h="464820">
                  <a:moveTo>
                    <a:pt x="89725" y="464724"/>
                  </a:moveTo>
                  <a:lnTo>
                    <a:pt x="89396" y="464724"/>
                  </a:lnTo>
                  <a:lnTo>
                    <a:pt x="54810" y="457723"/>
                  </a:lnTo>
                  <a:lnTo>
                    <a:pt x="26289" y="438507"/>
                  </a:lnTo>
                  <a:lnTo>
                    <a:pt x="7054" y="409967"/>
                  </a:lnTo>
                  <a:lnTo>
                    <a:pt x="0" y="374999"/>
                  </a:lnTo>
                  <a:lnTo>
                    <a:pt x="0" y="89725"/>
                  </a:lnTo>
                  <a:lnTo>
                    <a:pt x="7054" y="54810"/>
                  </a:lnTo>
                  <a:lnTo>
                    <a:pt x="26289" y="26289"/>
                  </a:lnTo>
                  <a:lnTo>
                    <a:pt x="54810" y="7054"/>
                  </a:lnTo>
                  <a:lnTo>
                    <a:pt x="89725" y="0"/>
                  </a:lnTo>
                  <a:lnTo>
                    <a:pt x="374999" y="0"/>
                  </a:lnTo>
                  <a:lnTo>
                    <a:pt x="374999" y="4762"/>
                  </a:lnTo>
                  <a:lnTo>
                    <a:pt x="89725" y="4762"/>
                  </a:lnTo>
                  <a:lnTo>
                    <a:pt x="89725" y="9525"/>
                  </a:lnTo>
                  <a:lnTo>
                    <a:pt x="33016" y="33016"/>
                  </a:lnTo>
                  <a:lnTo>
                    <a:pt x="9525" y="89725"/>
                  </a:lnTo>
                  <a:lnTo>
                    <a:pt x="9525" y="374999"/>
                  </a:lnTo>
                  <a:lnTo>
                    <a:pt x="15828" y="406216"/>
                  </a:lnTo>
                  <a:lnTo>
                    <a:pt x="33016" y="431708"/>
                  </a:lnTo>
                  <a:lnTo>
                    <a:pt x="58509" y="448896"/>
                  </a:lnTo>
                  <a:lnTo>
                    <a:pt x="89725" y="455199"/>
                  </a:lnTo>
                  <a:lnTo>
                    <a:pt x="413578" y="455199"/>
                  </a:lnTo>
                  <a:lnTo>
                    <a:pt x="409835" y="457723"/>
                  </a:lnTo>
                  <a:lnTo>
                    <a:pt x="409649" y="457723"/>
                  </a:lnTo>
                  <a:lnTo>
                    <a:pt x="398570" y="459962"/>
                  </a:lnTo>
                  <a:lnTo>
                    <a:pt x="89725" y="459962"/>
                  </a:lnTo>
                  <a:lnTo>
                    <a:pt x="89725" y="464724"/>
                  </a:lnTo>
                  <a:close/>
                </a:path>
                <a:path w="464820" h="464820">
                  <a:moveTo>
                    <a:pt x="413578" y="455199"/>
                  </a:moveTo>
                  <a:lnTo>
                    <a:pt x="374999" y="455199"/>
                  </a:lnTo>
                  <a:lnTo>
                    <a:pt x="406216" y="448896"/>
                  </a:lnTo>
                  <a:lnTo>
                    <a:pt x="431708" y="431708"/>
                  </a:lnTo>
                  <a:lnTo>
                    <a:pt x="448897" y="406216"/>
                  </a:lnTo>
                  <a:lnTo>
                    <a:pt x="455200" y="374999"/>
                  </a:lnTo>
                  <a:lnTo>
                    <a:pt x="455200" y="89725"/>
                  </a:lnTo>
                  <a:lnTo>
                    <a:pt x="448950" y="58508"/>
                  </a:lnTo>
                  <a:lnTo>
                    <a:pt x="431780" y="33016"/>
                  </a:lnTo>
                  <a:lnTo>
                    <a:pt x="406269" y="15827"/>
                  </a:lnTo>
                  <a:lnTo>
                    <a:pt x="374999" y="9525"/>
                  </a:lnTo>
                  <a:lnTo>
                    <a:pt x="89725" y="9525"/>
                  </a:lnTo>
                  <a:lnTo>
                    <a:pt x="89725" y="4762"/>
                  </a:lnTo>
                  <a:lnTo>
                    <a:pt x="374999" y="4762"/>
                  </a:lnTo>
                  <a:lnTo>
                    <a:pt x="374999" y="0"/>
                  </a:lnTo>
                  <a:lnTo>
                    <a:pt x="409914" y="7054"/>
                  </a:lnTo>
                  <a:lnTo>
                    <a:pt x="438436" y="26289"/>
                  </a:lnTo>
                  <a:lnTo>
                    <a:pt x="457670" y="54810"/>
                  </a:lnTo>
                  <a:lnTo>
                    <a:pt x="464791" y="89725"/>
                  </a:lnTo>
                  <a:lnTo>
                    <a:pt x="464791" y="374999"/>
                  </a:lnTo>
                  <a:lnTo>
                    <a:pt x="458417" y="406216"/>
                  </a:lnTo>
                  <a:lnTo>
                    <a:pt x="457634" y="409967"/>
                  </a:lnTo>
                  <a:lnTo>
                    <a:pt x="442972" y="431708"/>
                  </a:lnTo>
                  <a:lnTo>
                    <a:pt x="438330" y="438507"/>
                  </a:lnTo>
                  <a:lnTo>
                    <a:pt x="413578" y="455199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89712" y="464724"/>
                  </a:lnTo>
                  <a:lnTo>
                    <a:pt x="89725" y="459962"/>
                  </a:lnTo>
                  <a:lnTo>
                    <a:pt x="374999" y="459962"/>
                  </a:lnTo>
                  <a:lnTo>
                    <a:pt x="374999" y="464724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374999" y="459962"/>
                  </a:lnTo>
                  <a:lnTo>
                    <a:pt x="398570" y="459962"/>
                  </a:lnTo>
                  <a:lnTo>
                    <a:pt x="374999" y="46472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9034705" y="3836577"/>
            <a:ext cx="218440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50" b="1">
                <a:solidFill>
                  <a:srgbClr val="262525"/>
                </a:solidFill>
                <a:latin typeface="Tahoma"/>
                <a:cs typeface="Tahoma"/>
              </a:rPr>
              <a:t>3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5215785" y="3723406"/>
            <a:ext cx="2929255" cy="80200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95"/>
              </a:spcBef>
            </a:pPr>
            <a:r>
              <a:rPr dirty="0" sz="1900" b="1">
                <a:solidFill>
                  <a:srgbClr val="262525"/>
                </a:solidFill>
                <a:latin typeface="Tahoma"/>
                <a:cs typeface="Tahoma"/>
              </a:rPr>
              <a:t>Week</a:t>
            </a:r>
            <a:r>
              <a:rPr dirty="0" sz="1900" spc="-1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900" spc="30" b="1">
                <a:solidFill>
                  <a:srgbClr val="262525"/>
                </a:solidFill>
                <a:latin typeface="Tahoma"/>
                <a:cs typeface="Tahoma"/>
              </a:rPr>
              <a:t>4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50" spc="-65">
                <a:solidFill>
                  <a:srgbClr val="262525"/>
                </a:solidFill>
                <a:latin typeface="Verdana"/>
                <a:cs typeface="Verdana"/>
              </a:rPr>
              <a:t>Authentication</a:t>
            </a:r>
            <a:r>
              <a:rPr dirty="0" sz="1550" spc="-8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135">
                <a:solidFill>
                  <a:srgbClr val="262525"/>
                </a:solidFill>
                <a:latin typeface="Verdana"/>
                <a:cs typeface="Verdana"/>
              </a:rPr>
              <a:t>&amp;</a:t>
            </a:r>
            <a:r>
              <a:rPr dirty="0" sz="1550" spc="-8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40">
                <a:solidFill>
                  <a:srgbClr val="262525"/>
                </a:solidFill>
                <a:latin typeface="Verdana"/>
                <a:cs typeface="Verdana"/>
              </a:rPr>
              <a:t>Profile</a:t>
            </a:r>
            <a:r>
              <a:rPr dirty="0" sz="1550" spc="-7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262525"/>
                </a:solidFill>
                <a:latin typeface="Verdana"/>
                <a:cs typeface="Verdana"/>
              </a:rPr>
              <a:t>Module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911608" y="4809676"/>
            <a:ext cx="1038860" cy="464820"/>
            <a:chOff x="8911608" y="4809676"/>
            <a:chExt cx="1038860" cy="464820"/>
          </a:xfrm>
        </p:grpSpPr>
        <p:sp>
          <p:nvSpPr>
            <p:cNvPr id="22" name="object 22" descr=""/>
            <p:cNvSpPr/>
            <p:nvPr/>
          </p:nvSpPr>
          <p:spPr>
            <a:xfrm>
              <a:off x="9343053" y="5027714"/>
              <a:ext cx="607060" cy="28575"/>
            </a:xfrm>
            <a:custGeom>
              <a:avLst/>
              <a:gdLst/>
              <a:ahLst/>
              <a:cxnLst/>
              <a:rect l="l" t="t" r="r" b="b"/>
              <a:pathLst>
                <a:path w="607059" h="28575">
                  <a:moveTo>
                    <a:pt x="60064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00646" y="0"/>
                  </a:lnTo>
                  <a:lnTo>
                    <a:pt x="607028" y="6381"/>
                  </a:lnTo>
                  <a:lnTo>
                    <a:pt x="607028" y="22193"/>
                  </a:lnTo>
                  <a:lnTo>
                    <a:pt x="600646" y="2857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916371" y="4814439"/>
              <a:ext cx="455295" cy="455295"/>
            </a:xfrm>
            <a:custGeom>
              <a:avLst/>
              <a:gdLst/>
              <a:ahLst/>
              <a:cxnLst/>
              <a:rect l="l" t="t" r="r" b="b"/>
              <a:pathLst>
                <a:path w="455295" h="455295">
                  <a:moveTo>
                    <a:pt x="370236" y="455199"/>
                  </a:moveTo>
                  <a:lnTo>
                    <a:pt x="84963" y="455199"/>
                  </a:lnTo>
                  <a:lnTo>
                    <a:pt x="51917" y="448567"/>
                  </a:lnTo>
                  <a:lnTo>
                    <a:pt x="24907" y="430363"/>
                  </a:lnTo>
                  <a:lnTo>
                    <a:pt x="6685" y="403336"/>
                  </a:lnTo>
                  <a:lnTo>
                    <a:pt x="0" y="370236"/>
                  </a:lnTo>
                  <a:lnTo>
                    <a:pt x="0" y="84963"/>
                  </a:lnTo>
                  <a:lnTo>
                    <a:pt x="6685" y="51917"/>
                  </a:lnTo>
                  <a:lnTo>
                    <a:pt x="24907" y="24907"/>
                  </a:lnTo>
                  <a:lnTo>
                    <a:pt x="51917" y="6685"/>
                  </a:lnTo>
                  <a:lnTo>
                    <a:pt x="84963" y="0"/>
                  </a:lnTo>
                  <a:lnTo>
                    <a:pt x="370236" y="0"/>
                  </a:lnTo>
                  <a:lnTo>
                    <a:pt x="403322" y="6685"/>
                  </a:lnTo>
                  <a:lnTo>
                    <a:pt x="430327" y="24907"/>
                  </a:lnTo>
                  <a:lnTo>
                    <a:pt x="448527" y="51917"/>
                  </a:lnTo>
                  <a:lnTo>
                    <a:pt x="455199" y="84963"/>
                  </a:lnTo>
                  <a:lnTo>
                    <a:pt x="455199" y="370236"/>
                  </a:lnTo>
                  <a:lnTo>
                    <a:pt x="448505" y="403336"/>
                  </a:lnTo>
                  <a:lnTo>
                    <a:pt x="430239" y="430363"/>
                  </a:lnTo>
                  <a:lnTo>
                    <a:pt x="403223" y="448567"/>
                  </a:lnTo>
                  <a:lnTo>
                    <a:pt x="403084" y="448567"/>
                  </a:lnTo>
                  <a:lnTo>
                    <a:pt x="370236" y="455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8911608" y="4809676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20" h="464820">
                  <a:moveTo>
                    <a:pt x="89725" y="464724"/>
                  </a:moveTo>
                  <a:lnTo>
                    <a:pt x="89396" y="464724"/>
                  </a:lnTo>
                  <a:lnTo>
                    <a:pt x="54810" y="457723"/>
                  </a:lnTo>
                  <a:lnTo>
                    <a:pt x="26289" y="438507"/>
                  </a:lnTo>
                  <a:lnTo>
                    <a:pt x="7054" y="409967"/>
                  </a:lnTo>
                  <a:lnTo>
                    <a:pt x="0" y="374999"/>
                  </a:lnTo>
                  <a:lnTo>
                    <a:pt x="0" y="89725"/>
                  </a:lnTo>
                  <a:lnTo>
                    <a:pt x="26289" y="26289"/>
                  </a:lnTo>
                  <a:lnTo>
                    <a:pt x="89725" y="0"/>
                  </a:lnTo>
                  <a:lnTo>
                    <a:pt x="374999" y="0"/>
                  </a:lnTo>
                  <a:lnTo>
                    <a:pt x="374999" y="4762"/>
                  </a:lnTo>
                  <a:lnTo>
                    <a:pt x="89725" y="4762"/>
                  </a:lnTo>
                  <a:lnTo>
                    <a:pt x="89725" y="9525"/>
                  </a:lnTo>
                  <a:lnTo>
                    <a:pt x="58509" y="15827"/>
                  </a:lnTo>
                  <a:lnTo>
                    <a:pt x="33016" y="33016"/>
                  </a:lnTo>
                  <a:lnTo>
                    <a:pt x="15828" y="58508"/>
                  </a:lnTo>
                  <a:lnTo>
                    <a:pt x="9525" y="89725"/>
                  </a:lnTo>
                  <a:lnTo>
                    <a:pt x="9525" y="374999"/>
                  </a:lnTo>
                  <a:lnTo>
                    <a:pt x="15828" y="406215"/>
                  </a:lnTo>
                  <a:lnTo>
                    <a:pt x="33016" y="431708"/>
                  </a:lnTo>
                  <a:lnTo>
                    <a:pt x="58509" y="448896"/>
                  </a:lnTo>
                  <a:lnTo>
                    <a:pt x="89725" y="455199"/>
                  </a:lnTo>
                  <a:lnTo>
                    <a:pt x="413578" y="455199"/>
                  </a:lnTo>
                  <a:lnTo>
                    <a:pt x="409835" y="457723"/>
                  </a:lnTo>
                  <a:lnTo>
                    <a:pt x="409649" y="457723"/>
                  </a:lnTo>
                  <a:lnTo>
                    <a:pt x="398570" y="459962"/>
                  </a:lnTo>
                  <a:lnTo>
                    <a:pt x="89725" y="459962"/>
                  </a:lnTo>
                  <a:lnTo>
                    <a:pt x="89725" y="464724"/>
                  </a:lnTo>
                  <a:close/>
                </a:path>
                <a:path w="464820" h="464820">
                  <a:moveTo>
                    <a:pt x="413578" y="455199"/>
                  </a:moveTo>
                  <a:lnTo>
                    <a:pt x="374999" y="455199"/>
                  </a:lnTo>
                  <a:lnTo>
                    <a:pt x="406216" y="448896"/>
                  </a:lnTo>
                  <a:lnTo>
                    <a:pt x="431708" y="431708"/>
                  </a:lnTo>
                  <a:lnTo>
                    <a:pt x="448897" y="406215"/>
                  </a:lnTo>
                  <a:lnTo>
                    <a:pt x="455200" y="374999"/>
                  </a:lnTo>
                  <a:lnTo>
                    <a:pt x="455200" y="89725"/>
                  </a:lnTo>
                  <a:lnTo>
                    <a:pt x="448950" y="58508"/>
                  </a:lnTo>
                  <a:lnTo>
                    <a:pt x="431780" y="33016"/>
                  </a:lnTo>
                  <a:lnTo>
                    <a:pt x="406269" y="15827"/>
                  </a:lnTo>
                  <a:lnTo>
                    <a:pt x="374999" y="9525"/>
                  </a:lnTo>
                  <a:lnTo>
                    <a:pt x="89725" y="9525"/>
                  </a:lnTo>
                  <a:lnTo>
                    <a:pt x="89725" y="4762"/>
                  </a:lnTo>
                  <a:lnTo>
                    <a:pt x="374999" y="4762"/>
                  </a:lnTo>
                  <a:lnTo>
                    <a:pt x="374999" y="0"/>
                  </a:lnTo>
                  <a:lnTo>
                    <a:pt x="409914" y="7054"/>
                  </a:lnTo>
                  <a:lnTo>
                    <a:pt x="438436" y="26289"/>
                  </a:lnTo>
                  <a:lnTo>
                    <a:pt x="457670" y="54810"/>
                  </a:lnTo>
                  <a:lnTo>
                    <a:pt x="464791" y="89725"/>
                  </a:lnTo>
                  <a:lnTo>
                    <a:pt x="464791" y="374999"/>
                  </a:lnTo>
                  <a:lnTo>
                    <a:pt x="458417" y="406215"/>
                  </a:lnTo>
                  <a:lnTo>
                    <a:pt x="457634" y="409967"/>
                  </a:lnTo>
                  <a:lnTo>
                    <a:pt x="442972" y="431708"/>
                  </a:lnTo>
                  <a:lnTo>
                    <a:pt x="438330" y="438507"/>
                  </a:lnTo>
                  <a:lnTo>
                    <a:pt x="413578" y="455199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89712" y="464724"/>
                  </a:lnTo>
                  <a:lnTo>
                    <a:pt x="89725" y="459962"/>
                  </a:lnTo>
                  <a:lnTo>
                    <a:pt x="374999" y="459962"/>
                  </a:lnTo>
                  <a:lnTo>
                    <a:pt x="374999" y="464724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374999" y="459962"/>
                  </a:lnTo>
                  <a:lnTo>
                    <a:pt x="398570" y="459962"/>
                  </a:lnTo>
                  <a:lnTo>
                    <a:pt x="374999" y="46472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 descr=""/>
          <p:cNvSpPr txBox="1"/>
          <p:nvPr/>
        </p:nvSpPr>
        <p:spPr>
          <a:xfrm>
            <a:off x="9029794" y="4825396"/>
            <a:ext cx="228600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40" b="1">
                <a:solidFill>
                  <a:srgbClr val="262525"/>
                </a:solidFill>
                <a:latin typeface="Tahoma"/>
                <a:cs typeface="Tahoma"/>
              </a:rPr>
              <a:t>4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143178" y="4712205"/>
            <a:ext cx="3451225" cy="80200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900" b="1">
                <a:solidFill>
                  <a:srgbClr val="262525"/>
                </a:solidFill>
                <a:latin typeface="Tahoma"/>
                <a:cs typeface="Tahoma"/>
              </a:rPr>
              <a:t>Week</a:t>
            </a:r>
            <a:r>
              <a:rPr dirty="0" sz="1900" spc="-1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900" spc="-50" b="1">
                <a:solidFill>
                  <a:srgbClr val="262525"/>
                </a:solidFill>
                <a:latin typeface="Tahoma"/>
                <a:cs typeface="Tahoma"/>
              </a:rPr>
              <a:t>5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50" spc="-60">
                <a:solidFill>
                  <a:srgbClr val="262525"/>
                </a:solidFill>
                <a:latin typeface="Verdana"/>
                <a:cs typeface="Verdana"/>
              </a:rPr>
              <a:t>Embeddings</a:t>
            </a:r>
            <a:r>
              <a:rPr dirty="0" sz="155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135">
                <a:solidFill>
                  <a:srgbClr val="262525"/>
                </a:solidFill>
                <a:latin typeface="Verdana"/>
                <a:cs typeface="Verdana"/>
              </a:rPr>
              <a:t>&amp;</a:t>
            </a:r>
            <a:r>
              <a:rPr dirty="0" sz="155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75">
                <a:solidFill>
                  <a:srgbClr val="262525"/>
                </a:solidFill>
                <a:latin typeface="Verdana"/>
                <a:cs typeface="Verdana"/>
              </a:rPr>
              <a:t>ChromaDB</a:t>
            </a:r>
            <a:r>
              <a:rPr dirty="0" sz="1550" spc="-8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70">
                <a:solidFill>
                  <a:srgbClr val="262525"/>
                </a:solidFill>
                <a:latin typeface="Verdana"/>
                <a:cs typeface="Verdana"/>
              </a:rPr>
              <a:t>Integration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8337870" y="5798495"/>
            <a:ext cx="1038860" cy="464820"/>
            <a:chOff x="8337870" y="5798495"/>
            <a:chExt cx="1038860" cy="464820"/>
          </a:xfrm>
        </p:grpSpPr>
        <p:sp>
          <p:nvSpPr>
            <p:cNvPr id="28" name="object 28" descr=""/>
            <p:cNvSpPr/>
            <p:nvPr/>
          </p:nvSpPr>
          <p:spPr>
            <a:xfrm>
              <a:off x="8337870" y="6016523"/>
              <a:ext cx="607060" cy="28575"/>
            </a:xfrm>
            <a:custGeom>
              <a:avLst/>
              <a:gdLst/>
              <a:ahLst/>
              <a:cxnLst/>
              <a:rect l="l" t="t" r="r" b="b"/>
              <a:pathLst>
                <a:path w="607059" h="28575">
                  <a:moveTo>
                    <a:pt x="60064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00646" y="0"/>
                  </a:lnTo>
                  <a:lnTo>
                    <a:pt x="607028" y="6381"/>
                  </a:lnTo>
                  <a:lnTo>
                    <a:pt x="607028" y="22193"/>
                  </a:lnTo>
                  <a:lnTo>
                    <a:pt x="600646" y="2857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8916371" y="5803258"/>
              <a:ext cx="455295" cy="455295"/>
            </a:xfrm>
            <a:custGeom>
              <a:avLst/>
              <a:gdLst/>
              <a:ahLst/>
              <a:cxnLst/>
              <a:rect l="l" t="t" r="r" b="b"/>
              <a:pathLst>
                <a:path w="455295" h="455295">
                  <a:moveTo>
                    <a:pt x="370236" y="455199"/>
                  </a:moveTo>
                  <a:lnTo>
                    <a:pt x="84963" y="455199"/>
                  </a:lnTo>
                  <a:lnTo>
                    <a:pt x="51917" y="448567"/>
                  </a:lnTo>
                  <a:lnTo>
                    <a:pt x="24907" y="430363"/>
                  </a:lnTo>
                  <a:lnTo>
                    <a:pt x="6685" y="403336"/>
                  </a:lnTo>
                  <a:lnTo>
                    <a:pt x="0" y="370236"/>
                  </a:lnTo>
                  <a:lnTo>
                    <a:pt x="0" y="84963"/>
                  </a:lnTo>
                  <a:lnTo>
                    <a:pt x="6685" y="51917"/>
                  </a:lnTo>
                  <a:lnTo>
                    <a:pt x="24907" y="24907"/>
                  </a:lnTo>
                  <a:lnTo>
                    <a:pt x="51917" y="6685"/>
                  </a:lnTo>
                  <a:lnTo>
                    <a:pt x="84963" y="0"/>
                  </a:lnTo>
                  <a:lnTo>
                    <a:pt x="370236" y="0"/>
                  </a:lnTo>
                  <a:lnTo>
                    <a:pt x="403322" y="6685"/>
                  </a:lnTo>
                  <a:lnTo>
                    <a:pt x="430327" y="24907"/>
                  </a:lnTo>
                  <a:lnTo>
                    <a:pt x="448527" y="51917"/>
                  </a:lnTo>
                  <a:lnTo>
                    <a:pt x="455199" y="84963"/>
                  </a:lnTo>
                  <a:lnTo>
                    <a:pt x="455199" y="370236"/>
                  </a:lnTo>
                  <a:lnTo>
                    <a:pt x="448505" y="403336"/>
                  </a:lnTo>
                  <a:lnTo>
                    <a:pt x="430238" y="430363"/>
                  </a:lnTo>
                  <a:lnTo>
                    <a:pt x="403222" y="448567"/>
                  </a:lnTo>
                  <a:lnTo>
                    <a:pt x="403083" y="448567"/>
                  </a:lnTo>
                  <a:lnTo>
                    <a:pt x="370236" y="455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8911608" y="5798495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20" h="464820">
                  <a:moveTo>
                    <a:pt x="89725" y="464724"/>
                  </a:moveTo>
                  <a:lnTo>
                    <a:pt x="89394" y="464724"/>
                  </a:lnTo>
                  <a:lnTo>
                    <a:pt x="54810" y="457723"/>
                  </a:lnTo>
                  <a:lnTo>
                    <a:pt x="26289" y="438507"/>
                  </a:lnTo>
                  <a:lnTo>
                    <a:pt x="7054" y="409968"/>
                  </a:lnTo>
                  <a:lnTo>
                    <a:pt x="0" y="374999"/>
                  </a:lnTo>
                  <a:lnTo>
                    <a:pt x="0" y="89725"/>
                  </a:lnTo>
                  <a:lnTo>
                    <a:pt x="26289" y="26289"/>
                  </a:lnTo>
                  <a:lnTo>
                    <a:pt x="89725" y="0"/>
                  </a:lnTo>
                  <a:lnTo>
                    <a:pt x="374999" y="0"/>
                  </a:lnTo>
                  <a:lnTo>
                    <a:pt x="374999" y="4762"/>
                  </a:lnTo>
                  <a:lnTo>
                    <a:pt x="89725" y="4762"/>
                  </a:lnTo>
                  <a:lnTo>
                    <a:pt x="89725" y="9525"/>
                  </a:lnTo>
                  <a:lnTo>
                    <a:pt x="58509" y="15828"/>
                  </a:lnTo>
                  <a:lnTo>
                    <a:pt x="33016" y="33016"/>
                  </a:lnTo>
                  <a:lnTo>
                    <a:pt x="15828" y="58508"/>
                  </a:lnTo>
                  <a:lnTo>
                    <a:pt x="9525" y="89725"/>
                  </a:lnTo>
                  <a:lnTo>
                    <a:pt x="9525" y="374999"/>
                  </a:lnTo>
                  <a:lnTo>
                    <a:pt x="15828" y="406216"/>
                  </a:lnTo>
                  <a:lnTo>
                    <a:pt x="33016" y="431708"/>
                  </a:lnTo>
                  <a:lnTo>
                    <a:pt x="58509" y="448897"/>
                  </a:lnTo>
                  <a:lnTo>
                    <a:pt x="89725" y="455200"/>
                  </a:lnTo>
                  <a:lnTo>
                    <a:pt x="413577" y="455200"/>
                  </a:lnTo>
                  <a:lnTo>
                    <a:pt x="409834" y="457723"/>
                  </a:lnTo>
                  <a:lnTo>
                    <a:pt x="409647" y="457723"/>
                  </a:lnTo>
                  <a:lnTo>
                    <a:pt x="398571" y="459961"/>
                  </a:lnTo>
                  <a:lnTo>
                    <a:pt x="89725" y="459961"/>
                  </a:lnTo>
                  <a:lnTo>
                    <a:pt x="89725" y="464724"/>
                  </a:lnTo>
                  <a:close/>
                </a:path>
                <a:path w="464820" h="464820">
                  <a:moveTo>
                    <a:pt x="413577" y="455200"/>
                  </a:moveTo>
                  <a:lnTo>
                    <a:pt x="374999" y="455200"/>
                  </a:lnTo>
                  <a:lnTo>
                    <a:pt x="406216" y="448897"/>
                  </a:lnTo>
                  <a:lnTo>
                    <a:pt x="431708" y="431708"/>
                  </a:lnTo>
                  <a:lnTo>
                    <a:pt x="448897" y="406216"/>
                  </a:lnTo>
                  <a:lnTo>
                    <a:pt x="455200" y="374999"/>
                  </a:lnTo>
                  <a:lnTo>
                    <a:pt x="455200" y="89725"/>
                  </a:lnTo>
                  <a:lnTo>
                    <a:pt x="448950" y="58508"/>
                  </a:lnTo>
                  <a:lnTo>
                    <a:pt x="431780" y="33016"/>
                  </a:lnTo>
                  <a:lnTo>
                    <a:pt x="406269" y="15828"/>
                  </a:lnTo>
                  <a:lnTo>
                    <a:pt x="374999" y="9525"/>
                  </a:lnTo>
                  <a:lnTo>
                    <a:pt x="89725" y="9525"/>
                  </a:lnTo>
                  <a:lnTo>
                    <a:pt x="89725" y="4762"/>
                  </a:lnTo>
                  <a:lnTo>
                    <a:pt x="374999" y="4762"/>
                  </a:lnTo>
                  <a:lnTo>
                    <a:pt x="374999" y="0"/>
                  </a:lnTo>
                  <a:lnTo>
                    <a:pt x="409914" y="7054"/>
                  </a:lnTo>
                  <a:lnTo>
                    <a:pt x="438436" y="26289"/>
                  </a:lnTo>
                  <a:lnTo>
                    <a:pt x="457670" y="54810"/>
                  </a:lnTo>
                  <a:lnTo>
                    <a:pt x="464791" y="89725"/>
                  </a:lnTo>
                  <a:lnTo>
                    <a:pt x="464791" y="374999"/>
                  </a:lnTo>
                  <a:lnTo>
                    <a:pt x="458417" y="406216"/>
                  </a:lnTo>
                  <a:lnTo>
                    <a:pt x="457634" y="409968"/>
                  </a:lnTo>
                  <a:lnTo>
                    <a:pt x="442972" y="431708"/>
                  </a:lnTo>
                  <a:lnTo>
                    <a:pt x="438329" y="438507"/>
                  </a:lnTo>
                  <a:lnTo>
                    <a:pt x="413577" y="455200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89712" y="464724"/>
                  </a:lnTo>
                  <a:lnTo>
                    <a:pt x="89725" y="459961"/>
                  </a:lnTo>
                  <a:lnTo>
                    <a:pt x="374999" y="459961"/>
                  </a:lnTo>
                  <a:lnTo>
                    <a:pt x="374999" y="464724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374999" y="459961"/>
                  </a:lnTo>
                  <a:lnTo>
                    <a:pt x="398571" y="459961"/>
                  </a:lnTo>
                  <a:lnTo>
                    <a:pt x="374999" y="46472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 descr=""/>
          <p:cNvSpPr txBox="1"/>
          <p:nvPr/>
        </p:nvSpPr>
        <p:spPr>
          <a:xfrm>
            <a:off x="9037980" y="5814205"/>
            <a:ext cx="212090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50" b="1">
                <a:solidFill>
                  <a:srgbClr val="262525"/>
                </a:solidFill>
                <a:latin typeface="Tahoma"/>
                <a:cs typeface="Tahoma"/>
              </a:rPr>
              <a:t>5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5341842" y="5701014"/>
            <a:ext cx="2803525" cy="80200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95"/>
              </a:spcBef>
            </a:pPr>
            <a:r>
              <a:rPr dirty="0" sz="1900" b="1">
                <a:solidFill>
                  <a:srgbClr val="262525"/>
                </a:solidFill>
                <a:latin typeface="Tahoma"/>
                <a:cs typeface="Tahoma"/>
              </a:rPr>
              <a:t>Week</a:t>
            </a:r>
            <a:r>
              <a:rPr dirty="0" sz="1900" spc="-1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900" spc="-50" b="1">
                <a:solidFill>
                  <a:srgbClr val="262525"/>
                </a:solidFill>
                <a:latin typeface="Tahoma"/>
                <a:cs typeface="Tahoma"/>
              </a:rPr>
              <a:t>6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50" spc="-135">
                <a:solidFill>
                  <a:srgbClr val="262525"/>
                </a:solidFill>
                <a:latin typeface="Verdana"/>
                <a:cs typeface="Verdana"/>
              </a:rPr>
              <a:t>AI</a:t>
            </a:r>
            <a:r>
              <a:rPr dirty="0" sz="155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40">
                <a:solidFill>
                  <a:srgbClr val="262525"/>
                </a:solidFill>
                <a:latin typeface="Verdana"/>
                <a:cs typeface="Verdana"/>
              </a:rPr>
              <a:t>Matching</a:t>
            </a:r>
            <a:r>
              <a:rPr dirty="0" sz="155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135">
                <a:solidFill>
                  <a:srgbClr val="262525"/>
                </a:solidFill>
                <a:latin typeface="Verdana"/>
                <a:cs typeface="Verdana"/>
              </a:rPr>
              <a:t>&amp;</a:t>
            </a:r>
            <a:r>
              <a:rPr dirty="0" sz="155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262525"/>
                </a:solidFill>
                <a:latin typeface="Verdana"/>
                <a:cs typeface="Verdana"/>
              </a:rPr>
              <a:t>LLM</a:t>
            </a:r>
            <a:r>
              <a:rPr dirty="0" sz="155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75">
                <a:solidFill>
                  <a:srgbClr val="262525"/>
                </a:solidFill>
                <a:latin typeface="Verdana"/>
                <a:cs typeface="Verdana"/>
              </a:rPr>
              <a:t>Integration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33" name="object 33" descr=""/>
          <p:cNvGrpSpPr/>
          <p:nvPr/>
        </p:nvGrpSpPr>
        <p:grpSpPr>
          <a:xfrm>
            <a:off x="8911608" y="6787304"/>
            <a:ext cx="1038860" cy="464820"/>
            <a:chOff x="8911608" y="6787304"/>
            <a:chExt cx="1038860" cy="464820"/>
          </a:xfrm>
        </p:grpSpPr>
        <p:sp>
          <p:nvSpPr>
            <p:cNvPr id="34" name="object 34" descr=""/>
            <p:cNvSpPr/>
            <p:nvPr/>
          </p:nvSpPr>
          <p:spPr>
            <a:xfrm>
              <a:off x="9343053" y="7005341"/>
              <a:ext cx="607060" cy="28575"/>
            </a:xfrm>
            <a:custGeom>
              <a:avLst/>
              <a:gdLst/>
              <a:ahLst/>
              <a:cxnLst/>
              <a:rect l="l" t="t" r="r" b="b"/>
              <a:pathLst>
                <a:path w="607059" h="28575">
                  <a:moveTo>
                    <a:pt x="60064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00646" y="0"/>
                  </a:lnTo>
                  <a:lnTo>
                    <a:pt x="607028" y="6381"/>
                  </a:lnTo>
                  <a:lnTo>
                    <a:pt x="607028" y="22193"/>
                  </a:lnTo>
                  <a:lnTo>
                    <a:pt x="600646" y="2857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8916371" y="6792067"/>
              <a:ext cx="455295" cy="455295"/>
            </a:xfrm>
            <a:custGeom>
              <a:avLst/>
              <a:gdLst/>
              <a:ahLst/>
              <a:cxnLst/>
              <a:rect l="l" t="t" r="r" b="b"/>
              <a:pathLst>
                <a:path w="455295" h="455295">
                  <a:moveTo>
                    <a:pt x="370236" y="455199"/>
                  </a:moveTo>
                  <a:lnTo>
                    <a:pt x="84963" y="455199"/>
                  </a:lnTo>
                  <a:lnTo>
                    <a:pt x="51917" y="448567"/>
                  </a:lnTo>
                  <a:lnTo>
                    <a:pt x="24907" y="430363"/>
                  </a:lnTo>
                  <a:lnTo>
                    <a:pt x="6685" y="403336"/>
                  </a:lnTo>
                  <a:lnTo>
                    <a:pt x="0" y="370236"/>
                  </a:lnTo>
                  <a:lnTo>
                    <a:pt x="0" y="84963"/>
                  </a:lnTo>
                  <a:lnTo>
                    <a:pt x="6685" y="51917"/>
                  </a:lnTo>
                  <a:lnTo>
                    <a:pt x="24907" y="24907"/>
                  </a:lnTo>
                  <a:lnTo>
                    <a:pt x="51917" y="6685"/>
                  </a:lnTo>
                  <a:lnTo>
                    <a:pt x="84963" y="0"/>
                  </a:lnTo>
                  <a:lnTo>
                    <a:pt x="370236" y="0"/>
                  </a:lnTo>
                  <a:lnTo>
                    <a:pt x="403322" y="6685"/>
                  </a:lnTo>
                  <a:lnTo>
                    <a:pt x="430327" y="24907"/>
                  </a:lnTo>
                  <a:lnTo>
                    <a:pt x="448527" y="51917"/>
                  </a:lnTo>
                  <a:lnTo>
                    <a:pt x="455199" y="84963"/>
                  </a:lnTo>
                  <a:lnTo>
                    <a:pt x="455199" y="370236"/>
                  </a:lnTo>
                  <a:lnTo>
                    <a:pt x="448505" y="403336"/>
                  </a:lnTo>
                  <a:lnTo>
                    <a:pt x="430238" y="430363"/>
                  </a:lnTo>
                  <a:lnTo>
                    <a:pt x="403222" y="448567"/>
                  </a:lnTo>
                  <a:lnTo>
                    <a:pt x="403083" y="448567"/>
                  </a:lnTo>
                  <a:lnTo>
                    <a:pt x="370236" y="455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911608" y="6787304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20" h="464820">
                  <a:moveTo>
                    <a:pt x="89725" y="464724"/>
                  </a:moveTo>
                  <a:lnTo>
                    <a:pt x="89396" y="464724"/>
                  </a:lnTo>
                  <a:lnTo>
                    <a:pt x="54810" y="457724"/>
                  </a:lnTo>
                  <a:lnTo>
                    <a:pt x="26289" y="438507"/>
                  </a:lnTo>
                  <a:lnTo>
                    <a:pt x="7054" y="409968"/>
                  </a:lnTo>
                  <a:lnTo>
                    <a:pt x="0" y="374999"/>
                  </a:lnTo>
                  <a:lnTo>
                    <a:pt x="0" y="89725"/>
                  </a:lnTo>
                  <a:lnTo>
                    <a:pt x="7054" y="54810"/>
                  </a:lnTo>
                  <a:lnTo>
                    <a:pt x="26289" y="26289"/>
                  </a:lnTo>
                  <a:lnTo>
                    <a:pt x="54810" y="7054"/>
                  </a:lnTo>
                  <a:lnTo>
                    <a:pt x="89725" y="0"/>
                  </a:lnTo>
                  <a:lnTo>
                    <a:pt x="374999" y="0"/>
                  </a:lnTo>
                  <a:lnTo>
                    <a:pt x="374999" y="4762"/>
                  </a:lnTo>
                  <a:lnTo>
                    <a:pt x="89725" y="4762"/>
                  </a:lnTo>
                  <a:lnTo>
                    <a:pt x="89725" y="9525"/>
                  </a:lnTo>
                  <a:lnTo>
                    <a:pt x="33016" y="33016"/>
                  </a:lnTo>
                  <a:lnTo>
                    <a:pt x="9525" y="89725"/>
                  </a:lnTo>
                  <a:lnTo>
                    <a:pt x="9525" y="374999"/>
                  </a:lnTo>
                  <a:lnTo>
                    <a:pt x="15828" y="406216"/>
                  </a:lnTo>
                  <a:lnTo>
                    <a:pt x="33016" y="431708"/>
                  </a:lnTo>
                  <a:lnTo>
                    <a:pt x="58509" y="448897"/>
                  </a:lnTo>
                  <a:lnTo>
                    <a:pt x="89725" y="455199"/>
                  </a:lnTo>
                  <a:lnTo>
                    <a:pt x="413578" y="455199"/>
                  </a:lnTo>
                  <a:lnTo>
                    <a:pt x="409835" y="457724"/>
                  </a:lnTo>
                  <a:lnTo>
                    <a:pt x="409649" y="457724"/>
                  </a:lnTo>
                  <a:lnTo>
                    <a:pt x="398570" y="459962"/>
                  </a:lnTo>
                  <a:lnTo>
                    <a:pt x="89725" y="459962"/>
                  </a:lnTo>
                  <a:lnTo>
                    <a:pt x="89725" y="464724"/>
                  </a:lnTo>
                  <a:close/>
                </a:path>
                <a:path w="464820" h="464820">
                  <a:moveTo>
                    <a:pt x="413578" y="455199"/>
                  </a:moveTo>
                  <a:lnTo>
                    <a:pt x="374999" y="455199"/>
                  </a:lnTo>
                  <a:lnTo>
                    <a:pt x="406216" y="448897"/>
                  </a:lnTo>
                  <a:lnTo>
                    <a:pt x="431708" y="431708"/>
                  </a:lnTo>
                  <a:lnTo>
                    <a:pt x="448897" y="406216"/>
                  </a:lnTo>
                  <a:lnTo>
                    <a:pt x="455200" y="374999"/>
                  </a:lnTo>
                  <a:lnTo>
                    <a:pt x="455200" y="89725"/>
                  </a:lnTo>
                  <a:lnTo>
                    <a:pt x="448950" y="58509"/>
                  </a:lnTo>
                  <a:lnTo>
                    <a:pt x="431780" y="33016"/>
                  </a:lnTo>
                  <a:lnTo>
                    <a:pt x="406269" y="15828"/>
                  </a:lnTo>
                  <a:lnTo>
                    <a:pt x="374999" y="9525"/>
                  </a:lnTo>
                  <a:lnTo>
                    <a:pt x="89725" y="9525"/>
                  </a:lnTo>
                  <a:lnTo>
                    <a:pt x="89725" y="4762"/>
                  </a:lnTo>
                  <a:lnTo>
                    <a:pt x="374999" y="4762"/>
                  </a:lnTo>
                  <a:lnTo>
                    <a:pt x="374999" y="0"/>
                  </a:lnTo>
                  <a:lnTo>
                    <a:pt x="409914" y="7054"/>
                  </a:lnTo>
                  <a:lnTo>
                    <a:pt x="438436" y="26289"/>
                  </a:lnTo>
                  <a:lnTo>
                    <a:pt x="457670" y="54810"/>
                  </a:lnTo>
                  <a:lnTo>
                    <a:pt x="464791" y="89725"/>
                  </a:lnTo>
                  <a:lnTo>
                    <a:pt x="464791" y="374999"/>
                  </a:lnTo>
                  <a:lnTo>
                    <a:pt x="458417" y="406216"/>
                  </a:lnTo>
                  <a:lnTo>
                    <a:pt x="457634" y="409968"/>
                  </a:lnTo>
                  <a:lnTo>
                    <a:pt x="442972" y="431708"/>
                  </a:lnTo>
                  <a:lnTo>
                    <a:pt x="438329" y="438507"/>
                  </a:lnTo>
                  <a:lnTo>
                    <a:pt x="413578" y="455199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89712" y="464724"/>
                  </a:lnTo>
                  <a:lnTo>
                    <a:pt x="89725" y="459962"/>
                  </a:lnTo>
                  <a:lnTo>
                    <a:pt x="374999" y="459962"/>
                  </a:lnTo>
                  <a:lnTo>
                    <a:pt x="374999" y="464724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374999" y="459962"/>
                  </a:lnTo>
                  <a:lnTo>
                    <a:pt x="398570" y="459962"/>
                  </a:lnTo>
                  <a:lnTo>
                    <a:pt x="374999" y="46472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9034259" y="6803025"/>
            <a:ext cx="219710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50" b="1">
                <a:solidFill>
                  <a:srgbClr val="262525"/>
                </a:solidFill>
                <a:latin typeface="Tahoma"/>
                <a:cs typeface="Tahoma"/>
              </a:rPr>
              <a:t>6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10143178" y="6689832"/>
            <a:ext cx="2106930" cy="80200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95"/>
              </a:spcBef>
            </a:pPr>
            <a:r>
              <a:rPr dirty="0" sz="1900" b="1">
                <a:solidFill>
                  <a:srgbClr val="262525"/>
                </a:solidFill>
                <a:latin typeface="Tahoma"/>
                <a:cs typeface="Tahoma"/>
              </a:rPr>
              <a:t>Week</a:t>
            </a:r>
            <a:r>
              <a:rPr dirty="0" sz="1900" spc="-1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900" spc="-50" b="1">
                <a:solidFill>
                  <a:srgbClr val="262525"/>
                </a:solidFill>
                <a:latin typeface="Tahoma"/>
                <a:cs typeface="Tahoma"/>
              </a:rPr>
              <a:t>7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50" spc="-45">
                <a:solidFill>
                  <a:srgbClr val="262525"/>
                </a:solidFill>
                <a:latin typeface="Verdana"/>
                <a:cs typeface="Verdana"/>
              </a:rPr>
              <a:t>Testing</a:t>
            </a:r>
            <a:r>
              <a:rPr dirty="0" sz="15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135">
                <a:solidFill>
                  <a:srgbClr val="262525"/>
                </a:solidFill>
                <a:latin typeface="Verdana"/>
                <a:cs typeface="Verdana"/>
              </a:rPr>
              <a:t>&amp;</a:t>
            </a:r>
            <a:r>
              <a:rPr dirty="0" sz="1550" spc="-11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60">
                <a:solidFill>
                  <a:srgbClr val="262525"/>
                </a:solidFill>
                <a:latin typeface="Verdana"/>
                <a:cs typeface="Verdana"/>
              </a:rPr>
              <a:t>Optimization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8337870" y="7776123"/>
            <a:ext cx="1038860" cy="464820"/>
            <a:chOff x="8337870" y="7776123"/>
            <a:chExt cx="1038860" cy="464820"/>
          </a:xfrm>
        </p:grpSpPr>
        <p:sp>
          <p:nvSpPr>
            <p:cNvPr id="40" name="object 40" descr=""/>
            <p:cNvSpPr/>
            <p:nvPr/>
          </p:nvSpPr>
          <p:spPr>
            <a:xfrm>
              <a:off x="8337870" y="7994151"/>
              <a:ext cx="607060" cy="28575"/>
            </a:xfrm>
            <a:custGeom>
              <a:avLst/>
              <a:gdLst/>
              <a:ahLst/>
              <a:cxnLst/>
              <a:rect l="l" t="t" r="r" b="b"/>
              <a:pathLst>
                <a:path w="607059" h="28575">
                  <a:moveTo>
                    <a:pt x="600646" y="28574"/>
                  </a:moveTo>
                  <a:lnTo>
                    <a:pt x="6381" y="28574"/>
                  </a:lnTo>
                  <a:lnTo>
                    <a:pt x="0" y="22193"/>
                  </a:lnTo>
                  <a:lnTo>
                    <a:pt x="0" y="6381"/>
                  </a:lnTo>
                  <a:lnTo>
                    <a:pt x="6381" y="0"/>
                  </a:lnTo>
                  <a:lnTo>
                    <a:pt x="600646" y="0"/>
                  </a:lnTo>
                  <a:lnTo>
                    <a:pt x="607028" y="6381"/>
                  </a:lnTo>
                  <a:lnTo>
                    <a:pt x="607028" y="22193"/>
                  </a:lnTo>
                  <a:lnTo>
                    <a:pt x="600646" y="2857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916371" y="7780886"/>
              <a:ext cx="455295" cy="455295"/>
            </a:xfrm>
            <a:custGeom>
              <a:avLst/>
              <a:gdLst/>
              <a:ahLst/>
              <a:cxnLst/>
              <a:rect l="l" t="t" r="r" b="b"/>
              <a:pathLst>
                <a:path w="455295" h="455295">
                  <a:moveTo>
                    <a:pt x="370236" y="455199"/>
                  </a:moveTo>
                  <a:lnTo>
                    <a:pt x="84963" y="455199"/>
                  </a:lnTo>
                  <a:lnTo>
                    <a:pt x="51917" y="448568"/>
                  </a:lnTo>
                  <a:lnTo>
                    <a:pt x="24907" y="430363"/>
                  </a:lnTo>
                  <a:lnTo>
                    <a:pt x="6685" y="403336"/>
                  </a:lnTo>
                  <a:lnTo>
                    <a:pt x="0" y="370236"/>
                  </a:lnTo>
                  <a:lnTo>
                    <a:pt x="0" y="84963"/>
                  </a:lnTo>
                  <a:lnTo>
                    <a:pt x="6685" y="51917"/>
                  </a:lnTo>
                  <a:lnTo>
                    <a:pt x="24907" y="24907"/>
                  </a:lnTo>
                  <a:lnTo>
                    <a:pt x="51917" y="6685"/>
                  </a:lnTo>
                  <a:lnTo>
                    <a:pt x="84963" y="0"/>
                  </a:lnTo>
                  <a:lnTo>
                    <a:pt x="370236" y="0"/>
                  </a:lnTo>
                  <a:lnTo>
                    <a:pt x="403322" y="6685"/>
                  </a:lnTo>
                  <a:lnTo>
                    <a:pt x="430327" y="24907"/>
                  </a:lnTo>
                  <a:lnTo>
                    <a:pt x="448527" y="51917"/>
                  </a:lnTo>
                  <a:lnTo>
                    <a:pt x="455199" y="84963"/>
                  </a:lnTo>
                  <a:lnTo>
                    <a:pt x="455199" y="370236"/>
                  </a:lnTo>
                  <a:lnTo>
                    <a:pt x="448505" y="403336"/>
                  </a:lnTo>
                  <a:lnTo>
                    <a:pt x="430239" y="430363"/>
                  </a:lnTo>
                  <a:lnTo>
                    <a:pt x="403223" y="448568"/>
                  </a:lnTo>
                  <a:lnTo>
                    <a:pt x="403084" y="448568"/>
                  </a:lnTo>
                  <a:lnTo>
                    <a:pt x="370236" y="455199"/>
                  </a:lnTo>
                  <a:close/>
                </a:path>
              </a:pathLst>
            </a:custGeom>
            <a:solidFill>
              <a:srgbClr val="D9DA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911608" y="7776123"/>
              <a:ext cx="464820" cy="464820"/>
            </a:xfrm>
            <a:custGeom>
              <a:avLst/>
              <a:gdLst/>
              <a:ahLst/>
              <a:cxnLst/>
              <a:rect l="l" t="t" r="r" b="b"/>
              <a:pathLst>
                <a:path w="464820" h="464820">
                  <a:moveTo>
                    <a:pt x="89725" y="464724"/>
                  </a:moveTo>
                  <a:lnTo>
                    <a:pt x="89397" y="464724"/>
                  </a:lnTo>
                  <a:lnTo>
                    <a:pt x="54810" y="457724"/>
                  </a:lnTo>
                  <a:lnTo>
                    <a:pt x="26289" y="438507"/>
                  </a:lnTo>
                  <a:lnTo>
                    <a:pt x="7054" y="409968"/>
                  </a:lnTo>
                  <a:lnTo>
                    <a:pt x="0" y="374999"/>
                  </a:lnTo>
                  <a:lnTo>
                    <a:pt x="0" y="89725"/>
                  </a:lnTo>
                  <a:lnTo>
                    <a:pt x="7054" y="54810"/>
                  </a:lnTo>
                  <a:lnTo>
                    <a:pt x="26289" y="26289"/>
                  </a:lnTo>
                  <a:lnTo>
                    <a:pt x="54810" y="7054"/>
                  </a:lnTo>
                  <a:lnTo>
                    <a:pt x="89725" y="0"/>
                  </a:lnTo>
                  <a:lnTo>
                    <a:pt x="374999" y="0"/>
                  </a:lnTo>
                  <a:lnTo>
                    <a:pt x="374999" y="4762"/>
                  </a:lnTo>
                  <a:lnTo>
                    <a:pt x="89725" y="4762"/>
                  </a:lnTo>
                  <a:lnTo>
                    <a:pt x="89725" y="9525"/>
                  </a:lnTo>
                  <a:lnTo>
                    <a:pt x="58509" y="15827"/>
                  </a:lnTo>
                  <a:lnTo>
                    <a:pt x="33016" y="33016"/>
                  </a:lnTo>
                  <a:lnTo>
                    <a:pt x="15828" y="58508"/>
                  </a:lnTo>
                  <a:lnTo>
                    <a:pt x="9525" y="89725"/>
                  </a:lnTo>
                  <a:lnTo>
                    <a:pt x="9525" y="374999"/>
                  </a:lnTo>
                  <a:lnTo>
                    <a:pt x="15828" y="406216"/>
                  </a:lnTo>
                  <a:lnTo>
                    <a:pt x="33016" y="431708"/>
                  </a:lnTo>
                  <a:lnTo>
                    <a:pt x="58509" y="448897"/>
                  </a:lnTo>
                  <a:lnTo>
                    <a:pt x="89725" y="455199"/>
                  </a:lnTo>
                  <a:lnTo>
                    <a:pt x="413578" y="455199"/>
                  </a:lnTo>
                  <a:lnTo>
                    <a:pt x="409835" y="457724"/>
                  </a:lnTo>
                  <a:lnTo>
                    <a:pt x="409649" y="457724"/>
                  </a:lnTo>
                  <a:lnTo>
                    <a:pt x="398570" y="459962"/>
                  </a:lnTo>
                  <a:lnTo>
                    <a:pt x="89725" y="459962"/>
                  </a:lnTo>
                  <a:lnTo>
                    <a:pt x="89725" y="464724"/>
                  </a:lnTo>
                  <a:close/>
                </a:path>
                <a:path w="464820" h="464820">
                  <a:moveTo>
                    <a:pt x="413578" y="455199"/>
                  </a:moveTo>
                  <a:lnTo>
                    <a:pt x="374999" y="455199"/>
                  </a:lnTo>
                  <a:lnTo>
                    <a:pt x="406216" y="448897"/>
                  </a:lnTo>
                  <a:lnTo>
                    <a:pt x="431708" y="431708"/>
                  </a:lnTo>
                  <a:lnTo>
                    <a:pt x="448897" y="406216"/>
                  </a:lnTo>
                  <a:lnTo>
                    <a:pt x="455200" y="374999"/>
                  </a:lnTo>
                  <a:lnTo>
                    <a:pt x="455200" y="89725"/>
                  </a:lnTo>
                  <a:lnTo>
                    <a:pt x="448950" y="58508"/>
                  </a:lnTo>
                  <a:lnTo>
                    <a:pt x="431780" y="33016"/>
                  </a:lnTo>
                  <a:lnTo>
                    <a:pt x="406269" y="15827"/>
                  </a:lnTo>
                  <a:lnTo>
                    <a:pt x="374999" y="9525"/>
                  </a:lnTo>
                  <a:lnTo>
                    <a:pt x="89725" y="9525"/>
                  </a:lnTo>
                  <a:lnTo>
                    <a:pt x="89725" y="4762"/>
                  </a:lnTo>
                  <a:lnTo>
                    <a:pt x="374999" y="4762"/>
                  </a:lnTo>
                  <a:lnTo>
                    <a:pt x="374999" y="0"/>
                  </a:lnTo>
                  <a:lnTo>
                    <a:pt x="409914" y="7054"/>
                  </a:lnTo>
                  <a:lnTo>
                    <a:pt x="438436" y="26289"/>
                  </a:lnTo>
                  <a:lnTo>
                    <a:pt x="457670" y="54810"/>
                  </a:lnTo>
                  <a:lnTo>
                    <a:pt x="464791" y="89725"/>
                  </a:lnTo>
                  <a:lnTo>
                    <a:pt x="464791" y="374999"/>
                  </a:lnTo>
                  <a:lnTo>
                    <a:pt x="458417" y="406216"/>
                  </a:lnTo>
                  <a:lnTo>
                    <a:pt x="457634" y="409968"/>
                  </a:lnTo>
                  <a:lnTo>
                    <a:pt x="442972" y="431708"/>
                  </a:lnTo>
                  <a:lnTo>
                    <a:pt x="438330" y="438507"/>
                  </a:lnTo>
                  <a:lnTo>
                    <a:pt x="413578" y="455199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89712" y="464724"/>
                  </a:lnTo>
                  <a:lnTo>
                    <a:pt x="89725" y="459962"/>
                  </a:lnTo>
                  <a:lnTo>
                    <a:pt x="374999" y="459962"/>
                  </a:lnTo>
                  <a:lnTo>
                    <a:pt x="374999" y="464724"/>
                  </a:lnTo>
                  <a:close/>
                </a:path>
                <a:path w="464820" h="464820">
                  <a:moveTo>
                    <a:pt x="374999" y="464724"/>
                  </a:moveTo>
                  <a:lnTo>
                    <a:pt x="374999" y="459962"/>
                  </a:lnTo>
                  <a:lnTo>
                    <a:pt x="398570" y="459962"/>
                  </a:lnTo>
                  <a:lnTo>
                    <a:pt x="374999" y="464724"/>
                  </a:lnTo>
                  <a:close/>
                </a:path>
              </a:pathLst>
            </a:custGeom>
            <a:solidFill>
              <a:srgbClr val="BFC1D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 descr=""/>
          <p:cNvSpPr txBox="1"/>
          <p:nvPr/>
        </p:nvSpPr>
        <p:spPr>
          <a:xfrm>
            <a:off x="9044528" y="7791833"/>
            <a:ext cx="198755" cy="387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350" spc="-85" b="1">
                <a:solidFill>
                  <a:srgbClr val="262525"/>
                </a:solidFill>
                <a:latin typeface="Tahoma"/>
                <a:cs typeface="Tahoma"/>
              </a:rPr>
              <a:t>7</a:t>
            </a:r>
            <a:endParaRPr sz="2350">
              <a:latin typeface="Tahoma"/>
              <a:cs typeface="Tahoma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369078" y="7678663"/>
            <a:ext cx="2776220" cy="802005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95"/>
              </a:spcBef>
            </a:pPr>
            <a:r>
              <a:rPr dirty="0" sz="1900" b="1">
                <a:solidFill>
                  <a:srgbClr val="262525"/>
                </a:solidFill>
                <a:latin typeface="Tahoma"/>
                <a:cs typeface="Tahoma"/>
              </a:rPr>
              <a:t>Week</a:t>
            </a:r>
            <a:r>
              <a:rPr dirty="0" sz="1900" spc="-1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900" spc="-50" b="1">
                <a:solidFill>
                  <a:srgbClr val="262525"/>
                </a:solidFill>
                <a:latin typeface="Tahoma"/>
                <a:cs typeface="Tahoma"/>
              </a:rPr>
              <a:t>8</a:t>
            </a:r>
            <a:endParaRPr sz="19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dirty="0" sz="1550" spc="-75">
                <a:solidFill>
                  <a:srgbClr val="262525"/>
                </a:solidFill>
                <a:latin typeface="Verdana"/>
                <a:cs typeface="Verdana"/>
              </a:rPr>
              <a:t>Documentation</a:t>
            </a:r>
            <a:r>
              <a:rPr dirty="0" sz="1550" spc="-6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135">
                <a:solidFill>
                  <a:srgbClr val="262525"/>
                </a:solidFill>
                <a:latin typeface="Verdana"/>
                <a:cs typeface="Verdana"/>
              </a:rPr>
              <a:t>&amp;</a:t>
            </a:r>
            <a:r>
              <a:rPr dirty="0" sz="1550" spc="-6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50" spc="-55">
                <a:solidFill>
                  <a:srgbClr val="262525"/>
                </a:solidFill>
                <a:latin typeface="Verdana"/>
                <a:cs typeface="Verdana"/>
              </a:rPr>
              <a:t>Deployment</a:t>
            </a:r>
            <a:endParaRPr sz="15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018759" y="9431855"/>
            <a:ext cx="3269615" cy="769620"/>
          </a:xfrm>
          <a:custGeom>
            <a:avLst/>
            <a:gdLst/>
            <a:ahLst/>
            <a:cxnLst/>
            <a:rect l="l" t="t" r="r" b="b"/>
            <a:pathLst>
              <a:path w="3269615" h="769620">
                <a:moveTo>
                  <a:pt x="3252813" y="769419"/>
                </a:moveTo>
                <a:lnTo>
                  <a:pt x="0" y="692232"/>
                </a:lnTo>
                <a:lnTo>
                  <a:pt x="16426" y="0"/>
                </a:lnTo>
                <a:lnTo>
                  <a:pt x="3269239" y="77186"/>
                </a:lnTo>
                <a:lnTo>
                  <a:pt x="3252813" y="76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9538" y="810726"/>
            <a:ext cx="6918325" cy="8731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-50"/>
              <a:t>Expected</a:t>
            </a:r>
            <a:r>
              <a:rPr dirty="0" sz="5550" spc="-330"/>
              <a:t> </a:t>
            </a:r>
            <a:r>
              <a:rPr dirty="0" sz="5550" spc="-10"/>
              <a:t>Outcomes</a:t>
            </a:r>
            <a:endParaRPr sz="5550"/>
          </a:p>
        </p:txBody>
      </p:sp>
      <p:sp>
        <p:nvSpPr>
          <p:cNvPr id="4" name="object 4" descr=""/>
          <p:cNvSpPr/>
          <p:nvPr/>
        </p:nvSpPr>
        <p:spPr>
          <a:xfrm>
            <a:off x="992225" y="2304160"/>
            <a:ext cx="5245735" cy="850900"/>
          </a:xfrm>
          <a:custGeom>
            <a:avLst/>
            <a:gdLst/>
            <a:ahLst/>
            <a:cxnLst/>
            <a:rect l="l" t="t" r="r" b="b"/>
            <a:pathLst>
              <a:path w="5245735" h="850900">
                <a:moveTo>
                  <a:pt x="5245417" y="463308"/>
                </a:moveTo>
                <a:lnTo>
                  <a:pt x="5239436" y="433641"/>
                </a:lnTo>
                <a:lnTo>
                  <a:pt x="5223116" y="409422"/>
                </a:lnTo>
                <a:lnTo>
                  <a:pt x="5198884" y="393090"/>
                </a:lnTo>
                <a:lnTo>
                  <a:pt x="5169217" y="387108"/>
                </a:lnTo>
                <a:lnTo>
                  <a:pt x="3045891" y="387108"/>
                </a:lnTo>
                <a:lnTo>
                  <a:pt x="3045460" y="378955"/>
                </a:lnTo>
                <a:lnTo>
                  <a:pt x="3038144" y="334060"/>
                </a:lnTo>
                <a:lnTo>
                  <a:pt x="3026283" y="290868"/>
                </a:lnTo>
                <a:lnTo>
                  <a:pt x="3010103" y="249643"/>
                </a:lnTo>
                <a:lnTo>
                  <a:pt x="2989897" y="210642"/>
                </a:lnTo>
                <a:lnTo>
                  <a:pt x="2965907" y="174117"/>
                </a:lnTo>
                <a:lnTo>
                  <a:pt x="2938386" y="140347"/>
                </a:lnTo>
                <a:lnTo>
                  <a:pt x="2907614" y="109562"/>
                </a:lnTo>
                <a:lnTo>
                  <a:pt x="2873845" y="82054"/>
                </a:lnTo>
                <a:lnTo>
                  <a:pt x="2837319" y="58064"/>
                </a:lnTo>
                <a:lnTo>
                  <a:pt x="2798318" y="37858"/>
                </a:lnTo>
                <a:lnTo>
                  <a:pt x="2757093" y="21678"/>
                </a:lnTo>
                <a:lnTo>
                  <a:pt x="2713901" y="9804"/>
                </a:lnTo>
                <a:lnTo>
                  <a:pt x="2669006" y="2501"/>
                </a:lnTo>
                <a:lnTo>
                  <a:pt x="2622664" y="0"/>
                </a:lnTo>
                <a:lnTo>
                  <a:pt x="2576322" y="2501"/>
                </a:lnTo>
                <a:lnTo>
                  <a:pt x="2531427" y="9804"/>
                </a:lnTo>
                <a:lnTo>
                  <a:pt x="2488234" y="21678"/>
                </a:lnTo>
                <a:lnTo>
                  <a:pt x="2447010" y="37858"/>
                </a:lnTo>
                <a:lnTo>
                  <a:pt x="2408009" y="58064"/>
                </a:lnTo>
                <a:lnTo>
                  <a:pt x="2371496" y="82054"/>
                </a:lnTo>
                <a:lnTo>
                  <a:pt x="2337714" y="109562"/>
                </a:lnTo>
                <a:lnTo>
                  <a:pt x="2306942" y="140347"/>
                </a:lnTo>
                <a:lnTo>
                  <a:pt x="2279434" y="174117"/>
                </a:lnTo>
                <a:lnTo>
                  <a:pt x="2255443" y="210642"/>
                </a:lnTo>
                <a:lnTo>
                  <a:pt x="2235225" y="249643"/>
                </a:lnTo>
                <a:lnTo>
                  <a:pt x="2219058" y="290868"/>
                </a:lnTo>
                <a:lnTo>
                  <a:pt x="2207183" y="334060"/>
                </a:lnTo>
                <a:lnTo>
                  <a:pt x="2199868" y="378955"/>
                </a:lnTo>
                <a:lnTo>
                  <a:pt x="2199424" y="387108"/>
                </a:lnTo>
                <a:lnTo>
                  <a:pt x="76200" y="387108"/>
                </a:lnTo>
                <a:lnTo>
                  <a:pt x="46532" y="393090"/>
                </a:lnTo>
                <a:lnTo>
                  <a:pt x="22313" y="409422"/>
                </a:lnTo>
                <a:lnTo>
                  <a:pt x="5994" y="433641"/>
                </a:lnTo>
                <a:lnTo>
                  <a:pt x="0" y="463308"/>
                </a:lnTo>
                <a:lnTo>
                  <a:pt x="5994" y="492975"/>
                </a:lnTo>
                <a:lnTo>
                  <a:pt x="22313" y="517194"/>
                </a:lnTo>
                <a:lnTo>
                  <a:pt x="46532" y="533514"/>
                </a:lnTo>
                <a:lnTo>
                  <a:pt x="76200" y="539508"/>
                </a:lnTo>
                <a:lnTo>
                  <a:pt x="2213495" y="539508"/>
                </a:lnTo>
                <a:lnTo>
                  <a:pt x="2219058" y="559714"/>
                </a:lnTo>
                <a:lnTo>
                  <a:pt x="2235225" y="600938"/>
                </a:lnTo>
                <a:lnTo>
                  <a:pt x="2255443" y="639940"/>
                </a:lnTo>
                <a:lnTo>
                  <a:pt x="2279434" y="676465"/>
                </a:lnTo>
                <a:lnTo>
                  <a:pt x="2306942" y="710234"/>
                </a:lnTo>
                <a:lnTo>
                  <a:pt x="2337714" y="741019"/>
                </a:lnTo>
                <a:lnTo>
                  <a:pt x="2371496" y="768527"/>
                </a:lnTo>
                <a:lnTo>
                  <a:pt x="2408009" y="792518"/>
                </a:lnTo>
                <a:lnTo>
                  <a:pt x="2447010" y="812736"/>
                </a:lnTo>
                <a:lnTo>
                  <a:pt x="2488234" y="828903"/>
                </a:lnTo>
                <a:lnTo>
                  <a:pt x="2531427" y="840778"/>
                </a:lnTo>
                <a:lnTo>
                  <a:pt x="2576322" y="848093"/>
                </a:lnTo>
                <a:lnTo>
                  <a:pt x="2622664" y="850582"/>
                </a:lnTo>
                <a:lnTo>
                  <a:pt x="2669006" y="848093"/>
                </a:lnTo>
                <a:lnTo>
                  <a:pt x="2713901" y="840778"/>
                </a:lnTo>
                <a:lnTo>
                  <a:pt x="2757093" y="828903"/>
                </a:lnTo>
                <a:lnTo>
                  <a:pt x="2798318" y="812736"/>
                </a:lnTo>
                <a:lnTo>
                  <a:pt x="2837319" y="792518"/>
                </a:lnTo>
                <a:lnTo>
                  <a:pt x="2873845" y="768527"/>
                </a:lnTo>
                <a:lnTo>
                  <a:pt x="2907614" y="741019"/>
                </a:lnTo>
                <a:lnTo>
                  <a:pt x="2938386" y="710234"/>
                </a:lnTo>
                <a:lnTo>
                  <a:pt x="2965907" y="676465"/>
                </a:lnTo>
                <a:lnTo>
                  <a:pt x="2989897" y="639940"/>
                </a:lnTo>
                <a:lnTo>
                  <a:pt x="3010103" y="600938"/>
                </a:lnTo>
                <a:lnTo>
                  <a:pt x="3026283" y="559714"/>
                </a:lnTo>
                <a:lnTo>
                  <a:pt x="3031820" y="539508"/>
                </a:lnTo>
                <a:lnTo>
                  <a:pt x="5169217" y="539508"/>
                </a:lnTo>
                <a:lnTo>
                  <a:pt x="5198884" y="533514"/>
                </a:lnTo>
                <a:lnTo>
                  <a:pt x="5223116" y="517194"/>
                </a:lnTo>
                <a:lnTo>
                  <a:pt x="5239436" y="492975"/>
                </a:lnTo>
                <a:lnTo>
                  <a:pt x="5245417" y="463308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3431997" y="2481903"/>
            <a:ext cx="16637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595" b="1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01159" y="3176446"/>
            <a:ext cx="4247515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65" b="1">
                <a:solidFill>
                  <a:srgbClr val="262525"/>
                </a:solidFill>
                <a:latin typeface="Tahoma"/>
                <a:cs typeface="Tahoma"/>
              </a:rPr>
              <a:t>Functional</a:t>
            </a:r>
            <a:r>
              <a:rPr dirty="0" sz="2750" spc="-14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229" b="1">
                <a:solidFill>
                  <a:srgbClr val="262525"/>
                </a:solidFill>
                <a:latin typeface="Tahoma"/>
                <a:cs typeface="Tahoma"/>
              </a:rPr>
              <a:t>AI</a:t>
            </a:r>
            <a:r>
              <a:rPr dirty="0" sz="2750" spc="-14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Application</a:t>
            </a:r>
            <a:endParaRPr sz="2750">
              <a:latin typeface="Tahoma"/>
              <a:cs typeface="Tahoma"/>
            </a:endParaRPr>
          </a:p>
          <a:p>
            <a:pPr marL="12700" marR="181610">
              <a:lnSpc>
                <a:spcPct val="136600"/>
              </a:lnSpc>
              <a:spcBef>
                <a:spcPts val="555"/>
              </a:spcBef>
            </a:pP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Complete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35">
                <a:solidFill>
                  <a:srgbClr val="262525"/>
                </a:solidFill>
                <a:latin typeface="Verdana"/>
                <a:cs typeface="Verdana"/>
              </a:rPr>
              <a:t>web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platform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0">
                <a:solidFill>
                  <a:srgbClr val="262525"/>
                </a:solidFill>
                <a:latin typeface="Verdana"/>
                <a:cs typeface="Verdana"/>
              </a:rPr>
              <a:t>with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intelligent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matching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40">
                <a:solidFill>
                  <a:srgbClr val="262525"/>
                </a:solidFill>
                <a:latin typeface="Verdana"/>
                <a:cs typeface="Verdana"/>
              </a:rPr>
              <a:t>capabilities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6521196" y="2304160"/>
            <a:ext cx="5245735" cy="850900"/>
          </a:xfrm>
          <a:custGeom>
            <a:avLst/>
            <a:gdLst/>
            <a:ahLst/>
            <a:cxnLst/>
            <a:rect l="l" t="t" r="r" b="b"/>
            <a:pathLst>
              <a:path w="5245734" h="850900">
                <a:moveTo>
                  <a:pt x="5245417" y="463308"/>
                </a:moveTo>
                <a:lnTo>
                  <a:pt x="5239436" y="433641"/>
                </a:lnTo>
                <a:lnTo>
                  <a:pt x="5223103" y="409422"/>
                </a:lnTo>
                <a:lnTo>
                  <a:pt x="5198884" y="393090"/>
                </a:lnTo>
                <a:lnTo>
                  <a:pt x="5169217" y="387108"/>
                </a:lnTo>
                <a:lnTo>
                  <a:pt x="3045891" y="387108"/>
                </a:lnTo>
                <a:lnTo>
                  <a:pt x="3045460" y="378955"/>
                </a:lnTo>
                <a:lnTo>
                  <a:pt x="3038144" y="334060"/>
                </a:lnTo>
                <a:lnTo>
                  <a:pt x="3026270" y="290868"/>
                </a:lnTo>
                <a:lnTo>
                  <a:pt x="3010103" y="249643"/>
                </a:lnTo>
                <a:lnTo>
                  <a:pt x="2989897" y="210642"/>
                </a:lnTo>
                <a:lnTo>
                  <a:pt x="2965894" y="174117"/>
                </a:lnTo>
                <a:lnTo>
                  <a:pt x="2938386" y="140347"/>
                </a:lnTo>
                <a:lnTo>
                  <a:pt x="2907614" y="109562"/>
                </a:lnTo>
                <a:lnTo>
                  <a:pt x="2873832" y="82054"/>
                </a:lnTo>
                <a:lnTo>
                  <a:pt x="2837319" y="58064"/>
                </a:lnTo>
                <a:lnTo>
                  <a:pt x="2798318" y="37858"/>
                </a:lnTo>
                <a:lnTo>
                  <a:pt x="2757093" y="21678"/>
                </a:lnTo>
                <a:lnTo>
                  <a:pt x="2713901" y="9804"/>
                </a:lnTo>
                <a:lnTo>
                  <a:pt x="2669006" y="2501"/>
                </a:lnTo>
                <a:lnTo>
                  <a:pt x="2622664" y="0"/>
                </a:lnTo>
                <a:lnTo>
                  <a:pt x="2576322" y="2501"/>
                </a:lnTo>
                <a:lnTo>
                  <a:pt x="2531427" y="9804"/>
                </a:lnTo>
                <a:lnTo>
                  <a:pt x="2488234" y="21678"/>
                </a:lnTo>
                <a:lnTo>
                  <a:pt x="2447010" y="37858"/>
                </a:lnTo>
                <a:lnTo>
                  <a:pt x="2408009" y="58064"/>
                </a:lnTo>
                <a:lnTo>
                  <a:pt x="2371496" y="82054"/>
                </a:lnTo>
                <a:lnTo>
                  <a:pt x="2337714" y="109562"/>
                </a:lnTo>
                <a:lnTo>
                  <a:pt x="2306942" y="140347"/>
                </a:lnTo>
                <a:lnTo>
                  <a:pt x="2279434" y="174117"/>
                </a:lnTo>
                <a:lnTo>
                  <a:pt x="2255431" y="210642"/>
                </a:lnTo>
                <a:lnTo>
                  <a:pt x="2235225" y="249643"/>
                </a:lnTo>
                <a:lnTo>
                  <a:pt x="2219058" y="290868"/>
                </a:lnTo>
                <a:lnTo>
                  <a:pt x="2207183" y="334060"/>
                </a:lnTo>
                <a:lnTo>
                  <a:pt x="2199868" y="378955"/>
                </a:lnTo>
                <a:lnTo>
                  <a:pt x="2199424" y="387108"/>
                </a:lnTo>
                <a:lnTo>
                  <a:pt x="76200" y="387108"/>
                </a:lnTo>
                <a:lnTo>
                  <a:pt x="46532" y="393090"/>
                </a:lnTo>
                <a:lnTo>
                  <a:pt x="22313" y="409422"/>
                </a:lnTo>
                <a:lnTo>
                  <a:pt x="5994" y="433641"/>
                </a:lnTo>
                <a:lnTo>
                  <a:pt x="0" y="463308"/>
                </a:lnTo>
                <a:lnTo>
                  <a:pt x="5994" y="492975"/>
                </a:lnTo>
                <a:lnTo>
                  <a:pt x="22313" y="517194"/>
                </a:lnTo>
                <a:lnTo>
                  <a:pt x="46532" y="533514"/>
                </a:lnTo>
                <a:lnTo>
                  <a:pt x="76200" y="539508"/>
                </a:lnTo>
                <a:lnTo>
                  <a:pt x="2213495" y="539508"/>
                </a:lnTo>
                <a:lnTo>
                  <a:pt x="2219058" y="559714"/>
                </a:lnTo>
                <a:lnTo>
                  <a:pt x="2235225" y="600938"/>
                </a:lnTo>
                <a:lnTo>
                  <a:pt x="2255431" y="639940"/>
                </a:lnTo>
                <a:lnTo>
                  <a:pt x="2279434" y="676465"/>
                </a:lnTo>
                <a:lnTo>
                  <a:pt x="2306942" y="710234"/>
                </a:lnTo>
                <a:lnTo>
                  <a:pt x="2337714" y="741019"/>
                </a:lnTo>
                <a:lnTo>
                  <a:pt x="2371496" y="768527"/>
                </a:lnTo>
                <a:lnTo>
                  <a:pt x="2408009" y="792518"/>
                </a:lnTo>
                <a:lnTo>
                  <a:pt x="2447010" y="812736"/>
                </a:lnTo>
                <a:lnTo>
                  <a:pt x="2488234" y="828903"/>
                </a:lnTo>
                <a:lnTo>
                  <a:pt x="2531427" y="840778"/>
                </a:lnTo>
                <a:lnTo>
                  <a:pt x="2576322" y="848093"/>
                </a:lnTo>
                <a:lnTo>
                  <a:pt x="2622664" y="850582"/>
                </a:lnTo>
                <a:lnTo>
                  <a:pt x="2669006" y="848093"/>
                </a:lnTo>
                <a:lnTo>
                  <a:pt x="2713901" y="840778"/>
                </a:lnTo>
                <a:lnTo>
                  <a:pt x="2757093" y="828903"/>
                </a:lnTo>
                <a:lnTo>
                  <a:pt x="2798318" y="812736"/>
                </a:lnTo>
                <a:lnTo>
                  <a:pt x="2837319" y="792518"/>
                </a:lnTo>
                <a:lnTo>
                  <a:pt x="2873832" y="768527"/>
                </a:lnTo>
                <a:lnTo>
                  <a:pt x="2907614" y="741019"/>
                </a:lnTo>
                <a:lnTo>
                  <a:pt x="2938386" y="710234"/>
                </a:lnTo>
                <a:lnTo>
                  <a:pt x="2965894" y="676465"/>
                </a:lnTo>
                <a:lnTo>
                  <a:pt x="2989897" y="639940"/>
                </a:lnTo>
                <a:lnTo>
                  <a:pt x="3010103" y="600938"/>
                </a:lnTo>
                <a:lnTo>
                  <a:pt x="3026270" y="559714"/>
                </a:lnTo>
                <a:lnTo>
                  <a:pt x="3031820" y="539508"/>
                </a:lnTo>
                <a:lnTo>
                  <a:pt x="5169217" y="539508"/>
                </a:lnTo>
                <a:lnTo>
                  <a:pt x="5198884" y="533514"/>
                </a:lnTo>
                <a:lnTo>
                  <a:pt x="5223103" y="517194"/>
                </a:lnTo>
                <a:lnTo>
                  <a:pt x="5239436" y="492975"/>
                </a:lnTo>
                <a:lnTo>
                  <a:pt x="5245417" y="463308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8960964" y="2481903"/>
            <a:ext cx="23304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50" b="1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30117" y="3410359"/>
            <a:ext cx="3968115" cy="2302510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684530">
              <a:lnSpc>
                <a:spcPct val="102299"/>
              </a:lnSpc>
              <a:spcBef>
                <a:spcPts val="20"/>
              </a:spcBef>
            </a:pPr>
            <a:r>
              <a:rPr dirty="0" sz="2750" spc="-60" b="1">
                <a:solidFill>
                  <a:srgbClr val="262525"/>
                </a:solidFill>
                <a:latin typeface="Tahoma"/>
                <a:cs typeface="Tahoma"/>
              </a:rPr>
              <a:t>Semantic</a:t>
            </a:r>
            <a:r>
              <a:rPr dirty="0" sz="2750" spc="-12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25" b="1">
                <a:solidFill>
                  <a:srgbClr val="262525"/>
                </a:solidFill>
                <a:latin typeface="Tahoma"/>
                <a:cs typeface="Tahoma"/>
              </a:rPr>
              <a:t>Matching </a:t>
            </a: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System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670"/>
              </a:spcBef>
            </a:pPr>
            <a:r>
              <a:rPr dirty="0" sz="2150" spc="-40">
                <a:solidFill>
                  <a:srgbClr val="262525"/>
                </a:solidFill>
                <a:latin typeface="Verdana"/>
                <a:cs typeface="Verdana"/>
              </a:rPr>
              <a:t>Vector-based</a:t>
            </a:r>
            <a:r>
              <a:rPr dirty="0" sz="2150" spc="-105">
                <a:solidFill>
                  <a:srgbClr val="262525"/>
                </a:solidFill>
                <a:latin typeface="Verdana"/>
                <a:cs typeface="Verdana"/>
              </a:rPr>
              <a:t> similarity</a:t>
            </a:r>
            <a:r>
              <a:rPr dirty="0" sz="2150" spc="-10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search </a:t>
            </a:r>
            <a:r>
              <a:rPr dirty="0" sz="2150" spc="-70">
                <a:solidFill>
                  <a:srgbClr val="262525"/>
                </a:solidFill>
                <a:latin typeface="Verdana"/>
                <a:cs typeface="Verdana"/>
              </a:rPr>
              <a:t>delivering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accurate</a:t>
            </a:r>
            <a:r>
              <a:rPr dirty="0" sz="2150" spc="-13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0">
                <a:solidFill>
                  <a:srgbClr val="262525"/>
                </a:solidFill>
                <a:latin typeface="Verdana"/>
                <a:cs typeface="Verdana"/>
              </a:rPr>
              <a:t>skill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connections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2050154" y="2304160"/>
            <a:ext cx="5245735" cy="850900"/>
          </a:xfrm>
          <a:custGeom>
            <a:avLst/>
            <a:gdLst/>
            <a:ahLst/>
            <a:cxnLst/>
            <a:rect l="l" t="t" r="r" b="b"/>
            <a:pathLst>
              <a:path w="5245734" h="850900">
                <a:moveTo>
                  <a:pt x="5245417" y="463308"/>
                </a:moveTo>
                <a:lnTo>
                  <a:pt x="5239436" y="433641"/>
                </a:lnTo>
                <a:lnTo>
                  <a:pt x="5223103" y="409422"/>
                </a:lnTo>
                <a:lnTo>
                  <a:pt x="5198884" y="393090"/>
                </a:lnTo>
                <a:lnTo>
                  <a:pt x="5169217" y="387108"/>
                </a:lnTo>
                <a:lnTo>
                  <a:pt x="3045904" y="387108"/>
                </a:lnTo>
                <a:lnTo>
                  <a:pt x="3045472" y="378955"/>
                </a:lnTo>
                <a:lnTo>
                  <a:pt x="3038157" y="334060"/>
                </a:lnTo>
                <a:lnTo>
                  <a:pt x="3026283" y="290868"/>
                </a:lnTo>
                <a:lnTo>
                  <a:pt x="3010116" y="249643"/>
                </a:lnTo>
                <a:lnTo>
                  <a:pt x="2989897" y="210642"/>
                </a:lnTo>
                <a:lnTo>
                  <a:pt x="2965907" y="174117"/>
                </a:lnTo>
                <a:lnTo>
                  <a:pt x="2938399" y="140347"/>
                </a:lnTo>
                <a:lnTo>
                  <a:pt x="2907627" y="109562"/>
                </a:lnTo>
                <a:lnTo>
                  <a:pt x="2873845" y="82054"/>
                </a:lnTo>
                <a:lnTo>
                  <a:pt x="2837332" y="58064"/>
                </a:lnTo>
                <a:lnTo>
                  <a:pt x="2798330" y="37858"/>
                </a:lnTo>
                <a:lnTo>
                  <a:pt x="2757106" y="21678"/>
                </a:lnTo>
                <a:lnTo>
                  <a:pt x="2713913" y="9804"/>
                </a:lnTo>
                <a:lnTo>
                  <a:pt x="2669019" y="2501"/>
                </a:lnTo>
                <a:lnTo>
                  <a:pt x="2622677" y="0"/>
                </a:lnTo>
                <a:lnTo>
                  <a:pt x="2576334" y="2501"/>
                </a:lnTo>
                <a:lnTo>
                  <a:pt x="2531440" y="9804"/>
                </a:lnTo>
                <a:lnTo>
                  <a:pt x="2488247" y="21678"/>
                </a:lnTo>
                <a:lnTo>
                  <a:pt x="2447023" y="37858"/>
                </a:lnTo>
                <a:lnTo>
                  <a:pt x="2408021" y="58064"/>
                </a:lnTo>
                <a:lnTo>
                  <a:pt x="2371496" y="82054"/>
                </a:lnTo>
                <a:lnTo>
                  <a:pt x="2337727" y="109562"/>
                </a:lnTo>
                <a:lnTo>
                  <a:pt x="2306955" y="140347"/>
                </a:lnTo>
                <a:lnTo>
                  <a:pt x="2279434" y="174117"/>
                </a:lnTo>
                <a:lnTo>
                  <a:pt x="2255443" y="210642"/>
                </a:lnTo>
                <a:lnTo>
                  <a:pt x="2235238" y="249643"/>
                </a:lnTo>
                <a:lnTo>
                  <a:pt x="2219058" y="290868"/>
                </a:lnTo>
                <a:lnTo>
                  <a:pt x="2207196" y="334060"/>
                </a:lnTo>
                <a:lnTo>
                  <a:pt x="2199881" y="378955"/>
                </a:lnTo>
                <a:lnTo>
                  <a:pt x="2199436" y="387108"/>
                </a:lnTo>
                <a:lnTo>
                  <a:pt x="76200" y="387108"/>
                </a:lnTo>
                <a:lnTo>
                  <a:pt x="46532" y="393090"/>
                </a:lnTo>
                <a:lnTo>
                  <a:pt x="22313" y="409422"/>
                </a:lnTo>
                <a:lnTo>
                  <a:pt x="5994" y="433641"/>
                </a:lnTo>
                <a:lnTo>
                  <a:pt x="0" y="463308"/>
                </a:lnTo>
                <a:lnTo>
                  <a:pt x="5994" y="492975"/>
                </a:lnTo>
                <a:lnTo>
                  <a:pt x="22313" y="517194"/>
                </a:lnTo>
                <a:lnTo>
                  <a:pt x="46532" y="533514"/>
                </a:lnTo>
                <a:lnTo>
                  <a:pt x="76200" y="539508"/>
                </a:lnTo>
                <a:lnTo>
                  <a:pt x="2213508" y="539508"/>
                </a:lnTo>
                <a:lnTo>
                  <a:pt x="2219058" y="559714"/>
                </a:lnTo>
                <a:lnTo>
                  <a:pt x="2235238" y="600938"/>
                </a:lnTo>
                <a:lnTo>
                  <a:pt x="2255443" y="639940"/>
                </a:lnTo>
                <a:lnTo>
                  <a:pt x="2279434" y="676465"/>
                </a:lnTo>
                <a:lnTo>
                  <a:pt x="2306955" y="710234"/>
                </a:lnTo>
                <a:lnTo>
                  <a:pt x="2337727" y="741019"/>
                </a:lnTo>
                <a:lnTo>
                  <a:pt x="2371496" y="768527"/>
                </a:lnTo>
                <a:lnTo>
                  <a:pt x="2408021" y="792518"/>
                </a:lnTo>
                <a:lnTo>
                  <a:pt x="2447023" y="812736"/>
                </a:lnTo>
                <a:lnTo>
                  <a:pt x="2488247" y="828903"/>
                </a:lnTo>
                <a:lnTo>
                  <a:pt x="2531440" y="840778"/>
                </a:lnTo>
                <a:lnTo>
                  <a:pt x="2576334" y="848093"/>
                </a:lnTo>
                <a:lnTo>
                  <a:pt x="2622677" y="850582"/>
                </a:lnTo>
                <a:lnTo>
                  <a:pt x="2669019" y="848093"/>
                </a:lnTo>
                <a:lnTo>
                  <a:pt x="2713913" y="840778"/>
                </a:lnTo>
                <a:lnTo>
                  <a:pt x="2757106" y="828903"/>
                </a:lnTo>
                <a:lnTo>
                  <a:pt x="2798330" y="812736"/>
                </a:lnTo>
                <a:lnTo>
                  <a:pt x="2837332" y="792518"/>
                </a:lnTo>
                <a:lnTo>
                  <a:pt x="2873845" y="768527"/>
                </a:lnTo>
                <a:lnTo>
                  <a:pt x="2907627" y="741019"/>
                </a:lnTo>
                <a:lnTo>
                  <a:pt x="2938399" y="710234"/>
                </a:lnTo>
                <a:lnTo>
                  <a:pt x="2965907" y="676465"/>
                </a:lnTo>
                <a:lnTo>
                  <a:pt x="2989897" y="639940"/>
                </a:lnTo>
                <a:lnTo>
                  <a:pt x="3010116" y="600938"/>
                </a:lnTo>
                <a:lnTo>
                  <a:pt x="3026283" y="559714"/>
                </a:lnTo>
                <a:lnTo>
                  <a:pt x="3031833" y="539508"/>
                </a:lnTo>
                <a:lnTo>
                  <a:pt x="5169217" y="539508"/>
                </a:lnTo>
                <a:lnTo>
                  <a:pt x="5198884" y="533514"/>
                </a:lnTo>
                <a:lnTo>
                  <a:pt x="5223103" y="517194"/>
                </a:lnTo>
                <a:lnTo>
                  <a:pt x="5239436" y="492975"/>
                </a:lnTo>
                <a:lnTo>
                  <a:pt x="5245417" y="463308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4489931" y="2481903"/>
            <a:ext cx="238760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50" b="1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359083" y="3410359"/>
            <a:ext cx="4334510" cy="1854835"/>
          </a:xfrm>
          <a:prstGeom prst="rect">
            <a:avLst/>
          </a:prstGeom>
        </p:spPr>
        <p:txBody>
          <a:bodyPr wrap="square" lIns="0" tIns="2540" rIns="0" bIns="0" rtlCol="0" vert="horz">
            <a:spAutoFit/>
          </a:bodyPr>
          <a:lstStyle/>
          <a:p>
            <a:pPr marL="12700" marR="1795145">
              <a:lnSpc>
                <a:spcPct val="102299"/>
              </a:lnSpc>
              <a:spcBef>
                <a:spcPts val="20"/>
              </a:spcBef>
            </a:pPr>
            <a:r>
              <a:rPr dirty="0" sz="2750" spc="-55" b="1">
                <a:solidFill>
                  <a:srgbClr val="262525"/>
                </a:solidFill>
                <a:latin typeface="Tahoma"/>
                <a:cs typeface="Tahoma"/>
              </a:rPr>
              <a:t>Transparent</a:t>
            </a:r>
            <a:r>
              <a:rPr dirty="0" sz="2750" spc="-12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155" b="1">
                <a:solidFill>
                  <a:srgbClr val="262525"/>
                </a:solidFill>
                <a:latin typeface="Tahoma"/>
                <a:cs typeface="Tahoma"/>
              </a:rPr>
              <a:t>AI </a:t>
            </a: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Explanations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670"/>
              </a:spcBef>
            </a:pP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Human-</a:t>
            </a:r>
            <a:r>
              <a:rPr dirty="0" sz="2150" spc="-70">
                <a:solidFill>
                  <a:srgbClr val="262525"/>
                </a:solidFill>
                <a:latin typeface="Verdana"/>
                <a:cs typeface="Verdana"/>
              </a:rPr>
              <a:t>readable</a:t>
            </a: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justifications</a:t>
            </a: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5">
                <a:solidFill>
                  <a:srgbClr val="262525"/>
                </a:solidFill>
                <a:latin typeface="Verdana"/>
                <a:cs typeface="Verdana"/>
              </a:rPr>
              <a:t>for </a:t>
            </a:r>
            <a:r>
              <a:rPr dirty="0" sz="2150" spc="-70">
                <a:solidFill>
                  <a:srgbClr val="262525"/>
                </a:solidFill>
                <a:latin typeface="Verdana"/>
                <a:cs typeface="Verdana"/>
              </a:rPr>
              <a:t>every</a:t>
            </a:r>
            <a:r>
              <a:rPr dirty="0" sz="2150" spc="-15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5">
                <a:solidFill>
                  <a:srgbClr val="262525"/>
                </a:solidFill>
                <a:latin typeface="Verdana"/>
                <a:cs typeface="Verdana"/>
              </a:rPr>
              <a:t>match</a:t>
            </a:r>
            <a:r>
              <a:rPr dirty="0" sz="2150" spc="-15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recommendation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992225" y="6460045"/>
            <a:ext cx="8010525" cy="850900"/>
          </a:xfrm>
          <a:custGeom>
            <a:avLst/>
            <a:gdLst/>
            <a:ahLst/>
            <a:cxnLst/>
            <a:rect l="l" t="t" r="r" b="b"/>
            <a:pathLst>
              <a:path w="8010525" h="850900">
                <a:moveTo>
                  <a:pt x="8009953" y="463296"/>
                </a:moveTo>
                <a:lnTo>
                  <a:pt x="8003972" y="433628"/>
                </a:lnTo>
                <a:lnTo>
                  <a:pt x="7987652" y="409409"/>
                </a:lnTo>
                <a:lnTo>
                  <a:pt x="7963421" y="393077"/>
                </a:lnTo>
                <a:lnTo>
                  <a:pt x="7933753" y="387096"/>
                </a:lnTo>
                <a:lnTo>
                  <a:pt x="4428210" y="387096"/>
                </a:lnTo>
                <a:lnTo>
                  <a:pt x="4427779" y="378942"/>
                </a:lnTo>
                <a:lnTo>
                  <a:pt x="4420463" y="334048"/>
                </a:lnTo>
                <a:lnTo>
                  <a:pt x="4408589" y="290855"/>
                </a:lnTo>
                <a:lnTo>
                  <a:pt x="4392422" y="249631"/>
                </a:lnTo>
                <a:lnTo>
                  <a:pt x="4372216" y="210629"/>
                </a:lnTo>
                <a:lnTo>
                  <a:pt x="4348213" y="174117"/>
                </a:lnTo>
                <a:lnTo>
                  <a:pt x="4320705" y="140335"/>
                </a:lnTo>
                <a:lnTo>
                  <a:pt x="4289933" y="109562"/>
                </a:lnTo>
                <a:lnTo>
                  <a:pt x="4256151" y="82054"/>
                </a:lnTo>
                <a:lnTo>
                  <a:pt x="4219638" y="58064"/>
                </a:lnTo>
                <a:lnTo>
                  <a:pt x="4180636" y="37846"/>
                </a:lnTo>
                <a:lnTo>
                  <a:pt x="4139412" y="21678"/>
                </a:lnTo>
                <a:lnTo>
                  <a:pt x="4096220" y="9804"/>
                </a:lnTo>
                <a:lnTo>
                  <a:pt x="4051325" y="2489"/>
                </a:lnTo>
                <a:lnTo>
                  <a:pt x="4004983" y="0"/>
                </a:lnTo>
                <a:lnTo>
                  <a:pt x="3958640" y="2489"/>
                </a:lnTo>
                <a:lnTo>
                  <a:pt x="3913746" y="9804"/>
                </a:lnTo>
                <a:lnTo>
                  <a:pt x="3870553" y="21678"/>
                </a:lnTo>
                <a:lnTo>
                  <a:pt x="3829329" y="37846"/>
                </a:lnTo>
                <a:lnTo>
                  <a:pt x="3790327" y="58064"/>
                </a:lnTo>
                <a:lnTo>
                  <a:pt x="3753815" y="82054"/>
                </a:lnTo>
                <a:lnTo>
                  <a:pt x="3720033" y="109562"/>
                </a:lnTo>
                <a:lnTo>
                  <a:pt x="3689261" y="140335"/>
                </a:lnTo>
                <a:lnTo>
                  <a:pt x="3661753" y="174117"/>
                </a:lnTo>
                <a:lnTo>
                  <a:pt x="3637750" y="210629"/>
                </a:lnTo>
                <a:lnTo>
                  <a:pt x="3617544" y="249631"/>
                </a:lnTo>
                <a:lnTo>
                  <a:pt x="3601377" y="290855"/>
                </a:lnTo>
                <a:lnTo>
                  <a:pt x="3589502" y="334048"/>
                </a:lnTo>
                <a:lnTo>
                  <a:pt x="3582187" y="378942"/>
                </a:lnTo>
                <a:lnTo>
                  <a:pt x="3581743" y="387096"/>
                </a:lnTo>
                <a:lnTo>
                  <a:pt x="76200" y="387096"/>
                </a:lnTo>
                <a:lnTo>
                  <a:pt x="46532" y="393077"/>
                </a:lnTo>
                <a:lnTo>
                  <a:pt x="22313" y="409409"/>
                </a:lnTo>
                <a:lnTo>
                  <a:pt x="5994" y="433628"/>
                </a:lnTo>
                <a:lnTo>
                  <a:pt x="0" y="463296"/>
                </a:lnTo>
                <a:lnTo>
                  <a:pt x="5994" y="492963"/>
                </a:lnTo>
                <a:lnTo>
                  <a:pt x="22313" y="517182"/>
                </a:lnTo>
                <a:lnTo>
                  <a:pt x="46532" y="533501"/>
                </a:lnTo>
                <a:lnTo>
                  <a:pt x="76200" y="539496"/>
                </a:lnTo>
                <a:lnTo>
                  <a:pt x="3595814" y="539496"/>
                </a:lnTo>
                <a:lnTo>
                  <a:pt x="3601377" y="559714"/>
                </a:lnTo>
                <a:lnTo>
                  <a:pt x="3617544" y="600938"/>
                </a:lnTo>
                <a:lnTo>
                  <a:pt x="3637750" y="639940"/>
                </a:lnTo>
                <a:lnTo>
                  <a:pt x="3661753" y="676465"/>
                </a:lnTo>
                <a:lnTo>
                  <a:pt x="3689261" y="710234"/>
                </a:lnTo>
                <a:lnTo>
                  <a:pt x="3720033" y="741006"/>
                </a:lnTo>
                <a:lnTo>
                  <a:pt x="3753815" y="768527"/>
                </a:lnTo>
                <a:lnTo>
                  <a:pt x="3790327" y="792518"/>
                </a:lnTo>
                <a:lnTo>
                  <a:pt x="3829329" y="812723"/>
                </a:lnTo>
                <a:lnTo>
                  <a:pt x="3870553" y="828903"/>
                </a:lnTo>
                <a:lnTo>
                  <a:pt x="3913746" y="840765"/>
                </a:lnTo>
                <a:lnTo>
                  <a:pt x="3958640" y="848080"/>
                </a:lnTo>
                <a:lnTo>
                  <a:pt x="4004983" y="850582"/>
                </a:lnTo>
                <a:lnTo>
                  <a:pt x="4051325" y="848080"/>
                </a:lnTo>
                <a:lnTo>
                  <a:pt x="4096220" y="840765"/>
                </a:lnTo>
                <a:lnTo>
                  <a:pt x="4139412" y="828903"/>
                </a:lnTo>
                <a:lnTo>
                  <a:pt x="4180636" y="812723"/>
                </a:lnTo>
                <a:lnTo>
                  <a:pt x="4219638" y="792518"/>
                </a:lnTo>
                <a:lnTo>
                  <a:pt x="4256151" y="768527"/>
                </a:lnTo>
                <a:lnTo>
                  <a:pt x="4289933" y="741006"/>
                </a:lnTo>
                <a:lnTo>
                  <a:pt x="4320705" y="710234"/>
                </a:lnTo>
                <a:lnTo>
                  <a:pt x="4348213" y="676465"/>
                </a:lnTo>
                <a:lnTo>
                  <a:pt x="4372216" y="639940"/>
                </a:lnTo>
                <a:lnTo>
                  <a:pt x="4392422" y="600938"/>
                </a:lnTo>
                <a:lnTo>
                  <a:pt x="4408589" y="559714"/>
                </a:lnTo>
                <a:lnTo>
                  <a:pt x="4414139" y="539496"/>
                </a:lnTo>
                <a:lnTo>
                  <a:pt x="7933753" y="539496"/>
                </a:lnTo>
                <a:lnTo>
                  <a:pt x="7963421" y="533501"/>
                </a:lnTo>
                <a:lnTo>
                  <a:pt x="7987652" y="517182"/>
                </a:lnTo>
                <a:lnTo>
                  <a:pt x="8003972" y="492963"/>
                </a:lnTo>
                <a:lnTo>
                  <a:pt x="8009953" y="463296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4814312" y="6637784"/>
            <a:ext cx="249554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45" b="1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301159" y="7332327"/>
            <a:ext cx="7178675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b="1">
                <a:solidFill>
                  <a:srgbClr val="262525"/>
                </a:solidFill>
                <a:latin typeface="Tahoma"/>
                <a:cs typeface="Tahoma"/>
              </a:rPr>
              <a:t>Cost-</a:t>
            </a:r>
            <a:r>
              <a:rPr dirty="0" sz="2750" spc="-40" b="1">
                <a:solidFill>
                  <a:srgbClr val="262525"/>
                </a:solidFill>
                <a:latin typeface="Tahoma"/>
                <a:cs typeface="Tahoma"/>
              </a:rPr>
              <a:t>Efficient</a:t>
            </a:r>
            <a:r>
              <a:rPr dirty="0" sz="2750" spc="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Architecture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 spc="-45">
                <a:solidFill>
                  <a:srgbClr val="262525"/>
                </a:solidFill>
                <a:latin typeface="Verdana"/>
                <a:cs typeface="Verdana"/>
              </a:rPr>
              <a:t>Offline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70">
                <a:solidFill>
                  <a:srgbClr val="262525"/>
                </a:solidFill>
                <a:latin typeface="Verdana"/>
                <a:cs typeface="Verdana"/>
              </a:rPr>
              <a:t>AI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system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0">
                <a:solidFill>
                  <a:srgbClr val="262525"/>
                </a:solidFill>
                <a:latin typeface="Verdana"/>
                <a:cs typeface="Verdana"/>
              </a:rPr>
              <a:t>eliminating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45">
                <a:solidFill>
                  <a:srgbClr val="262525"/>
                </a:solidFill>
                <a:latin typeface="Verdana"/>
                <a:cs typeface="Verdana"/>
              </a:rPr>
              <a:t>dependency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0">
                <a:solidFill>
                  <a:srgbClr val="262525"/>
                </a:solidFill>
                <a:latin typeface="Verdana"/>
                <a:cs typeface="Verdana"/>
              </a:rPr>
              <a:t>on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expensive </a:t>
            </a:r>
            <a:r>
              <a:rPr dirty="0" sz="2150" spc="-35">
                <a:solidFill>
                  <a:srgbClr val="262525"/>
                </a:solidFill>
                <a:latin typeface="Verdana"/>
                <a:cs typeface="Verdana"/>
              </a:rPr>
              <a:t>cloud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0">
                <a:solidFill>
                  <a:srgbClr val="262525"/>
                </a:solidFill>
                <a:latin typeface="Verdana"/>
                <a:cs typeface="Verdana"/>
              </a:rPr>
              <a:t>APIs</a:t>
            </a:r>
            <a:endParaRPr sz="2150">
              <a:latin typeface="Verdana"/>
              <a:cs typeface="Verdana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9285681" y="6460045"/>
            <a:ext cx="8010525" cy="850900"/>
          </a:xfrm>
          <a:custGeom>
            <a:avLst/>
            <a:gdLst/>
            <a:ahLst/>
            <a:cxnLst/>
            <a:rect l="l" t="t" r="r" b="b"/>
            <a:pathLst>
              <a:path w="8010525" h="850900">
                <a:moveTo>
                  <a:pt x="8009953" y="463296"/>
                </a:moveTo>
                <a:lnTo>
                  <a:pt x="8003959" y="433628"/>
                </a:lnTo>
                <a:lnTo>
                  <a:pt x="7987639" y="409409"/>
                </a:lnTo>
                <a:lnTo>
                  <a:pt x="7963421" y="393077"/>
                </a:lnTo>
                <a:lnTo>
                  <a:pt x="7933753" y="387096"/>
                </a:lnTo>
                <a:lnTo>
                  <a:pt x="4428198" y="387096"/>
                </a:lnTo>
                <a:lnTo>
                  <a:pt x="4427766" y="378942"/>
                </a:lnTo>
                <a:lnTo>
                  <a:pt x="4420451" y="334048"/>
                </a:lnTo>
                <a:lnTo>
                  <a:pt x="4408589" y="290855"/>
                </a:lnTo>
                <a:lnTo>
                  <a:pt x="4392409" y="249631"/>
                </a:lnTo>
                <a:lnTo>
                  <a:pt x="4372203" y="210629"/>
                </a:lnTo>
                <a:lnTo>
                  <a:pt x="4348213" y="174117"/>
                </a:lnTo>
                <a:lnTo>
                  <a:pt x="4320692" y="140335"/>
                </a:lnTo>
                <a:lnTo>
                  <a:pt x="4289920" y="109562"/>
                </a:lnTo>
                <a:lnTo>
                  <a:pt x="4256151" y="82054"/>
                </a:lnTo>
                <a:lnTo>
                  <a:pt x="4219626" y="58064"/>
                </a:lnTo>
                <a:lnTo>
                  <a:pt x="4180624" y="37846"/>
                </a:lnTo>
                <a:lnTo>
                  <a:pt x="4139400" y="21678"/>
                </a:lnTo>
                <a:lnTo>
                  <a:pt x="4096207" y="9804"/>
                </a:lnTo>
                <a:lnTo>
                  <a:pt x="4051312" y="2489"/>
                </a:lnTo>
                <a:lnTo>
                  <a:pt x="4004970" y="0"/>
                </a:lnTo>
                <a:lnTo>
                  <a:pt x="3958628" y="2489"/>
                </a:lnTo>
                <a:lnTo>
                  <a:pt x="3913733" y="9804"/>
                </a:lnTo>
                <a:lnTo>
                  <a:pt x="3870541" y="21678"/>
                </a:lnTo>
                <a:lnTo>
                  <a:pt x="3829316" y="37846"/>
                </a:lnTo>
                <a:lnTo>
                  <a:pt x="3790315" y="58064"/>
                </a:lnTo>
                <a:lnTo>
                  <a:pt x="3753802" y="82054"/>
                </a:lnTo>
                <a:lnTo>
                  <a:pt x="3720020" y="109562"/>
                </a:lnTo>
                <a:lnTo>
                  <a:pt x="3689248" y="140335"/>
                </a:lnTo>
                <a:lnTo>
                  <a:pt x="3661740" y="174117"/>
                </a:lnTo>
                <a:lnTo>
                  <a:pt x="3637750" y="210629"/>
                </a:lnTo>
                <a:lnTo>
                  <a:pt x="3617531" y="249631"/>
                </a:lnTo>
                <a:lnTo>
                  <a:pt x="3601364" y="290855"/>
                </a:lnTo>
                <a:lnTo>
                  <a:pt x="3589490" y="334048"/>
                </a:lnTo>
                <a:lnTo>
                  <a:pt x="3582174" y="378942"/>
                </a:lnTo>
                <a:lnTo>
                  <a:pt x="3581730" y="387096"/>
                </a:lnTo>
                <a:lnTo>
                  <a:pt x="76200" y="387096"/>
                </a:lnTo>
                <a:lnTo>
                  <a:pt x="46532" y="393077"/>
                </a:lnTo>
                <a:lnTo>
                  <a:pt x="22313" y="409409"/>
                </a:lnTo>
                <a:lnTo>
                  <a:pt x="5981" y="433628"/>
                </a:lnTo>
                <a:lnTo>
                  <a:pt x="0" y="463296"/>
                </a:lnTo>
                <a:lnTo>
                  <a:pt x="5981" y="492963"/>
                </a:lnTo>
                <a:lnTo>
                  <a:pt x="22313" y="517182"/>
                </a:lnTo>
                <a:lnTo>
                  <a:pt x="46532" y="533501"/>
                </a:lnTo>
                <a:lnTo>
                  <a:pt x="76200" y="539496"/>
                </a:lnTo>
                <a:lnTo>
                  <a:pt x="3595801" y="539496"/>
                </a:lnTo>
                <a:lnTo>
                  <a:pt x="3601364" y="559714"/>
                </a:lnTo>
                <a:lnTo>
                  <a:pt x="3617531" y="600938"/>
                </a:lnTo>
                <a:lnTo>
                  <a:pt x="3637750" y="639940"/>
                </a:lnTo>
                <a:lnTo>
                  <a:pt x="3661740" y="676465"/>
                </a:lnTo>
                <a:lnTo>
                  <a:pt x="3689248" y="710234"/>
                </a:lnTo>
                <a:lnTo>
                  <a:pt x="3720020" y="741006"/>
                </a:lnTo>
                <a:lnTo>
                  <a:pt x="3753802" y="768527"/>
                </a:lnTo>
                <a:lnTo>
                  <a:pt x="3790315" y="792518"/>
                </a:lnTo>
                <a:lnTo>
                  <a:pt x="3829316" y="812723"/>
                </a:lnTo>
                <a:lnTo>
                  <a:pt x="3870541" y="828903"/>
                </a:lnTo>
                <a:lnTo>
                  <a:pt x="3913733" y="840765"/>
                </a:lnTo>
                <a:lnTo>
                  <a:pt x="3958628" y="848080"/>
                </a:lnTo>
                <a:lnTo>
                  <a:pt x="4004970" y="850582"/>
                </a:lnTo>
                <a:lnTo>
                  <a:pt x="4051312" y="848080"/>
                </a:lnTo>
                <a:lnTo>
                  <a:pt x="4096207" y="840765"/>
                </a:lnTo>
                <a:lnTo>
                  <a:pt x="4139400" y="828903"/>
                </a:lnTo>
                <a:lnTo>
                  <a:pt x="4180624" y="812723"/>
                </a:lnTo>
                <a:lnTo>
                  <a:pt x="4219626" y="792518"/>
                </a:lnTo>
                <a:lnTo>
                  <a:pt x="4256151" y="768527"/>
                </a:lnTo>
                <a:lnTo>
                  <a:pt x="4289920" y="741006"/>
                </a:lnTo>
                <a:lnTo>
                  <a:pt x="4320692" y="710234"/>
                </a:lnTo>
                <a:lnTo>
                  <a:pt x="4348213" y="676465"/>
                </a:lnTo>
                <a:lnTo>
                  <a:pt x="4372203" y="639940"/>
                </a:lnTo>
                <a:lnTo>
                  <a:pt x="4392409" y="600938"/>
                </a:lnTo>
                <a:lnTo>
                  <a:pt x="4408589" y="559714"/>
                </a:lnTo>
                <a:lnTo>
                  <a:pt x="4414139" y="539496"/>
                </a:lnTo>
                <a:lnTo>
                  <a:pt x="7933753" y="539496"/>
                </a:lnTo>
                <a:lnTo>
                  <a:pt x="7963421" y="533501"/>
                </a:lnTo>
                <a:lnTo>
                  <a:pt x="7987639" y="517182"/>
                </a:lnTo>
                <a:lnTo>
                  <a:pt x="8003959" y="492963"/>
                </a:lnTo>
                <a:lnTo>
                  <a:pt x="8009953" y="463296"/>
                </a:lnTo>
                <a:close/>
              </a:path>
            </a:pathLst>
          </a:custGeom>
          <a:solidFill>
            <a:srgbClr val="494FB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3107767" y="6637784"/>
            <a:ext cx="231775" cy="4254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600" spc="-50" b="1">
                <a:solidFill>
                  <a:srgbClr val="FFFFFF"/>
                </a:solidFill>
                <a:latin typeface="Tahoma"/>
                <a:cs typeface="Tahoma"/>
              </a:rPr>
              <a:t>5</a:t>
            </a:r>
            <a:endParaRPr sz="2600">
              <a:latin typeface="Tahoma"/>
              <a:cs typeface="Tahom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594605" y="7332327"/>
            <a:ext cx="6230620" cy="1645920"/>
          </a:xfrm>
          <a:prstGeom prst="rect">
            <a:avLst/>
          </a:prstGeom>
        </p:spPr>
        <p:txBody>
          <a:bodyPr wrap="square" lIns="0" tIns="24637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939"/>
              </a:spcBef>
            </a:pPr>
            <a:r>
              <a:rPr dirty="0" sz="2750" spc="-35" b="1">
                <a:solidFill>
                  <a:srgbClr val="262525"/>
                </a:solidFill>
                <a:latin typeface="Tahoma"/>
                <a:cs typeface="Tahoma"/>
              </a:rPr>
              <a:t>Scalable</a:t>
            </a:r>
            <a:r>
              <a:rPr dirty="0" sz="2750" spc="-16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2750" spc="-10" b="1">
                <a:solidFill>
                  <a:srgbClr val="262525"/>
                </a:solidFill>
                <a:latin typeface="Tahoma"/>
                <a:cs typeface="Tahoma"/>
              </a:rPr>
              <a:t>Foundation</a:t>
            </a:r>
            <a:endParaRPr sz="2750">
              <a:latin typeface="Tahoma"/>
              <a:cs typeface="Tahoma"/>
            </a:endParaRPr>
          </a:p>
          <a:p>
            <a:pPr marL="12700" marR="5080">
              <a:lnSpc>
                <a:spcPct val="136600"/>
              </a:lnSpc>
              <a:spcBef>
                <a:spcPts val="555"/>
              </a:spcBef>
            </a:pPr>
            <a:r>
              <a:rPr dirty="0" sz="2150" spc="-50">
                <a:solidFill>
                  <a:srgbClr val="262525"/>
                </a:solidFill>
                <a:latin typeface="Verdana"/>
                <a:cs typeface="Verdana"/>
              </a:rPr>
              <a:t>Production-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ready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architecture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5">
                <a:solidFill>
                  <a:srgbClr val="262525"/>
                </a:solidFill>
                <a:latin typeface="Verdana"/>
                <a:cs typeface="Verdana"/>
              </a:rPr>
              <a:t>supporting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0">
                <a:solidFill>
                  <a:srgbClr val="262525"/>
                </a:solidFill>
                <a:latin typeface="Verdana"/>
                <a:cs typeface="Verdana"/>
              </a:rPr>
              <a:t>future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expansion</a:t>
            </a:r>
            <a:endParaRPr sz="2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018759" y="9431855"/>
            <a:ext cx="3269615" cy="769620"/>
          </a:xfrm>
          <a:custGeom>
            <a:avLst/>
            <a:gdLst/>
            <a:ahLst/>
            <a:cxnLst/>
            <a:rect l="l" t="t" r="r" b="b"/>
            <a:pathLst>
              <a:path w="3269615" h="769620">
                <a:moveTo>
                  <a:pt x="3252813" y="769419"/>
                </a:moveTo>
                <a:lnTo>
                  <a:pt x="0" y="692232"/>
                </a:lnTo>
                <a:lnTo>
                  <a:pt x="16426" y="0"/>
                </a:lnTo>
                <a:lnTo>
                  <a:pt x="3269239" y="77186"/>
                </a:lnTo>
                <a:lnTo>
                  <a:pt x="3252813" y="76941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46080" y="1948636"/>
            <a:ext cx="4105910" cy="6064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800" spc="-95"/>
              <a:t>Future</a:t>
            </a:r>
            <a:r>
              <a:rPr dirty="0" sz="3800" spc="-225"/>
              <a:t> </a:t>
            </a:r>
            <a:r>
              <a:rPr dirty="0" sz="3800" spc="-45"/>
              <a:t>Expansion</a:t>
            </a:r>
            <a:endParaRPr sz="38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8780" y="3356819"/>
            <a:ext cx="8651840" cy="373737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4537562" y="6016230"/>
            <a:ext cx="1057275" cy="74104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40"/>
              </a:spcBef>
            </a:pPr>
            <a:r>
              <a:rPr dirty="0" sz="1400" spc="-30" b="1">
                <a:solidFill>
                  <a:srgbClr val="262525"/>
                </a:solidFill>
                <a:latin typeface="Tahoma"/>
                <a:cs typeface="Tahoma"/>
              </a:rPr>
              <a:t>Skill</a:t>
            </a:r>
            <a:r>
              <a:rPr dirty="0" sz="1400" spc="-6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400" spc="-10" b="1">
                <a:solidFill>
                  <a:srgbClr val="262525"/>
                </a:solidFill>
                <a:latin typeface="Tahoma"/>
                <a:cs typeface="Tahoma"/>
              </a:rPr>
              <a:t>Rating</a:t>
            </a:r>
            <a:endParaRPr sz="1400">
              <a:latin typeface="Tahoma"/>
              <a:cs typeface="Tahoma"/>
            </a:endParaRPr>
          </a:p>
          <a:p>
            <a:pPr algn="ctr" marL="12700" marR="5080">
              <a:lnSpc>
                <a:spcPts val="1130"/>
              </a:lnSpc>
              <a:spcBef>
                <a:spcPts val="855"/>
              </a:spcBef>
            </a:pPr>
            <a:r>
              <a:rPr dirty="0" sz="1100" spc="-20">
                <a:solidFill>
                  <a:srgbClr val="262525"/>
                </a:solidFill>
                <a:latin typeface="Verdana"/>
                <a:cs typeface="Verdana"/>
              </a:rPr>
              <a:t>Peer</a:t>
            </a:r>
            <a:r>
              <a:rPr dirty="0" sz="1100" spc="-4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100" spc="-30">
                <a:solidFill>
                  <a:srgbClr val="262525"/>
                </a:solidFill>
                <a:latin typeface="Verdana"/>
                <a:cs typeface="Verdana"/>
              </a:rPr>
              <a:t>reviews</a:t>
            </a:r>
            <a:r>
              <a:rPr dirty="0" sz="1100" spc="-4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100" spc="-35">
                <a:solidFill>
                  <a:srgbClr val="262525"/>
                </a:solidFill>
                <a:latin typeface="Verdana"/>
                <a:cs typeface="Verdana"/>
              </a:rPr>
              <a:t>to build</a:t>
            </a:r>
            <a:r>
              <a:rPr dirty="0" sz="1100" spc="-7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100" spc="-20">
                <a:solidFill>
                  <a:srgbClr val="262525"/>
                </a:solidFill>
                <a:latin typeface="Verdana"/>
                <a:cs typeface="Verdana"/>
              </a:rPr>
              <a:t>trust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778974" y="5725842"/>
            <a:ext cx="1172210" cy="101600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ctr" marL="12700" marR="5080">
              <a:lnSpc>
                <a:spcPct val="107100"/>
              </a:lnSpc>
              <a:spcBef>
                <a:spcPts val="15"/>
              </a:spcBef>
            </a:pPr>
            <a:r>
              <a:rPr dirty="0" sz="1400" spc="-10" b="1">
                <a:latin typeface="Tahoma"/>
                <a:cs typeface="Tahoma"/>
              </a:rPr>
              <a:t>Personalized Recos</a:t>
            </a:r>
            <a:endParaRPr sz="1400">
              <a:latin typeface="Tahoma"/>
              <a:cs typeface="Tahoma"/>
            </a:endParaRPr>
          </a:p>
          <a:p>
            <a:pPr algn="ctr" marL="29209" marR="22225">
              <a:lnSpc>
                <a:spcPts val="1130"/>
              </a:lnSpc>
              <a:spcBef>
                <a:spcPts val="900"/>
              </a:spcBef>
            </a:pPr>
            <a:r>
              <a:rPr dirty="0" sz="1100" spc="-30">
                <a:solidFill>
                  <a:srgbClr val="262525"/>
                </a:solidFill>
                <a:latin typeface="Verdana"/>
                <a:cs typeface="Verdana"/>
              </a:rPr>
              <a:t>Tailored</a:t>
            </a:r>
            <a:r>
              <a:rPr dirty="0" sz="1100" spc="-2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262525"/>
                </a:solidFill>
                <a:latin typeface="Verdana"/>
                <a:cs typeface="Verdana"/>
              </a:rPr>
              <a:t>learning </a:t>
            </a:r>
            <a:r>
              <a:rPr dirty="0" sz="1100" spc="-40">
                <a:solidFill>
                  <a:srgbClr val="262525"/>
                </a:solidFill>
                <a:latin typeface="Verdana"/>
                <a:cs typeface="Verdana"/>
              </a:rPr>
              <a:t>pathways</a:t>
            </a:r>
            <a:r>
              <a:rPr dirty="0" sz="1100" spc="-25">
                <a:solidFill>
                  <a:srgbClr val="262525"/>
                </a:solidFill>
                <a:latin typeface="Verdana"/>
                <a:cs typeface="Verdana"/>
              </a:rPr>
              <a:t> and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ts val="1115"/>
              </a:lnSpc>
            </a:pPr>
            <a:r>
              <a:rPr dirty="0" sz="1100" spc="-10">
                <a:solidFill>
                  <a:srgbClr val="262525"/>
                </a:solidFill>
                <a:latin typeface="Verdana"/>
                <a:cs typeface="Verdana"/>
              </a:rPr>
              <a:t>content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2899069" y="3674271"/>
            <a:ext cx="1043305" cy="101600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ctr" marL="95250" marR="86995">
              <a:lnSpc>
                <a:spcPct val="107100"/>
              </a:lnSpc>
              <a:spcBef>
                <a:spcPts val="15"/>
              </a:spcBef>
            </a:pPr>
            <a:r>
              <a:rPr dirty="0" sz="1400" spc="-25" b="1">
                <a:solidFill>
                  <a:srgbClr val="262525"/>
                </a:solidFill>
                <a:latin typeface="Tahoma"/>
                <a:cs typeface="Tahoma"/>
              </a:rPr>
              <a:t>Real-</a:t>
            </a:r>
            <a:r>
              <a:rPr dirty="0" sz="1400" spc="-40" b="1">
                <a:solidFill>
                  <a:srgbClr val="262525"/>
                </a:solidFill>
                <a:latin typeface="Tahoma"/>
                <a:cs typeface="Tahoma"/>
              </a:rPr>
              <a:t>time </a:t>
            </a:r>
            <a:r>
              <a:rPr dirty="0" sz="1400" spc="-20" b="1">
                <a:solidFill>
                  <a:srgbClr val="262525"/>
                </a:solidFill>
                <a:latin typeface="Tahoma"/>
                <a:cs typeface="Tahoma"/>
              </a:rPr>
              <a:t>Chat</a:t>
            </a:r>
            <a:endParaRPr sz="1400">
              <a:latin typeface="Tahoma"/>
              <a:cs typeface="Tahoma"/>
            </a:endParaRPr>
          </a:p>
          <a:p>
            <a:pPr algn="ctr" marL="55244" marR="46990">
              <a:lnSpc>
                <a:spcPts val="1130"/>
              </a:lnSpc>
              <a:spcBef>
                <a:spcPts val="900"/>
              </a:spcBef>
            </a:pPr>
            <a:r>
              <a:rPr dirty="0" sz="1100" spc="-35">
                <a:solidFill>
                  <a:srgbClr val="262525"/>
                </a:solidFill>
                <a:latin typeface="Verdana"/>
                <a:cs typeface="Verdana"/>
              </a:rPr>
              <a:t>Enable</a:t>
            </a:r>
            <a:r>
              <a:rPr dirty="0" sz="1100" spc="-55">
                <a:solidFill>
                  <a:srgbClr val="262525"/>
                </a:solidFill>
                <a:latin typeface="Verdana"/>
                <a:cs typeface="Verdana"/>
              </a:rPr>
              <a:t> instant </a:t>
            </a:r>
            <a:r>
              <a:rPr dirty="0" sz="1100" spc="-10">
                <a:solidFill>
                  <a:srgbClr val="262525"/>
                </a:solidFill>
                <a:latin typeface="Verdana"/>
                <a:cs typeface="Verdana"/>
              </a:rPr>
              <a:t>learner</a:t>
            </a:r>
            <a:endParaRPr sz="1100">
              <a:latin typeface="Verdana"/>
              <a:cs typeface="Verdana"/>
            </a:endParaRPr>
          </a:p>
          <a:p>
            <a:pPr algn="ctr">
              <a:lnSpc>
                <a:spcPts val="1115"/>
              </a:lnSpc>
            </a:pPr>
            <a:r>
              <a:rPr dirty="0" sz="1100" spc="-20">
                <a:solidFill>
                  <a:srgbClr val="262525"/>
                </a:solidFill>
                <a:latin typeface="Verdana"/>
                <a:cs typeface="Verdana"/>
              </a:rPr>
              <a:t>communication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355363" y="3674271"/>
            <a:ext cx="1211580" cy="873125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ctr" marL="70485" marR="62865" indent="-635">
              <a:lnSpc>
                <a:spcPct val="107100"/>
              </a:lnSpc>
              <a:spcBef>
                <a:spcPts val="15"/>
              </a:spcBef>
            </a:pPr>
            <a:r>
              <a:rPr dirty="0" sz="1400" spc="-10" b="1">
                <a:solidFill>
                  <a:srgbClr val="262525"/>
                </a:solidFill>
                <a:latin typeface="Tahoma"/>
                <a:cs typeface="Tahoma"/>
              </a:rPr>
              <a:t>Cloud </a:t>
            </a:r>
            <a:r>
              <a:rPr dirty="0" sz="1400" spc="-20" b="1">
                <a:solidFill>
                  <a:srgbClr val="262525"/>
                </a:solidFill>
                <a:latin typeface="Tahoma"/>
                <a:cs typeface="Tahoma"/>
              </a:rPr>
              <a:t>Deployment</a:t>
            </a:r>
            <a:endParaRPr sz="1400">
              <a:latin typeface="Tahoma"/>
              <a:cs typeface="Tahoma"/>
            </a:endParaRPr>
          </a:p>
          <a:p>
            <a:pPr algn="ctr" marL="12700" marR="5080">
              <a:lnSpc>
                <a:spcPts val="1130"/>
              </a:lnSpc>
              <a:spcBef>
                <a:spcPts val="900"/>
              </a:spcBef>
            </a:pPr>
            <a:r>
              <a:rPr dirty="0" sz="1100" spc="-20">
                <a:solidFill>
                  <a:srgbClr val="262525"/>
                </a:solidFill>
                <a:latin typeface="Verdana"/>
                <a:cs typeface="Verdana"/>
              </a:rPr>
              <a:t>Scale</a:t>
            </a:r>
            <a:r>
              <a:rPr dirty="0" sz="1100" spc="-6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100" spc="-45">
                <a:solidFill>
                  <a:srgbClr val="262525"/>
                </a:solidFill>
                <a:latin typeface="Verdana"/>
                <a:cs typeface="Verdana"/>
              </a:rPr>
              <a:t>platform</a:t>
            </a:r>
            <a:r>
              <a:rPr dirty="0" sz="1100" spc="-6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100" spc="-25">
                <a:solidFill>
                  <a:srgbClr val="262525"/>
                </a:solidFill>
                <a:latin typeface="Verdana"/>
                <a:cs typeface="Verdana"/>
              </a:rPr>
              <a:t>for </a:t>
            </a:r>
            <a:r>
              <a:rPr dirty="0" sz="1100" spc="-30">
                <a:solidFill>
                  <a:srgbClr val="262525"/>
                </a:solidFill>
                <a:latin typeface="Verdana"/>
                <a:cs typeface="Verdana"/>
              </a:rPr>
              <a:t>global</a:t>
            </a:r>
            <a:r>
              <a:rPr dirty="0" sz="1100" spc="-6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262525"/>
                </a:solidFill>
                <a:latin typeface="Verdana"/>
                <a:cs typeface="Verdana"/>
              </a:rPr>
              <a:t>users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283368" y="3674271"/>
            <a:ext cx="904875" cy="101600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marL="73025" marR="65405" indent="87630">
              <a:lnSpc>
                <a:spcPct val="107100"/>
              </a:lnSpc>
              <a:spcBef>
                <a:spcPts val="15"/>
              </a:spcBef>
            </a:pPr>
            <a:r>
              <a:rPr dirty="0" sz="1400" spc="-105" b="1">
                <a:latin typeface="Tahoma"/>
                <a:cs typeface="Tahoma"/>
              </a:rPr>
              <a:t>AI</a:t>
            </a:r>
            <a:r>
              <a:rPr dirty="0" sz="1400" spc="-65" b="1">
                <a:latin typeface="Tahoma"/>
                <a:cs typeface="Tahoma"/>
              </a:rPr>
              <a:t> </a:t>
            </a:r>
            <a:r>
              <a:rPr dirty="0" sz="1400" spc="-25" b="1">
                <a:latin typeface="Tahoma"/>
                <a:cs typeface="Tahoma"/>
              </a:rPr>
              <a:t>Gap </a:t>
            </a:r>
            <a:r>
              <a:rPr dirty="0" sz="1400" spc="-10" b="1">
                <a:latin typeface="Tahoma"/>
                <a:cs typeface="Tahoma"/>
              </a:rPr>
              <a:t>Analysis</a:t>
            </a:r>
            <a:endParaRPr sz="1400">
              <a:latin typeface="Tahoma"/>
              <a:cs typeface="Tahoma"/>
            </a:endParaRPr>
          </a:p>
          <a:p>
            <a:pPr algn="just" marL="12700" marR="5080" indent="45085">
              <a:lnSpc>
                <a:spcPts val="1130"/>
              </a:lnSpc>
              <a:spcBef>
                <a:spcPts val="900"/>
              </a:spcBef>
            </a:pPr>
            <a:r>
              <a:rPr dirty="0" sz="1100" spc="-55">
                <a:solidFill>
                  <a:srgbClr val="262525"/>
                </a:solidFill>
                <a:latin typeface="Verdana"/>
                <a:cs typeface="Verdana"/>
              </a:rPr>
              <a:t>Identify</a:t>
            </a:r>
            <a:r>
              <a:rPr dirty="0" sz="1100" spc="-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100" spc="-10">
                <a:solidFill>
                  <a:srgbClr val="262525"/>
                </a:solidFill>
                <a:latin typeface="Verdana"/>
                <a:cs typeface="Verdana"/>
              </a:rPr>
              <a:t>skill deficiencies </a:t>
            </a:r>
            <a:r>
              <a:rPr dirty="0" sz="1100" spc="-50">
                <a:solidFill>
                  <a:srgbClr val="262525"/>
                </a:solidFill>
                <a:latin typeface="Verdana"/>
                <a:cs typeface="Verdana"/>
              </a:rPr>
              <a:t>automatically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346080" y="7189685"/>
            <a:ext cx="826579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-65">
                <a:solidFill>
                  <a:srgbClr val="262525"/>
                </a:solidFill>
                <a:latin typeface="Verdana"/>
                <a:cs typeface="Verdana"/>
              </a:rPr>
              <a:t>Strategic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80">
                <a:solidFill>
                  <a:srgbClr val="262525"/>
                </a:solidFill>
                <a:latin typeface="Verdana"/>
                <a:cs typeface="Verdana"/>
              </a:rPr>
              <a:t>roadmap</a:t>
            </a:r>
            <a:r>
              <a:rPr dirty="0" sz="150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45">
                <a:solidFill>
                  <a:srgbClr val="262525"/>
                </a:solidFill>
                <a:latin typeface="Verdana"/>
                <a:cs typeface="Verdana"/>
              </a:rPr>
              <a:t>for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50">
                <a:solidFill>
                  <a:srgbClr val="262525"/>
                </a:solidFill>
                <a:latin typeface="Verdana"/>
                <a:cs typeface="Verdana"/>
              </a:rPr>
              <a:t>scaling</a:t>
            </a:r>
            <a:r>
              <a:rPr dirty="0" sz="150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75">
                <a:solidFill>
                  <a:srgbClr val="262525"/>
                </a:solidFill>
                <a:latin typeface="Verdana"/>
                <a:cs typeface="Verdana"/>
              </a:rPr>
              <a:t>the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80">
                <a:solidFill>
                  <a:srgbClr val="262525"/>
                </a:solidFill>
                <a:latin typeface="Verdana"/>
                <a:cs typeface="Verdana"/>
              </a:rPr>
              <a:t>platform</a:t>
            </a:r>
            <a:r>
              <a:rPr dirty="0" sz="150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262525"/>
                </a:solidFill>
                <a:latin typeface="Verdana"/>
                <a:cs typeface="Verdana"/>
              </a:rPr>
              <a:t>and</a:t>
            </a:r>
            <a:r>
              <a:rPr dirty="0" sz="150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262525"/>
                </a:solidFill>
                <a:latin typeface="Verdana"/>
                <a:cs typeface="Verdana"/>
              </a:rPr>
              <a:t>enhancing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262525"/>
                </a:solidFill>
                <a:latin typeface="Verdana"/>
                <a:cs typeface="Verdana"/>
              </a:rPr>
              <a:t>user</a:t>
            </a:r>
            <a:r>
              <a:rPr dirty="0" sz="150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45">
                <a:solidFill>
                  <a:srgbClr val="262525"/>
                </a:solidFill>
                <a:latin typeface="Verdana"/>
                <a:cs typeface="Verdana"/>
              </a:rPr>
              <a:t>experience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80">
                <a:solidFill>
                  <a:srgbClr val="262525"/>
                </a:solidFill>
                <a:latin typeface="Verdana"/>
                <a:cs typeface="Verdana"/>
              </a:rPr>
              <a:t>through</a:t>
            </a:r>
            <a:r>
              <a:rPr dirty="0" sz="150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262525"/>
                </a:solidFill>
                <a:latin typeface="Verdana"/>
                <a:cs typeface="Verdana"/>
              </a:rPr>
              <a:t>advanced features.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0846" y="3070917"/>
            <a:ext cx="98297" cy="98202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11722689" y="2926759"/>
            <a:ext cx="3496945" cy="9652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45" b="1">
                <a:solidFill>
                  <a:srgbClr val="262525"/>
                </a:solidFill>
                <a:latin typeface="Tahoma"/>
                <a:cs typeface="Tahoma"/>
              </a:rPr>
              <a:t>Real-time</a:t>
            </a:r>
            <a:r>
              <a:rPr dirty="0" sz="1850" spc="-9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262525"/>
                </a:solidFill>
                <a:latin typeface="Tahoma"/>
                <a:cs typeface="Tahoma"/>
              </a:rPr>
              <a:t>Chat</a:t>
            </a:r>
            <a:r>
              <a:rPr dirty="0" sz="1850" spc="-9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262525"/>
                </a:solidFill>
                <a:latin typeface="Tahoma"/>
                <a:cs typeface="Tahoma"/>
              </a:rPr>
              <a:t>System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12500"/>
              </a:lnSpc>
              <a:spcBef>
                <a:spcPts val="1105"/>
              </a:spcBef>
            </a:pPr>
            <a:r>
              <a:rPr dirty="0" sz="1500" spc="-65">
                <a:solidFill>
                  <a:srgbClr val="262525"/>
                </a:solidFill>
                <a:latin typeface="Verdana"/>
                <a:cs typeface="Verdana"/>
              </a:rPr>
              <a:t>Enable</a:t>
            </a:r>
            <a:r>
              <a:rPr dirty="0" sz="1500" spc="-7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80">
                <a:solidFill>
                  <a:srgbClr val="262525"/>
                </a:solidFill>
                <a:latin typeface="Verdana"/>
                <a:cs typeface="Verdana"/>
              </a:rPr>
              <a:t>instant</a:t>
            </a:r>
            <a:r>
              <a:rPr dirty="0" sz="1500" spc="-75">
                <a:solidFill>
                  <a:srgbClr val="262525"/>
                </a:solidFill>
                <a:latin typeface="Verdana"/>
                <a:cs typeface="Verdana"/>
              </a:rPr>
              <a:t> communication </a:t>
            </a:r>
            <a:r>
              <a:rPr dirty="0" sz="1500" spc="-35">
                <a:solidFill>
                  <a:srgbClr val="262525"/>
                </a:solidFill>
                <a:latin typeface="Verdana"/>
                <a:cs typeface="Verdana"/>
              </a:rPr>
              <a:t>between </a:t>
            </a:r>
            <a:r>
              <a:rPr dirty="0" sz="1500" spc="-70">
                <a:solidFill>
                  <a:srgbClr val="262525"/>
                </a:solidFill>
                <a:latin typeface="Verdana"/>
                <a:cs typeface="Verdana"/>
              </a:rPr>
              <a:t>matched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262525"/>
                </a:solidFill>
                <a:latin typeface="Verdana"/>
                <a:cs typeface="Verdana"/>
              </a:rPr>
              <a:t>learners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00846" y="4319882"/>
            <a:ext cx="98297" cy="98202"/>
          </a:xfrm>
          <a:prstGeom prst="rect">
            <a:avLst/>
          </a:prstGeom>
        </p:spPr>
      </p:pic>
      <p:sp>
        <p:nvSpPr>
          <p:cNvPr id="14" name="object 14" descr=""/>
          <p:cNvSpPr txBox="1"/>
          <p:nvPr/>
        </p:nvSpPr>
        <p:spPr>
          <a:xfrm>
            <a:off x="11722689" y="4175715"/>
            <a:ext cx="3924935" cy="708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40" b="1">
                <a:solidFill>
                  <a:srgbClr val="262525"/>
                </a:solidFill>
                <a:latin typeface="Tahoma"/>
                <a:cs typeface="Tahoma"/>
              </a:rPr>
              <a:t>Skill</a:t>
            </a:r>
            <a:r>
              <a:rPr dirty="0" sz="1850" spc="-10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65" b="1">
                <a:solidFill>
                  <a:srgbClr val="262525"/>
                </a:solidFill>
                <a:latin typeface="Tahoma"/>
                <a:cs typeface="Tahoma"/>
              </a:rPr>
              <a:t>Rating</a:t>
            </a:r>
            <a:r>
              <a:rPr dirty="0" sz="1850" spc="-10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70" b="1">
                <a:solidFill>
                  <a:srgbClr val="262525"/>
                </a:solidFill>
                <a:latin typeface="Tahoma"/>
                <a:cs typeface="Tahoma"/>
              </a:rPr>
              <a:t>S</a:t>
            </a:r>
            <a:r>
              <a:rPr dirty="0" sz="1850" spc="-10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262525"/>
                </a:solidFill>
                <a:latin typeface="Tahoma"/>
                <a:cs typeface="Tahoma"/>
              </a:rPr>
              <a:t>Feedback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500" spc="-65">
                <a:solidFill>
                  <a:srgbClr val="262525"/>
                </a:solidFill>
                <a:latin typeface="Verdana"/>
                <a:cs typeface="Verdana"/>
              </a:rPr>
              <a:t>Build</a:t>
            </a:r>
            <a:r>
              <a:rPr dirty="0" sz="1500" spc="-9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85">
                <a:solidFill>
                  <a:srgbClr val="262525"/>
                </a:solidFill>
                <a:latin typeface="Verdana"/>
                <a:cs typeface="Verdana"/>
              </a:rPr>
              <a:t>trust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80">
                <a:solidFill>
                  <a:srgbClr val="262525"/>
                </a:solidFill>
                <a:latin typeface="Verdana"/>
                <a:cs typeface="Verdana"/>
              </a:rPr>
              <a:t>through</a:t>
            </a:r>
            <a:r>
              <a:rPr dirty="0" sz="1500" spc="-9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55">
                <a:solidFill>
                  <a:srgbClr val="262525"/>
                </a:solidFill>
                <a:latin typeface="Verdana"/>
                <a:cs typeface="Verdana"/>
              </a:rPr>
              <a:t>peer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55">
                <a:solidFill>
                  <a:srgbClr val="262525"/>
                </a:solidFill>
                <a:latin typeface="Verdana"/>
                <a:cs typeface="Verdana"/>
              </a:rPr>
              <a:t>review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50">
                <a:solidFill>
                  <a:srgbClr val="262525"/>
                </a:solidFill>
                <a:latin typeface="Verdana"/>
                <a:cs typeface="Verdana"/>
              </a:rPr>
              <a:t>mechanisms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5" name="object 15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00846" y="5302596"/>
            <a:ext cx="98297" cy="98202"/>
          </a:xfrm>
          <a:prstGeom prst="rect">
            <a:avLst/>
          </a:prstGeom>
        </p:spPr>
      </p:pic>
      <p:sp>
        <p:nvSpPr>
          <p:cNvPr id="16" name="object 16" descr=""/>
          <p:cNvSpPr txBox="1"/>
          <p:nvPr/>
        </p:nvSpPr>
        <p:spPr>
          <a:xfrm>
            <a:off x="11722689" y="5158428"/>
            <a:ext cx="236728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35" b="1">
                <a:solidFill>
                  <a:srgbClr val="262525"/>
                </a:solidFill>
                <a:latin typeface="Tahoma"/>
                <a:cs typeface="Tahoma"/>
              </a:rPr>
              <a:t>AI</a:t>
            </a:r>
            <a:r>
              <a:rPr dirty="0" sz="1850" spc="-1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40" b="1">
                <a:solidFill>
                  <a:srgbClr val="262525"/>
                </a:solidFill>
                <a:latin typeface="Tahoma"/>
                <a:cs typeface="Tahoma"/>
              </a:rPr>
              <a:t>Skill</a:t>
            </a:r>
            <a:r>
              <a:rPr dirty="0" sz="1850" spc="-1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262525"/>
                </a:solidFill>
                <a:latin typeface="Tahoma"/>
                <a:cs typeface="Tahoma"/>
              </a:rPr>
              <a:t>Gap</a:t>
            </a:r>
            <a:r>
              <a:rPr dirty="0" sz="1850" spc="-105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262525"/>
                </a:solidFill>
                <a:latin typeface="Tahoma"/>
                <a:cs typeface="Tahoma"/>
              </a:rPr>
              <a:t>Analysis</a:t>
            </a:r>
            <a:endParaRPr sz="1850">
              <a:latin typeface="Tahoma"/>
              <a:cs typeface="Tahoma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1722689" y="5612403"/>
            <a:ext cx="388175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>
                <a:solidFill>
                  <a:srgbClr val="262525"/>
                </a:solidFill>
                <a:latin typeface="Verdana"/>
                <a:cs typeface="Verdana"/>
              </a:rPr>
              <a:t>Identify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75">
                <a:solidFill>
                  <a:srgbClr val="262525"/>
                </a:solidFill>
                <a:latin typeface="Verdana"/>
                <a:cs typeface="Verdana"/>
              </a:rPr>
              <a:t>learning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262525"/>
                </a:solidFill>
                <a:latin typeface="Verdana"/>
                <a:cs typeface="Verdana"/>
              </a:rPr>
              <a:t>paths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70">
                <a:solidFill>
                  <a:srgbClr val="262525"/>
                </a:solidFill>
                <a:latin typeface="Verdana"/>
                <a:cs typeface="Verdana"/>
              </a:rPr>
              <a:t>and</a:t>
            </a:r>
            <a:r>
              <a:rPr dirty="0" sz="1500" spc="-8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65">
                <a:solidFill>
                  <a:srgbClr val="262525"/>
                </a:solidFill>
                <a:latin typeface="Verdana"/>
                <a:cs typeface="Verdana"/>
              </a:rPr>
              <a:t>skill</a:t>
            </a:r>
            <a:r>
              <a:rPr dirty="0" sz="1500" spc="-9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10">
                <a:solidFill>
                  <a:srgbClr val="262525"/>
                </a:solidFill>
                <a:latin typeface="Verdana"/>
                <a:cs typeface="Verdana"/>
              </a:rPr>
              <a:t>deficiencies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18" name="object 1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00846" y="6285309"/>
            <a:ext cx="98297" cy="98202"/>
          </a:xfrm>
          <a:prstGeom prst="rect">
            <a:avLst/>
          </a:prstGeom>
        </p:spPr>
      </p:pic>
      <p:sp>
        <p:nvSpPr>
          <p:cNvPr id="19" name="object 19" descr=""/>
          <p:cNvSpPr txBox="1"/>
          <p:nvPr/>
        </p:nvSpPr>
        <p:spPr>
          <a:xfrm>
            <a:off x="11722689" y="6141142"/>
            <a:ext cx="4043679" cy="96520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-10" b="1">
                <a:solidFill>
                  <a:srgbClr val="262525"/>
                </a:solidFill>
                <a:latin typeface="Tahoma"/>
                <a:cs typeface="Tahoma"/>
              </a:rPr>
              <a:t>Personalized</a:t>
            </a:r>
            <a:r>
              <a:rPr dirty="0" sz="1850" spc="-11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262525"/>
                </a:solidFill>
                <a:latin typeface="Tahoma"/>
                <a:cs typeface="Tahoma"/>
              </a:rPr>
              <a:t>Recommendations</a:t>
            </a:r>
            <a:endParaRPr sz="1850">
              <a:latin typeface="Tahoma"/>
              <a:cs typeface="Tahoma"/>
            </a:endParaRPr>
          </a:p>
          <a:p>
            <a:pPr marL="12700" marR="5080">
              <a:lnSpc>
                <a:spcPct val="112500"/>
              </a:lnSpc>
              <a:spcBef>
                <a:spcPts val="1105"/>
              </a:spcBef>
            </a:pPr>
            <a:r>
              <a:rPr dirty="0" sz="1500" spc="-60">
                <a:solidFill>
                  <a:srgbClr val="262525"/>
                </a:solidFill>
                <a:latin typeface="Verdana"/>
                <a:cs typeface="Verdana"/>
              </a:rPr>
              <a:t>Suggest</a:t>
            </a:r>
            <a:r>
              <a:rPr dirty="0" sz="1500" spc="-7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75">
                <a:solidFill>
                  <a:srgbClr val="262525"/>
                </a:solidFill>
                <a:latin typeface="Verdana"/>
                <a:cs typeface="Verdana"/>
              </a:rPr>
              <a:t>learning</a:t>
            </a:r>
            <a:r>
              <a:rPr dirty="0" sz="1500" spc="-70">
                <a:solidFill>
                  <a:srgbClr val="262525"/>
                </a:solidFill>
                <a:latin typeface="Verdana"/>
                <a:cs typeface="Verdana"/>
              </a:rPr>
              <a:t> opportunities </a:t>
            </a:r>
            <a:r>
              <a:rPr dirty="0" sz="1500" spc="-50">
                <a:solidFill>
                  <a:srgbClr val="262525"/>
                </a:solidFill>
                <a:latin typeface="Verdana"/>
                <a:cs typeface="Verdana"/>
              </a:rPr>
              <a:t>based</a:t>
            </a:r>
            <a:r>
              <a:rPr dirty="0" sz="1500" spc="-6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262525"/>
                </a:solidFill>
                <a:latin typeface="Verdana"/>
                <a:cs typeface="Verdana"/>
              </a:rPr>
              <a:t>on</a:t>
            </a:r>
            <a:r>
              <a:rPr dirty="0" sz="1500" spc="-7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262525"/>
                </a:solidFill>
                <a:latin typeface="Verdana"/>
                <a:cs typeface="Verdana"/>
              </a:rPr>
              <a:t>user </a:t>
            </a:r>
            <a:r>
              <a:rPr dirty="0" sz="1500" spc="-10">
                <a:solidFill>
                  <a:srgbClr val="262525"/>
                </a:solidFill>
                <a:latin typeface="Verdana"/>
                <a:cs typeface="Verdana"/>
              </a:rPr>
              <a:t>goals</a:t>
            </a:r>
            <a:endParaRPr sz="1500">
              <a:latin typeface="Verdana"/>
              <a:cs typeface="Verdana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00846" y="7534275"/>
            <a:ext cx="98297" cy="98202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11722689" y="7390107"/>
            <a:ext cx="3961129" cy="7080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b="1">
                <a:solidFill>
                  <a:srgbClr val="262525"/>
                </a:solidFill>
                <a:latin typeface="Tahoma"/>
                <a:cs typeface="Tahoma"/>
              </a:rPr>
              <a:t>Cloud</a:t>
            </a:r>
            <a:r>
              <a:rPr dirty="0" sz="1850" spc="-9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40" b="1">
                <a:solidFill>
                  <a:srgbClr val="262525"/>
                </a:solidFill>
                <a:latin typeface="Tahoma"/>
                <a:cs typeface="Tahoma"/>
              </a:rPr>
              <a:t>Deployment</a:t>
            </a:r>
            <a:r>
              <a:rPr dirty="0" sz="1850" spc="-9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70" b="1">
                <a:solidFill>
                  <a:srgbClr val="262525"/>
                </a:solidFill>
                <a:latin typeface="Tahoma"/>
                <a:cs typeface="Tahoma"/>
              </a:rPr>
              <a:t>S</a:t>
            </a:r>
            <a:r>
              <a:rPr dirty="0" sz="1850" spc="-90" b="1">
                <a:solidFill>
                  <a:srgbClr val="262525"/>
                </a:solidFill>
                <a:latin typeface="Tahoma"/>
                <a:cs typeface="Tahoma"/>
              </a:rPr>
              <a:t> </a:t>
            </a:r>
            <a:r>
              <a:rPr dirty="0" sz="1850" spc="-10" b="1">
                <a:solidFill>
                  <a:srgbClr val="262525"/>
                </a:solidFill>
                <a:latin typeface="Tahoma"/>
                <a:cs typeface="Tahoma"/>
              </a:rPr>
              <a:t>Scaling</a:t>
            </a:r>
            <a:endParaRPr sz="18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</a:pPr>
            <a:r>
              <a:rPr dirty="0" sz="1500" spc="-70">
                <a:solidFill>
                  <a:srgbClr val="262525"/>
                </a:solidFill>
                <a:latin typeface="Verdana"/>
                <a:cs typeface="Verdana"/>
              </a:rPr>
              <a:t>Expand </a:t>
            </a:r>
            <a:r>
              <a:rPr dirty="0" sz="1500" spc="-75">
                <a:solidFill>
                  <a:srgbClr val="262525"/>
                </a:solidFill>
                <a:latin typeface="Verdana"/>
                <a:cs typeface="Verdana"/>
              </a:rPr>
              <a:t>infrastructure</a:t>
            </a:r>
            <a:r>
              <a:rPr dirty="0" sz="1500" spc="-6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45">
                <a:solidFill>
                  <a:srgbClr val="262525"/>
                </a:solidFill>
                <a:latin typeface="Verdana"/>
                <a:cs typeface="Verdana"/>
              </a:rPr>
              <a:t>for</a:t>
            </a:r>
            <a:r>
              <a:rPr dirty="0" sz="1500" spc="-6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60">
                <a:solidFill>
                  <a:srgbClr val="262525"/>
                </a:solidFill>
                <a:latin typeface="Verdana"/>
                <a:cs typeface="Verdana"/>
              </a:rPr>
              <a:t>global</a:t>
            </a:r>
            <a:r>
              <a:rPr dirty="0" sz="1500" spc="-7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1500" spc="-25">
                <a:solidFill>
                  <a:srgbClr val="262525"/>
                </a:solidFill>
                <a:latin typeface="Verdana"/>
                <a:cs typeface="Verdana"/>
              </a:rPr>
              <a:t>accessibility</a:t>
            </a:r>
            <a:endParaRPr sz="15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550" spc="-70"/>
              <a:t>Thank</a:t>
            </a:r>
            <a:r>
              <a:rPr dirty="0" sz="5550" spc="-325"/>
              <a:t> </a:t>
            </a:r>
            <a:r>
              <a:rPr dirty="0" sz="5550" spc="-25"/>
              <a:t>You</a:t>
            </a:r>
            <a:endParaRPr sz="5550"/>
          </a:p>
        </p:txBody>
      </p:sp>
      <p:sp>
        <p:nvSpPr>
          <p:cNvPr id="3" name="object 3" descr=""/>
          <p:cNvSpPr txBox="1"/>
          <p:nvPr/>
        </p:nvSpPr>
        <p:spPr>
          <a:xfrm>
            <a:off x="979538" y="4582255"/>
            <a:ext cx="9393555" cy="136842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6600"/>
              </a:lnSpc>
              <a:spcBef>
                <a:spcPts val="90"/>
              </a:spcBef>
            </a:pP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Skill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0">
                <a:solidFill>
                  <a:srgbClr val="262525"/>
                </a:solidFill>
                <a:latin typeface="Verdana"/>
                <a:cs typeface="Verdana"/>
              </a:rPr>
              <a:t>Swap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demonstrates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0">
                <a:solidFill>
                  <a:srgbClr val="262525"/>
                </a:solidFill>
                <a:latin typeface="Verdana"/>
                <a:cs typeface="Verdana"/>
              </a:rPr>
              <a:t>the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40">
                <a:solidFill>
                  <a:srgbClr val="262525"/>
                </a:solidFill>
                <a:latin typeface="Verdana"/>
                <a:cs typeface="Verdana"/>
              </a:rPr>
              <a:t>convergence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>
                <a:solidFill>
                  <a:srgbClr val="262525"/>
                </a:solidFill>
                <a:latin typeface="Verdana"/>
                <a:cs typeface="Verdana"/>
              </a:rPr>
              <a:t>of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full-stack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development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25">
                <a:solidFill>
                  <a:srgbClr val="262525"/>
                </a:solidFill>
                <a:latin typeface="Verdana"/>
                <a:cs typeface="Verdana"/>
              </a:rPr>
              <a:t>and </a:t>
            </a:r>
            <a:r>
              <a:rPr dirty="0" sz="2150" spc="-60">
                <a:solidFill>
                  <a:srgbClr val="262525"/>
                </a:solidFill>
                <a:latin typeface="Verdana"/>
                <a:cs typeface="Verdana"/>
              </a:rPr>
              <a:t>applied</a:t>
            </a:r>
            <a:r>
              <a:rPr dirty="0" sz="2150" spc="-13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85">
                <a:solidFill>
                  <a:srgbClr val="262525"/>
                </a:solidFill>
                <a:latin typeface="Verdana"/>
                <a:cs typeface="Verdana"/>
              </a:rPr>
              <a:t>AI,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70">
                <a:solidFill>
                  <a:srgbClr val="262525"/>
                </a:solidFill>
                <a:latin typeface="Verdana"/>
                <a:cs typeface="Verdana"/>
              </a:rPr>
              <a:t>delivering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0">
                <a:solidFill>
                  <a:srgbClr val="262525"/>
                </a:solidFill>
                <a:latin typeface="Verdana"/>
                <a:cs typeface="Verdana"/>
              </a:rPr>
              <a:t>a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65">
                <a:solidFill>
                  <a:srgbClr val="262525"/>
                </a:solidFill>
                <a:latin typeface="Verdana"/>
                <a:cs typeface="Verdana"/>
              </a:rPr>
              <a:t>scalable,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intelligent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90">
                <a:solidFill>
                  <a:srgbClr val="262525"/>
                </a:solidFill>
                <a:latin typeface="Verdana"/>
                <a:cs typeface="Verdana"/>
              </a:rPr>
              <a:t>platform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0">
                <a:solidFill>
                  <a:srgbClr val="262525"/>
                </a:solidFill>
                <a:latin typeface="Verdana"/>
                <a:cs typeface="Verdana"/>
              </a:rPr>
              <a:t>for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5">
                <a:solidFill>
                  <a:srgbClr val="262525"/>
                </a:solidFill>
                <a:latin typeface="Verdana"/>
                <a:cs typeface="Verdana"/>
              </a:rPr>
              <a:t>meaningful</a:t>
            </a:r>
            <a:r>
              <a:rPr dirty="0" sz="2150" spc="-125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skill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exchange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80">
                <a:solidFill>
                  <a:srgbClr val="262525"/>
                </a:solidFill>
                <a:latin typeface="Verdana"/>
                <a:cs typeface="Verdana"/>
              </a:rPr>
              <a:t>and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55">
                <a:solidFill>
                  <a:srgbClr val="262525"/>
                </a:solidFill>
                <a:latin typeface="Verdana"/>
                <a:cs typeface="Verdana"/>
              </a:rPr>
              <a:t>peer</a:t>
            </a:r>
            <a:r>
              <a:rPr dirty="0" sz="2150" spc="-140">
                <a:solidFill>
                  <a:srgbClr val="262525"/>
                </a:solidFill>
                <a:latin typeface="Verdana"/>
                <a:cs typeface="Verdana"/>
              </a:rPr>
              <a:t> </a:t>
            </a:r>
            <a:r>
              <a:rPr dirty="0" sz="2150" spc="-10">
                <a:solidFill>
                  <a:srgbClr val="262525"/>
                </a:solidFill>
                <a:latin typeface="Verdana"/>
                <a:cs typeface="Verdana"/>
              </a:rPr>
              <a:t>learning.</a:t>
            </a:r>
            <a:endParaRPr sz="215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Akshita Gupta</dc:creator>
  <cp:keywords>DAHBBKpKlAU,BAGbn2ggCbQ,0</cp:keywords>
  <dc:title>merged_presentation_choladeck.pptx</dc:title>
  <dcterms:created xsi:type="dcterms:W3CDTF">2026-02-11T13:06:06Z</dcterms:created>
  <dcterms:modified xsi:type="dcterms:W3CDTF">2026-02-11T13:06:06Z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2026-02-11T00:00:00Z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2026-02-11T00:00:00Z</vt:filetime>
  </property>
  <property fmtid="{D5CDD505-2E9C-101B-9397-08002B2CF9AE}" pid="5" name="Producer">
    <vt:lpwstr>Canva</vt:lpwstr>
  </property>
</Properties>
</file>