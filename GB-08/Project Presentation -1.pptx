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Nunito Semi Bold" panose="020B0604020202020204" charset="0"/>
      <p:regular r:id="rId13"/>
    </p:embeddedFont>
    <p:embeddedFont>
      <p:font typeface="PT Sans" panose="020B0503020203020204" pitchFamily="34" charset="0"/>
      <p:regular r:id="rId14"/>
      <p:bold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25080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0.svg"/><Relationship Id="rId5" Type="http://schemas.openxmlformats.org/officeDocument/2006/relationships/image" Target="../media/image29.svg"/><Relationship Id="rId4" Type="http://schemas.openxmlformats.org/officeDocument/2006/relationships/image" Target="../media/image2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042321" y="851520"/>
            <a:ext cx="3193479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MCA MAJOR PROJECT REVIEW · KIET GROUP OF INSTITUTIONS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3952577" y="1147614"/>
            <a:ext cx="3520306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CodeCraft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3952577" y="1811982"/>
            <a:ext cx="4667845" cy="1821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AI Powered Interview Preparation Platform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3952577" y="3857997"/>
            <a:ext cx="4667845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Divyam Raj  ( 202210116100066 )</a:t>
            </a:r>
          </a:p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Divakar Verma  ( 202410116100065 )</a:t>
            </a:r>
          </a:p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Divyanshu Mishra  ( 202410116100068 )</a:t>
            </a:r>
          </a:p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			 </a:t>
            </a:r>
            <a:r>
              <a:rPr lang="en-US" sz="115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Guided By:</a:t>
            </a: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Ms. Annu Yadav</a:t>
            </a:r>
            <a:endParaRPr lang="en-US" sz="11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28E36AD-7FC0-0CFE-775A-42B7575791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22803"/>
            <a:ext cx="9144000" cy="10528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87167" y="365150"/>
            <a:ext cx="3080221" cy="384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Problem Statement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887167" y="921841"/>
            <a:ext cx="4798665" cy="392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Current interview preparation platforms fall short in delivering intelligent, adaptive support to candidates.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3887167" y="1443261"/>
            <a:ext cx="4798665" cy="747861"/>
          </a:xfrm>
          <a:prstGeom prst="roundRect">
            <a:avLst>
              <a:gd name="adj" fmla="val 26257"/>
            </a:avLst>
          </a:prstGeom>
          <a:solidFill>
            <a:srgbClr val="00002E"/>
          </a:solidFill>
          <a:ln w="14288">
            <a:solidFill>
              <a:srgbClr val="F2B42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032349" y="1588443"/>
            <a:ext cx="1540073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Static Content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032349" y="1849636"/>
            <a:ext cx="4508302" cy="19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Fixed question banks with no adaptation to user skill level or progress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887167" y="2305645"/>
            <a:ext cx="4798665" cy="747861"/>
          </a:xfrm>
          <a:prstGeom prst="roundRect">
            <a:avLst>
              <a:gd name="adj" fmla="val 26257"/>
            </a:avLst>
          </a:prstGeom>
          <a:solidFill>
            <a:srgbClr val="00002E"/>
          </a:solidFill>
          <a:ln w="14288">
            <a:solidFill>
              <a:srgbClr val="D7425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032349" y="2450827"/>
            <a:ext cx="1540073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No AI Evaluation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032349" y="2712021"/>
            <a:ext cx="4508302" cy="19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Absence of real-time, intelligent assessment of candidate responses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887167" y="3168030"/>
            <a:ext cx="4798665" cy="747861"/>
          </a:xfrm>
          <a:prstGeom prst="roundRect">
            <a:avLst>
              <a:gd name="adj" fmla="val 26257"/>
            </a:avLst>
          </a:prstGeom>
          <a:solidFill>
            <a:srgbClr val="00002E"/>
          </a:solidFill>
          <a:ln w="14288">
            <a:solidFill>
              <a:srgbClr val="DD785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032349" y="3313212"/>
            <a:ext cx="1540073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No Personalisation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032349" y="3574405"/>
            <a:ext cx="4508302" cy="19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Generic feedback with no tailored guidance or improvement suggestions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887167" y="4030414"/>
            <a:ext cx="4798665" cy="747861"/>
          </a:xfrm>
          <a:prstGeom prst="roundRect">
            <a:avLst>
              <a:gd name="adj" fmla="val 26257"/>
            </a:avLst>
          </a:prstGeom>
          <a:solidFill>
            <a:srgbClr val="00002E"/>
          </a:solidFill>
          <a:ln w="14288">
            <a:solidFill>
              <a:srgbClr val="48A8E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032349" y="4175596"/>
            <a:ext cx="1540073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No Tracking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032349" y="4436790"/>
            <a:ext cx="4508302" cy="19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No session history, performance analytics, or progress monitoring tools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8167" y="421704"/>
            <a:ext cx="3080221" cy="384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Aim &amp; Objectives</a:t>
            </a:r>
            <a:endParaRPr lang="en-US" sz="2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67" y="1366465"/>
            <a:ext cx="5236146" cy="2967112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67574" y="1111300"/>
            <a:ext cx="196304" cy="19630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443886" y="1107207"/>
            <a:ext cx="2210619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Intelligent Question Generation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6443886" y="1414239"/>
            <a:ext cx="2246635" cy="392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Dynamically generate context-aware interview questions using AI</a:t>
            </a:r>
            <a:endParaRPr lang="en-US" sz="10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67574" y="2039987"/>
            <a:ext cx="196304" cy="19630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443886" y="2035894"/>
            <a:ext cx="1700733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Real-Time AI Evaluation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6443886" y="2342927"/>
            <a:ext cx="2246635" cy="392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Provide instant, structured feedback on user responses via Gemini API</a:t>
            </a:r>
            <a:endParaRPr lang="en-US" sz="10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67574" y="2968675"/>
            <a:ext cx="196304" cy="19630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443886" y="2964582"/>
            <a:ext cx="1875755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Session History &amp; Tracking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6443886" y="3271614"/>
            <a:ext cx="2246635" cy="392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Persist interview sessions and enable performance review over time</a:t>
            </a:r>
            <a:endParaRPr lang="en-US" sz="10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67574" y="3897362"/>
            <a:ext cx="196304" cy="19630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443886" y="3893269"/>
            <a:ext cx="1574304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Modern Responsive UI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6443886" y="4200302"/>
            <a:ext cx="2246635" cy="392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Clean, accessible interface built for seamless cross-device experience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780755" y="276374"/>
            <a:ext cx="2365177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Proposed Solution</a:t>
            </a:r>
            <a:endParaRPr lang="en-US" sz="1850" dirty="0"/>
          </a:p>
        </p:txBody>
      </p:sp>
      <p:sp>
        <p:nvSpPr>
          <p:cNvPr id="4" name="Text 1"/>
          <p:cNvSpPr/>
          <p:nvPr/>
        </p:nvSpPr>
        <p:spPr>
          <a:xfrm>
            <a:off x="3780755" y="673224"/>
            <a:ext cx="5011489" cy="268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CodeCraft is an end-to-end AI-powered interview preparation platform that bridges the gap between static study materials and live mentorship.</a:t>
            </a:r>
            <a:endParaRPr lang="en-US" sz="750" dirty="0"/>
          </a:p>
        </p:txBody>
      </p:sp>
      <p:sp>
        <p:nvSpPr>
          <p:cNvPr id="5" name="Shape 2"/>
          <p:cNvSpPr/>
          <p:nvPr/>
        </p:nvSpPr>
        <p:spPr>
          <a:xfrm>
            <a:off x="3780755" y="1017984"/>
            <a:ext cx="5011489" cy="911647"/>
          </a:xfrm>
          <a:prstGeom prst="roundRect">
            <a:avLst>
              <a:gd name="adj" fmla="val 16539"/>
            </a:avLst>
          </a:prstGeom>
          <a:solidFill>
            <a:srgbClr val="00002E"/>
          </a:solidFill>
          <a:ln w="9525">
            <a:solidFill>
              <a:srgbClr val="F2B42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890739" y="1127968"/>
            <a:ext cx="301526" cy="301526"/>
          </a:xfrm>
          <a:prstGeom prst="roundRect">
            <a:avLst>
              <a:gd name="adj" fmla="val 18951694"/>
            </a:avLst>
          </a:prstGeom>
          <a:solidFill>
            <a:srgbClr val="F2B42D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73637" y="1210866"/>
            <a:ext cx="135657" cy="13565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890739" y="1496988"/>
            <a:ext cx="1182588" cy="147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AI-Driven Platform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3890739" y="1685255"/>
            <a:ext cx="4791521" cy="134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Powered by Google Gemini API for intelligent question generation and evaluation</a:t>
            </a:r>
            <a:endParaRPr lang="en-US" sz="750" dirty="0"/>
          </a:p>
        </p:txBody>
      </p:sp>
      <p:sp>
        <p:nvSpPr>
          <p:cNvPr id="10" name="Shape 6"/>
          <p:cNvSpPr/>
          <p:nvPr/>
        </p:nvSpPr>
        <p:spPr>
          <a:xfrm>
            <a:off x="3780755" y="1997125"/>
            <a:ext cx="5011489" cy="911647"/>
          </a:xfrm>
          <a:prstGeom prst="roundRect">
            <a:avLst>
              <a:gd name="adj" fmla="val 16539"/>
            </a:avLst>
          </a:prstGeom>
          <a:solidFill>
            <a:srgbClr val="00002E"/>
          </a:solidFill>
          <a:ln w="9525">
            <a:solidFill>
              <a:srgbClr val="D7425E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3890739" y="2107109"/>
            <a:ext cx="301526" cy="301526"/>
          </a:xfrm>
          <a:prstGeom prst="roundRect">
            <a:avLst>
              <a:gd name="adj" fmla="val 18951694"/>
            </a:avLst>
          </a:prstGeom>
          <a:solidFill>
            <a:srgbClr val="D7425E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73637" y="2190006"/>
            <a:ext cx="135657" cy="13565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890739" y="2476128"/>
            <a:ext cx="1182588" cy="147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Dynamic Questions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3890739" y="2664396"/>
            <a:ext cx="4791521" cy="134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Questions adapt based on category, difficulty, and user performance history</a:t>
            </a:r>
            <a:endParaRPr lang="en-US" sz="750" dirty="0"/>
          </a:p>
        </p:txBody>
      </p:sp>
      <p:sp>
        <p:nvSpPr>
          <p:cNvPr id="15" name="Shape 10"/>
          <p:cNvSpPr/>
          <p:nvPr/>
        </p:nvSpPr>
        <p:spPr>
          <a:xfrm>
            <a:off x="3780755" y="2976265"/>
            <a:ext cx="5011489" cy="911647"/>
          </a:xfrm>
          <a:prstGeom prst="roundRect">
            <a:avLst>
              <a:gd name="adj" fmla="val 16539"/>
            </a:avLst>
          </a:prstGeom>
          <a:solidFill>
            <a:srgbClr val="00002E"/>
          </a:solidFill>
          <a:ln w="9525">
            <a:solidFill>
              <a:srgbClr val="DD785E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3890739" y="3086249"/>
            <a:ext cx="301526" cy="301526"/>
          </a:xfrm>
          <a:prstGeom prst="roundRect">
            <a:avLst>
              <a:gd name="adj" fmla="val 18951694"/>
            </a:avLst>
          </a:prstGeom>
          <a:solidFill>
            <a:srgbClr val="DD785E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73637" y="3169146"/>
            <a:ext cx="135657" cy="13565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890739" y="3455268"/>
            <a:ext cx="1232297" cy="147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Personalised Feedback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3890739" y="3643536"/>
            <a:ext cx="4791521" cy="134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Structured, actionable feedback delivered instantly after each response</a:t>
            </a:r>
            <a:endParaRPr lang="en-US" sz="750" dirty="0"/>
          </a:p>
        </p:txBody>
      </p:sp>
      <p:sp>
        <p:nvSpPr>
          <p:cNvPr id="20" name="Shape 14"/>
          <p:cNvSpPr/>
          <p:nvPr/>
        </p:nvSpPr>
        <p:spPr>
          <a:xfrm>
            <a:off x="3780755" y="3955405"/>
            <a:ext cx="5011489" cy="911647"/>
          </a:xfrm>
          <a:prstGeom prst="roundRect">
            <a:avLst>
              <a:gd name="adj" fmla="val 16539"/>
            </a:avLst>
          </a:prstGeom>
          <a:solidFill>
            <a:srgbClr val="00002E"/>
          </a:solidFill>
          <a:ln w="9525">
            <a:solidFill>
              <a:srgbClr val="48A8E2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3890739" y="4065389"/>
            <a:ext cx="301526" cy="301526"/>
          </a:xfrm>
          <a:prstGeom prst="roundRect">
            <a:avLst>
              <a:gd name="adj" fmla="val 18951694"/>
            </a:avLst>
          </a:prstGeom>
          <a:solidFill>
            <a:srgbClr val="48A8E2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73637" y="4148286"/>
            <a:ext cx="135657" cy="135657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890739" y="4434408"/>
            <a:ext cx="1182588" cy="147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Secure Auth</a:t>
            </a:r>
            <a:endParaRPr lang="en-US" sz="900" dirty="0"/>
          </a:p>
        </p:txBody>
      </p:sp>
      <p:sp>
        <p:nvSpPr>
          <p:cNvPr id="24" name="Text 17"/>
          <p:cNvSpPr/>
          <p:nvPr/>
        </p:nvSpPr>
        <p:spPr>
          <a:xfrm>
            <a:off x="3890739" y="4622676"/>
            <a:ext cx="4791521" cy="134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Clerk-based authentication ensuring secure, seamless user sessions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777776"/>
            <a:ext cx="3520306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Technology Stack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577" y="1517005"/>
            <a:ext cx="299219" cy="2992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577" y="2003227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Frontend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523577" y="2312938"/>
            <a:ext cx="2574280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Next.js · React.js · Tailwind CSS · ShadCN UI</a:t>
            </a:r>
            <a:endParaRPr lang="en-US" sz="11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84860" y="1517005"/>
            <a:ext cx="299219" cy="29921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84860" y="2003227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Backend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284860" y="2312938"/>
            <a:ext cx="2574280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Next.js API Routes · Node.js</a:t>
            </a:r>
            <a:endParaRPr lang="en-US" sz="11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46143" y="1517005"/>
            <a:ext cx="299219" cy="29921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46143" y="2003227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Database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046143" y="2312938"/>
            <a:ext cx="2574280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MongoDB for flexible, scalable data persistence</a:t>
            </a:r>
            <a:endParaRPr lang="en-US" sz="11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577" y="3090937"/>
            <a:ext cx="299219" cy="29921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23577" y="3577158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Authentication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523577" y="3886870"/>
            <a:ext cx="2574280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Clerk for secure, modern user management</a:t>
            </a:r>
            <a:endParaRPr lang="en-US" sz="11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84860" y="3090937"/>
            <a:ext cx="299219" cy="299219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284860" y="3577158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AI Engine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3284860" y="3886870"/>
            <a:ext cx="2574280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Google Gemini API for evaluation and question generation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0757" y="355402"/>
            <a:ext cx="2805187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00757" y="2561332"/>
            <a:ext cx="3725763" cy="513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The platform follows a clean, layered architecture ensuring separation of concerns, scalability, and a smooth user experience from authentication through to AI-powered feedback delivery.</a:t>
            </a:r>
            <a:endParaRPr lang="en-US" sz="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2093" y="955402"/>
            <a:ext cx="3725763" cy="3725763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2093" y="955402"/>
            <a:ext cx="3725763" cy="37257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A1882AF-E8BF-31E4-2C67-09B4CA3E65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6357" y="462336"/>
            <a:ext cx="3997234" cy="42729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0910" y="413445"/>
            <a:ext cx="3300264" cy="412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Progress Overview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490910" y="1088901"/>
            <a:ext cx="8162181" cy="21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Core modules are actively under development. The table below summarises the current completion status of each component.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0910" y="1524223"/>
            <a:ext cx="3519264" cy="175320"/>
          </a:xfrm>
          <a:prstGeom prst="roundRect">
            <a:avLst>
              <a:gd name="adj" fmla="val 120005"/>
            </a:avLst>
          </a:prstGeom>
          <a:solidFill>
            <a:srgbClr val="00002E"/>
          </a:solidFill>
          <a:ln w="14288">
            <a:solidFill>
              <a:srgbClr val="F2B4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0910" y="1524223"/>
            <a:ext cx="3167286" cy="175320"/>
          </a:xfrm>
          <a:prstGeom prst="roundRect">
            <a:avLst>
              <a:gd name="adj" fmla="val 120005"/>
            </a:avLst>
          </a:prstGeom>
          <a:solidFill>
            <a:srgbClr val="F2B42D"/>
          </a:solidFill>
          <a:ln/>
        </p:spPr>
      </p:sp>
      <p:sp>
        <p:nvSpPr>
          <p:cNvPr id="6" name="Text 4"/>
          <p:cNvSpPr/>
          <p:nvPr/>
        </p:nvSpPr>
        <p:spPr>
          <a:xfrm>
            <a:off x="4115321" y="1524223"/>
            <a:ext cx="374526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90%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90910" y="1868239"/>
            <a:ext cx="1650132" cy="206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UI Design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90910" y="2153394"/>
            <a:ext cx="3998937" cy="21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Responsive layouts and component library largely complete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54153" y="1524223"/>
            <a:ext cx="3519264" cy="175320"/>
          </a:xfrm>
          <a:prstGeom prst="roundRect">
            <a:avLst>
              <a:gd name="adj" fmla="val 120005"/>
            </a:avLst>
          </a:prstGeom>
          <a:solidFill>
            <a:srgbClr val="00002E"/>
          </a:solidFill>
          <a:ln w="14288">
            <a:solidFill>
              <a:srgbClr val="D742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54153" y="1524223"/>
            <a:ext cx="2815382" cy="175320"/>
          </a:xfrm>
          <a:prstGeom prst="roundRect">
            <a:avLst>
              <a:gd name="adj" fmla="val 120005"/>
            </a:avLst>
          </a:prstGeom>
          <a:solidFill>
            <a:srgbClr val="D7425E"/>
          </a:solidFill>
          <a:ln/>
        </p:spPr>
      </p:sp>
      <p:sp>
        <p:nvSpPr>
          <p:cNvPr id="11" name="Text 9"/>
          <p:cNvSpPr/>
          <p:nvPr/>
        </p:nvSpPr>
        <p:spPr>
          <a:xfrm>
            <a:off x="8278564" y="1524223"/>
            <a:ext cx="374526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80%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654153" y="1868239"/>
            <a:ext cx="1650132" cy="206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Authentication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654153" y="2153394"/>
            <a:ext cx="3998937" cy="21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Clerk integration with login, signup, and session management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90910" y="2703835"/>
            <a:ext cx="3519264" cy="175320"/>
          </a:xfrm>
          <a:prstGeom prst="roundRect">
            <a:avLst>
              <a:gd name="adj" fmla="val 120005"/>
            </a:avLst>
          </a:prstGeom>
          <a:solidFill>
            <a:srgbClr val="00002E"/>
          </a:solidFill>
          <a:ln w="14288">
            <a:solidFill>
              <a:srgbClr val="DD785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0910" y="2703835"/>
            <a:ext cx="2463478" cy="175320"/>
          </a:xfrm>
          <a:prstGeom prst="roundRect">
            <a:avLst>
              <a:gd name="adj" fmla="val 120005"/>
            </a:avLst>
          </a:prstGeom>
          <a:solidFill>
            <a:srgbClr val="DD785E"/>
          </a:solidFill>
          <a:ln/>
        </p:spPr>
      </p:sp>
      <p:sp>
        <p:nvSpPr>
          <p:cNvPr id="16" name="Text 14"/>
          <p:cNvSpPr/>
          <p:nvPr/>
        </p:nvSpPr>
        <p:spPr>
          <a:xfrm>
            <a:off x="4115321" y="2703835"/>
            <a:ext cx="374526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70%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90910" y="3047851"/>
            <a:ext cx="1650132" cy="206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Dashboard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90910" y="3333006"/>
            <a:ext cx="3998937" cy="21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Main interface with category selection and navigation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54153" y="2703835"/>
            <a:ext cx="3519264" cy="175320"/>
          </a:xfrm>
          <a:prstGeom prst="roundRect">
            <a:avLst>
              <a:gd name="adj" fmla="val 120005"/>
            </a:avLst>
          </a:prstGeom>
          <a:solidFill>
            <a:srgbClr val="00002E"/>
          </a:solidFill>
          <a:ln w="14288">
            <a:solidFill>
              <a:srgbClr val="48A8E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54153" y="2703835"/>
            <a:ext cx="2111499" cy="175320"/>
          </a:xfrm>
          <a:prstGeom prst="roundRect">
            <a:avLst>
              <a:gd name="adj" fmla="val 120005"/>
            </a:avLst>
          </a:prstGeom>
          <a:solidFill>
            <a:srgbClr val="48A8E2"/>
          </a:solidFill>
          <a:ln/>
        </p:spPr>
      </p:sp>
      <p:sp>
        <p:nvSpPr>
          <p:cNvPr id="21" name="Text 19"/>
          <p:cNvSpPr/>
          <p:nvPr/>
        </p:nvSpPr>
        <p:spPr>
          <a:xfrm>
            <a:off x="8278564" y="2703835"/>
            <a:ext cx="374526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60%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654153" y="3047851"/>
            <a:ext cx="1650132" cy="206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Database Setup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654153" y="3333006"/>
            <a:ext cx="3998937" cy="21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MongoDB schemas and connection configured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90910" y="3883447"/>
            <a:ext cx="3519264" cy="175320"/>
          </a:xfrm>
          <a:prstGeom prst="roundRect">
            <a:avLst>
              <a:gd name="adj" fmla="val 120005"/>
            </a:avLst>
          </a:prstGeom>
          <a:solidFill>
            <a:srgbClr val="00002E"/>
          </a:solidFill>
          <a:ln w="14288">
            <a:solidFill>
              <a:srgbClr val="59ABA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0910" y="3883447"/>
            <a:ext cx="1759595" cy="175320"/>
          </a:xfrm>
          <a:prstGeom prst="roundRect">
            <a:avLst>
              <a:gd name="adj" fmla="val 120005"/>
            </a:avLst>
          </a:prstGeom>
          <a:solidFill>
            <a:srgbClr val="59ABA9"/>
          </a:solidFill>
          <a:ln/>
        </p:spPr>
      </p:sp>
      <p:sp>
        <p:nvSpPr>
          <p:cNvPr id="26" name="Text 24"/>
          <p:cNvSpPr/>
          <p:nvPr/>
        </p:nvSpPr>
        <p:spPr>
          <a:xfrm>
            <a:off x="4115321" y="3883447"/>
            <a:ext cx="374526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50%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90910" y="4227463"/>
            <a:ext cx="1650132" cy="206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AI Integration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90910" y="4512618"/>
            <a:ext cx="3998937" cy="21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Gemini API connected; prompt engineering in progress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54153" y="3883447"/>
            <a:ext cx="3519264" cy="175320"/>
          </a:xfrm>
          <a:prstGeom prst="roundRect">
            <a:avLst>
              <a:gd name="adj" fmla="val 120005"/>
            </a:avLst>
          </a:prstGeom>
          <a:solidFill>
            <a:srgbClr val="00002E"/>
          </a:solidFill>
          <a:ln w="14288">
            <a:solidFill>
              <a:srgbClr val="F2B42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54153" y="3883447"/>
            <a:ext cx="1407691" cy="175320"/>
          </a:xfrm>
          <a:prstGeom prst="roundRect">
            <a:avLst>
              <a:gd name="adj" fmla="val 120005"/>
            </a:avLst>
          </a:prstGeom>
          <a:solidFill>
            <a:srgbClr val="F2B42D"/>
          </a:solidFill>
          <a:ln/>
        </p:spPr>
      </p:sp>
      <p:sp>
        <p:nvSpPr>
          <p:cNvPr id="31" name="Text 29"/>
          <p:cNvSpPr/>
          <p:nvPr/>
        </p:nvSpPr>
        <p:spPr>
          <a:xfrm>
            <a:off x="8278564" y="3883447"/>
            <a:ext cx="374526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40%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4654153" y="4227463"/>
            <a:ext cx="1650132" cy="206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Session History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654153" y="4512618"/>
            <a:ext cx="3998937" cy="21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Basic storage implemented; analytics pending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050" y="377577"/>
            <a:ext cx="3840659" cy="371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Screens &amp; Working Features</a:t>
            </a:r>
            <a:endParaRPr lang="en-US" sz="2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813" y="1043657"/>
            <a:ext cx="1971303" cy="1971303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0096" y="1043657"/>
            <a:ext cx="1971377" cy="1971377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2453" y="1043657"/>
            <a:ext cx="1971377" cy="1971377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4810" y="1043657"/>
            <a:ext cx="1971377" cy="1971377"/>
          </a:xfrm>
          <a:prstGeom prst="rect">
            <a:avLst/>
          </a:prstGeom>
        </p:spPr>
      </p:pic>
      <p:sp>
        <p:nvSpPr>
          <p:cNvPr id="7" name="Shape 1"/>
          <p:cNvSpPr/>
          <p:nvPr/>
        </p:nvSpPr>
        <p:spPr>
          <a:xfrm>
            <a:off x="473050" y="3216622"/>
            <a:ext cx="4045669" cy="721370"/>
          </a:xfrm>
          <a:prstGeom prst="roundRect">
            <a:avLst>
              <a:gd name="adj" fmla="val 26249"/>
            </a:avLst>
          </a:prstGeom>
          <a:solidFill>
            <a:srgbClr val="00002E"/>
          </a:solidFill>
          <a:ln w="14288">
            <a:solidFill>
              <a:srgbClr val="F2B42D"/>
            </a:solidFill>
            <a:prstDash val="solid"/>
          </a:ln>
        </p:spPr>
      </p:sp>
      <p:sp>
        <p:nvSpPr>
          <p:cNvPr id="8" name="Text 2"/>
          <p:cNvSpPr/>
          <p:nvPr/>
        </p:nvSpPr>
        <p:spPr>
          <a:xfrm>
            <a:off x="613544" y="3357116"/>
            <a:ext cx="1485081" cy="190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✅</a:t>
            </a:r>
            <a:r>
              <a:rPr lang="en-US" sz="11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 Secure Auth</a:t>
            </a:r>
            <a:endParaRPr lang="en-US" sz="1150" dirty="0"/>
          </a:p>
        </p:txBody>
      </p:sp>
      <p:sp>
        <p:nvSpPr>
          <p:cNvPr id="9" name="Text 3"/>
          <p:cNvSpPr/>
          <p:nvPr/>
        </p:nvSpPr>
        <p:spPr>
          <a:xfrm>
            <a:off x="613544" y="3611389"/>
            <a:ext cx="3764682" cy="18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Clerk-based login and signup fully operational</a:t>
            </a:r>
            <a:endParaRPr lang="en-US" sz="950" dirty="0"/>
          </a:p>
        </p:txBody>
      </p:sp>
      <p:sp>
        <p:nvSpPr>
          <p:cNvPr id="10" name="Shape 4"/>
          <p:cNvSpPr/>
          <p:nvPr/>
        </p:nvSpPr>
        <p:spPr>
          <a:xfrm>
            <a:off x="4625206" y="3216622"/>
            <a:ext cx="4045744" cy="721370"/>
          </a:xfrm>
          <a:prstGeom prst="roundRect">
            <a:avLst>
              <a:gd name="adj" fmla="val 26249"/>
            </a:avLst>
          </a:prstGeom>
          <a:solidFill>
            <a:srgbClr val="00002E"/>
          </a:solidFill>
          <a:ln w="14288">
            <a:solidFill>
              <a:srgbClr val="D7425E"/>
            </a:solidFill>
            <a:prstDash val="solid"/>
          </a:ln>
        </p:spPr>
      </p:sp>
      <p:sp>
        <p:nvSpPr>
          <p:cNvPr id="11" name="Text 5"/>
          <p:cNvSpPr/>
          <p:nvPr/>
        </p:nvSpPr>
        <p:spPr>
          <a:xfrm>
            <a:off x="4765700" y="3357116"/>
            <a:ext cx="1485081" cy="190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✅</a:t>
            </a:r>
            <a:r>
              <a:rPr lang="en-US" sz="11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 Dashboard UI</a:t>
            </a:r>
            <a:endParaRPr lang="en-US" sz="1150" dirty="0"/>
          </a:p>
        </p:txBody>
      </p:sp>
      <p:sp>
        <p:nvSpPr>
          <p:cNvPr id="12" name="Text 6"/>
          <p:cNvSpPr/>
          <p:nvPr/>
        </p:nvSpPr>
        <p:spPr>
          <a:xfrm>
            <a:off x="4765700" y="3611389"/>
            <a:ext cx="3764756" cy="18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Responsive dashboard with category navigation live</a:t>
            </a:r>
            <a:endParaRPr lang="en-US" sz="950" dirty="0"/>
          </a:p>
        </p:txBody>
      </p:sp>
      <p:sp>
        <p:nvSpPr>
          <p:cNvPr id="13" name="Shape 7"/>
          <p:cNvSpPr/>
          <p:nvPr/>
        </p:nvSpPr>
        <p:spPr>
          <a:xfrm>
            <a:off x="473050" y="4044479"/>
            <a:ext cx="4045669" cy="721370"/>
          </a:xfrm>
          <a:prstGeom prst="roundRect">
            <a:avLst>
              <a:gd name="adj" fmla="val 26249"/>
            </a:avLst>
          </a:prstGeom>
          <a:solidFill>
            <a:srgbClr val="00002E"/>
          </a:solidFill>
          <a:ln w="14288">
            <a:solidFill>
              <a:srgbClr val="DD785E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613544" y="4184972"/>
            <a:ext cx="1623492" cy="190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✅</a:t>
            </a:r>
            <a:r>
              <a:rPr lang="en-US" sz="11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 Question Generation</a:t>
            </a:r>
            <a:endParaRPr lang="en-US" sz="1150" dirty="0"/>
          </a:p>
        </p:txBody>
      </p:sp>
      <p:sp>
        <p:nvSpPr>
          <p:cNvPr id="15" name="Text 9"/>
          <p:cNvSpPr/>
          <p:nvPr/>
        </p:nvSpPr>
        <p:spPr>
          <a:xfrm>
            <a:off x="613544" y="4439245"/>
            <a:ext cx="3764682" cy="18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Gemini API generating dynamic interview questions</a:t>
            </a:r>
            <a:endParaRPr lang="en-US" sz="950" dirty="0"/>
          </a:p>
        </p:txBody>
      </p:sp>
      <p:sp>
        <p:nvSpPr>
          <p:cNvPr id="16" name="Shape 10"/>
          <p:cNvSpPr/>
          <p:nvPr/>
        </p:nvSpPr>
        <p:spPr>
          <a:xfrm>
            <a:off x="4625206" y="4044479"/>
            <a:ext cx="4045744" cy="721370"/>
          </a:xfrm>
          <a:prstGeom prst="roundRect">
            <a:avLst>
              <a:gd name="adj" fmla="val 26249"/>
            </a:avLst>
          </a:prstGeom>
          <a:solidFill>
            <a:srgbClr val="00002E"/>
          </a:solidFill>
          <a:ln w="14288">
            <a:solidFill>
              <a:srgbClr val="48A8E2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4765700" y="4184972"/>
            <a:ext cx="1521916" cy="190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✅</a:t>
            </a:r>
            <a:r>
              <a:rPr lang="en-US" sz="11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 Basic AI Evaluation</a:t>
            </a:r>
            <a:endParaRPr lang="en-US" sz="1150" dirty="0"/>
          </a:p>
        </p:txBody>
      </p:sp>
      <p:sp>
        <p:nvSpPr>
          <p:cNvPr id="18" name="Text 12"/>
          <p:cNvSpPr/>
          <p:nvPr/>
        </p:nvSpPr>
        <p:spPr>
          <a:xfrm>
            <a:off x="4765700" y="4439245"/>
            <a:ext cx="3764756" cy="18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Initial response evaluation and feedback pipeline active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1276871"/>
            <a:ext cx="4914007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Challenges &amp; Work Remaining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15900" y="1941240"/>
            <a:ext cx="4081314" cy="1925315"/>
          </a:xfrm>
          <a:prstGeom prst="roundRect">
            <a:avLst>
              <a:gd name="adj" fmla="val 18650"/>
            </a:avLst>
          </a:prstGeom>
          <a:solidFill>
            <a:srgbClr val="F2B42D">
              <a:alpha val="7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5472" y="2090812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Challenges Faced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65472" y="2460352"/>
            <a:ext cx="3782169" cy="1353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Structuring consistent AI response formats from Gemini</a:t>
            </a:r>
            <a:endParaRPr lang="en-US" sz="115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Fine-tuning prompt engineering for varied question types</a:t>
            </a:r>
            <a:endParaRPr lang="en-US" sz="115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Managing asynchronous API calls without UI blocking</a:t>
            </a:r>
            <a:endParaRPr lang="en-US" sz="115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Maintaining responsive layouts across all screen sizes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759226" y="2090812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Work Remaining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759226" y="2460352"/>
            <a:ext cx="3865959" cy="1114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Performance analytics and visualisation dashboard</a:t>
            </a:r>
            <a:endParaRPr lang="en-US" sz="115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Session history optimisation and retrieval</a:t>
            </a:r>
            <a:endParaRPr lang="en-US" sz="115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End-to-end testing and bug fixes</a:t>
            </a:r>
            <a:endParaRPr lang="en-US" sz="115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Final deployment and report submission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35459" y="277713"/>
            <a:ext cx="3633788" cy="281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Future Enhancements &amp; Conclusion</a:t>
            </a:r>
            <a:endParaRPr lang="en-US" sz="1750" dirty="0"/>
          </a:p>
        </p:txBody>
      </p:sp>
      <p:sp>
        <p:nvSpPr>
          <p:cNvPr id="4" name="Shape 1"/>
          <p:cNvSpPr/>
          <p:nvPr/>
        </p:nvSpPr>
        <p:spPr>
          <a:xfrm>
            <a:off x="335459" y="795412"/>
            <a:ext cx="5044083" cy="653207"/>
          </a:xfrm>
          <a:prstGeom prst="roundRect">
            <a:avLst>
              <a:gd name="adj" fmla="val 10499"/>
            </a:avLst>
          </a:prstGeom>
          <a:solidFill>
            <a:srgbClr val="00002E">
              <a:alpha val="75000"/>
            </a:srgbClr>
          </a:solidFill>
          <a:ln w="14288">
            <a:solidFill>
              <a:srgbClr val="F2B42D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35459" y="781124"/>
            <a:ext cx="5044083" cy="57150"/>
          </a:xfrm>
          <a:prstGeom prst="roundRect">
            <a:avLst>
              <a:gd name="adj" fmla="val 251564"/>
            </a:avLst>
          </a:prstGeom>
          <a:solidFill>
            <a:srgbClr val="F2B42D"/>
          </a:solidFill>
          <a:ln/>
        </p:spPr>
      </p:sp>
      <p:sp>
        <p:nvSpPr>
          <p:cNvPr id="6" name="Shape 3"/>
          <p:cNvSpPr/>
          <p:nvPr/>
        </p:nvSpPr>
        <p:spPr>
          <a:xfrm>
            <a:off x="2713732" y="651644"/>
            <a:ext cx="287536" cy="287536"/>
          </a:xfrm>
          <a:prstGeom prst="roundRect">
            <a:avLst>
              <a:gd name="adj" fmla="val 198758"/>
            </a:avLst>
          </a:prstGeom>
          <a:solidFill>
            <a:srgbClr val="F2B42D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99978" y="737890"/>
            <a:ext cx="114970" cy="11497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45591" y="1035025"/>
            <a:ext cx="1369219" cy="140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Voice Interview Simulation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445591" y="1212726"/>
            <a:ext cx="4823817" cy="12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Speech-to-text powered live voice interviews</a:t>
            </a:r>
            <a:endParaRPr lang="en-US" sz="750" dirty="0"/>
          </a:p>
        </p:txBody>
      </p:sp>
      <p:sp>
        <p:nvSpPr>
          <p:cNvPr id="10" name="Shape 6"/>
          <p:cNvSpPr/>
          <p:nvPr/>
        </p:nvSpPr>
        <p:spPr>
          <a:xfrm>
            <a:off x="335459" y="1653778"/>
            <a:ext cx="5044083" cy="653207"/>
          </a:xfrm>
          <a:prstGeom prst="roundRect">
            <a:avLst>
              <a:gd name="adj" fmla="val 10499"/>
            </a:avLst>
          </a:prstGeom>
          <a:solidFill>
            <a:srgbClr val="00002E">
              <a:alpha val="75000"/>
            </a:srgbClr>
          </a:solidFill>
          <a:ln w="14288">
            <a:solidFill>
              <a:srgbClr val="D7425E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335459" y="1639491"/>
            <a:ext cx="5044083" cy="57150"/>
          </a:xfrm>
          <a:prstGeom prst="roundRect">
            <a:avLst>
              <a:gd name="adj" fmla="val 251564"/>
            </a:avLst>
          </a:prstGeom>
          <a:solidFill>
            <a:srgbClr val="D7425E"/>
          </a:solidFill>
          <a:ln/>
        </p:spPr>
      </p:sp>
      <p:sp>
        <p:nvSpPr>
          <p:cNvPr id="12" name="Shape 8"/>
          <p:cNvSpPr/>
          <p:nvPr/>
        </p:nvSpPr>
        <p:spPr>
          <a:xfrm>
            <a:off x="2713732" y="1510010"/>
            <a:ext cx="287536" cy="287536"/>
          </a:xfrm>
          <a:prstGeom prst="roundRect">
            <a:avLst>
              <a:gd name="adj" fmla="val 198758"/>
            </a:avLst>
          </a:prstGeom>
          <a:solidFill>
            <a:srgbClr val="F2B42D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99978" y="1596256"/>
            <a:ext cx="114970" cy="11497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45591" y="1893391"/>
            <a:ext cx="1127596" cy="140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Resume Analysis</a:t>
            </a:r>
            <a:endParaRPr lang="en-US" sz="850" dirty="0"/>
          </a:p>
        </p:txBody>
      </p:sp>
      <p:sp>
        <p:nvSpPr>
          <p:cNvPr id="15" name="Text 10"/>
          <p:cNvSpPr/>
          <p:nvPr/>
        </p:nvSpPr>
        <p:spPr>
          <a:xfrm>
            <a:off x="445591" y="2071092"/>
            <a:ext cx="4823817" cy="12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AI-driven resume scoring and suggestions</a:t>
            </a:r>
            <a:endParaRPr lang="en-US" sz="750" dirty="0"/>
          </a:p>
        </p:txBody>
      </p:sp>
      <p:sp>
        <p:nvSpPr>
          <p:cNvPr id="16" name="Shape 11"/>
          <p:cNvSpPr/>
          <p:nvPr/>
        </p:nvSpPr>
        <p:spPr>
          <a:xfrm>
            <a:off x="335459" y="2512144"/>
            <a:ext cx="5044083" cy="653207"/>
          </a:xfrm>
          <a:prstGeom prst="roundRect">
            <a:avLst>
              <a:gd name="adj" fmla="val 10499"/>
            </a:avLst>
          </a:prstGeom>
          <a:solidFill>
            <a:srgbClr val="00002E">
              <a:alpha val="75000"/>
            </a:srgbClr>
          </a:solidFill>
          <a:ln w="14288">
            <a:solidFill>
              <a:srgbClr val="DD785E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335459" y="2497857"/>
            <a:ext cx="5044083" cy="57150"/>
          </a:xfrm>
          <a:prstGeom prst="roundRect">
            <a:avLst>
              <a:gd name="adj" fmla="val 251564"/>
            </a:avLst>
          </a:prstGeom>
          <a:solidFill>
            <a:srgbClr val="DD785E"/>
          </a:solidFill>
          <a:ln/>
        </p:spPr>
      </p:sp>
      <p:sp>
        <p:nvSpPr>
          <p:cNvPr id="18" name="Shape 13"/>
          <p:cNvSpPr/>
          <p:nvPr/>
        </p:nvSpPr>
        <p:spPr>
          <a:xfrm>
            <a:off x="2713732" y="2368376"/>
            <a:ext cx="287536" cy="287536"/>
          </a:xfrm>
          <a:prstGeom prst="roundRect">
            <a:avLst>
              <a:gd name="adj" fmla="val 198758"/>
            </a:avLst>
          </a:prstGeom>
          <a:solidFill>
            <a:srgbClr val="F2B42D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99978" y="2454622"/>
            <a:ext cx="114970" cy="11497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45591" y="2751758"/>
            <a:ext cx="1127596" cy="140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Coding Interviews</a:t>
            </a:r>
            <a:endParaRPr lang="en-US" sz="850" dirty="0"/>
          </a:p>
        </p:txBody>
      </p:sp>
      <p:sp>
        <p:nvSpPr>
          <p:cNvPr id="21" name="Text 15"/>
          <p:cNvSpPr/>
          <p:nvPr/>
        </p:nvSpPr>
        <p:spPr>
          <a:xfrm>
            <a:off x="445591" y="2929458"/>
            <a:ext cx="4823817" cy="12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Integrated code execution and evaluation</a:t>
            </a:r>
            <a:endParaRPr lang="en-US" sz="750" dirty="0"/>
          </a:p>
        </p:txBody>
      </p:sp>
      <p:sp>
        <p:nvSpPr>
          <p:cNvPr id="22" name="Shape 16"/>
          <p:cNvSpPr/>
          <p:nvPr/>
        </p:nvSpPr>
        <p:spPr>
          <a:xfrm>
            <a:off x="335459" y="3370511"/>
            <a:ext cx="5044083" cy="653207"/>
          </a:xfrm>
          <a:prstGeom prst="roundRect">
            <a:avLst>
              <a:gd name="adj" fmla="val 10499"/>
            </a:avLst>
          </a:prstGeom>
          <a:solidFill>
            <a:srgbClr val="00002E">
              <a:alpha val="75000"/>
            </a:srgbClr>
          </a:solidFill>
          <a:ln w="14288">
            <a:solidFill>
              <a:srgbClr val="48A8E2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335459" y="3356223"/>
            <a:ext cx="5044083" cy="57150"/>
          </a:xfrm>
          <a:prstGeom prst="roundRect">
            <a:avLst>
              <a:gd name="adj" fmla="val 251564"/>
            </a:avLst>
          </a:prstGeom>
          <a:solidFill>
            <a:srgbClr val="48A8E2"/>
          </a:solidFill>
          <a:ln/>
        </p:spPr>
      </p:sp>
      <p:sp>
        <p:nvSpPr>
          <p:cNvPr id="24" name="Shape 18"/>
          <p:cNvSpPr/>
          <p:nvPr/>
        </p:nvSpPr>
        <p:spPr>
          <a:xfrm>
            <a:off x="2713732" y="3226743"/>
            <a:ext cx="287536" cy="287536"/>
          </a:xfrm>
          <a:prstGeom prst="roundRect">
            <a:avLst>
              <a:gd name="adj" fmla="val 198758"/>
            </a:avLst>
          </a:prstGeom>
          <a:solidFill>
            <a:srgbClr val="F2B42D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799978" y="3312988"/>
            <a:ext cx="114970" cy="11497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45591" y="3610124"/>
            <a:ext cx="1192932" cy="140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Company-Specific Prep</a:t>
            </a:r>
            <a:endParaRPr lang="en-US" sz="850" dirty="0"/>
          </a:p>
        </p:txBody>
      </p:sp>
      <p:sp>
        <p:nvSpPr>
          <p:cNvPr id="27" name="Text 20"/>
          <p:cNvSpPr/>
          <p:nvPr/>
        </p:nvSpPr>
        <p:spPr>
          <a:xfrm>
            <a:off x="445591" y="3787825"/>
            <a:ext cx="4823817" cy="12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Tailored questions for target organisations</a:t>
            </a:r>
            <a:endParaRPr lang="en-US" sz="750" dirty="0"/>
          </a:p>
        </p:txBody>
      </p:sp>
      <p:sp>
        <p:nvSpPr>
          <p:cNvPr id="28" name="Shape 21"/>
          <p:cNvSpPr/>
          <p:nvPr/>
        </p:nvSpPr>
        <p:spPr>
          <a:xfrm>
            <a:off x="335459" y="4092773"/>
            <a:ext cx="5044083" cy="440010"/>
          </a:xfrm>
          <a:prstGeom prst="roundRect">
            <a:avLst>
              <a:gd name="adj" fmla="val 32674"/>
            </a:avLst>
          </a:prstGeom>
          <a:solidFill>
            <a:srgbClr val="183A13"/>
          </a:solidFill>
          <a:ln/>
        </p:spPr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1304" y="4223965"/>
            <a:ext cx="119807" cy="95845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646956" y="4178126"/>
            <a:ext cx="4636740" cy="25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Conclusion:</a:t>
            </a:r>
            <a:r>
              <a:rPr lang="en-US" sz="7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CodeCraft is progressing successfully — core modules are implemented, AI integration is partially complete, and the team is on track for final deployment and testing.</a:t>
            </a:r>
            <a:endParaRPr lang="en-US" sz="750" dirty="0"/>
          </a:p>
        </p:txBody>
      </p:sp>
      <p:sp>
        <p:nvSpPr>
          <p:cNvPr id="31" name="Text 23"/>
          <p:cNvSpPr/>
          <p:nvPr/>
        </p:nvSpPr>
        <p:spPr>
          <a:xfrm>
            <a:off x="479227" y="4670896"/>
            <a:ext cx="4900315" cy="12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Thank You</a:t>
            </a:r>
            <a:r>
              <a:rPr lang="en-US" sz="7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— Questions &amp; Answers</a:t>
            </a:r>
            <a:endParaRPr lang="en-US" sz="750" dirty="0"/>
          </a:p>
        </p:txBody>
      </p:sp>
      <p:sp>
        <p:nvSpPr>
          <p:cNvPr id="32" name="Shape 24"/>
          <p:cNvSpPr/>
          <p:nvPr/>
        </p:nvSpPr>
        <p:spPr>
          <a:xfrm>
            <a:off x="335459" y="4601840"/>
            <a:ext cx="14288" cy="263872"/>
          </a:xfrm>
          <a:prstGeom prst="rect">
            <a:avLst/>
          </a:prstGeom>
          <a:solidFill>
            <a:srgbClr val="F2B42D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576</Words>
  <Application>Microsoft Office PowerPoint</Application>
  <PresentationFormat>On-screen Show (16:9)</PresentationFormat>
  <Paragraphs>110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PT Sans</vt:lpstr>
      <vt:lpstr>Nunito Semi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Abhimanyu Singh</cp:lastModifiedBy>
  <cp:revision>3</cp:revision>
  <dcterms:created xsi:type="dcterms:W3CDTF">2026-05-11T19:09:43Z</dcterms:created>
  <dcterms:modified xsi:type="dcterms:W3CDTF">2026-05-11T19:40:24Z</dcterms:modified>
</cp:coreProperties>
</file>