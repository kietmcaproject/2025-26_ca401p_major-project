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2948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454372"/>
            <a:ext cx="3212381" cy="266402"/>
          </a:xfrm>
          <a:prstGeom prst="roundRect">
            <a:avLst>
              <a:gd name="adj" fmla="val 17880"/>
            </a:avLst>
          </a:prstGeom>
          <a:solidFill>
            <a:srgbClr val="1C113B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496863"/>
            <a:ext cx="304227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MCA MAJOR PROJECT · KIET GROUP OF INSTITUTIONS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1103535"/>
            <a:ext cx="37213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CodeCraft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3925119" y="1455241"/>
            <a:ext cx="4722763" cy="2567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Powered Interview Preparation Platform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925119" y="4235425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Divyam Raj   ( 202410116100066)</a:t>
            </a: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Divakar Verma  ( 202410116100065 )</a:t>
            </a: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Divyanshu Mishra  ( 202410116100068 )</a:t>
            </a: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			 </a:t>
            </a:r>
            <a:r>
              <a:rPr lang="en-US" sz="11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Guided By: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Ms. Annu Yadav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DA6CFF-3260-B97F-691B-E09A4A6C1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10528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336" y="332929"/>
            <a:ext cx="808211" cy="197197"/>
          </a:xfrm>
          <a:prstGeom prst="roundRect">
            <a:avLst>
              <a:gd name="adj" fmla="val 18494"/>
            </a:avLst>
          </a:prstGeom>
          <a:noFill/>
          <a:ln w="4763">
            <a:solidFill>
              <a:srgbClr val="876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7210" y="370210"/>
            <a:ext cx="668462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65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27336" y="563314"/>
            <a:ext cx="5003825" cy="356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AI-Driven Interview Preparation?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36" y="1137568"/>
            <a:ext cx="4775299" cy="27059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72163" y="2030685"/>
            <a:ext cx="2449116" cy="91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 preparation is a critical determinant of career success, yet traditional methods remain fragmented, slow, and impersonal. Candidates lack access to intelligent, adaptive feedback systems that can evaluate their responses in real time.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827336" y="4030489"/>
            <a:ext cx="2441004" cy="780008"/>
          </a:xfrm>
          <a:prstGeom prst="roundRect">
            <a:avLst>
              <a:gd name="adj" fmla="val 8792"/>
            </a:avLst>
          </a:prstGeom>
          <a:solidFill>
            <a:srgbClr val="0C0524">
              <a:alpha val="95000"/>
            </a:srgbClr>
          </a:solidFill>
          <a:ln w="14288">
            <a:solidFill>
              <a:srgbClr val="48367C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048" y="4030489"/>
            <a:ext cx="57150" cy="780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2981" y="4153272"/>
            <a:ext cx="1424583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Static Resources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92981" y="4381128"/>
            <a:ext cx="2152576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question banks with no adaptability to individual skill levels.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3351386" y="4030489"/>
            <a:ext cx="2441079" cy="780008"/>
          </a:xfrm>
          <a:prstGeom prst="roundRect">
            <a:avLst>
              <a:gd name="adj" fmla="val 8792"/>
            </a:avLst>
          </a:prstGeom>
          <a:solidFill>
            <a:srgbClr val="0C0524">
              <a:alpha val="95000"/>
            </a:srgbClr>
          </a:solidFill>
          <a:ln w="14288">
            <a:solidFill>
              <a:srgbClr val="48367C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099" y="4030489"/>
            <a:ext cx="57150" cy="7800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17032" y="4153272"/>
            <a:ext cx="1424583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 Instant Feedback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3517032" y="4381128"/>
            <a:ext cx="2152650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Delayed or absent evaluation prevents meaningful improvement.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5875511" y="4030489"/>
            <a:ext cx="2441079" cy="780008"/>
          </a:xfrm>
          <a:prstGeom prst="roundRect">
            <a:avLst>
              <a:gd name="adj" fmla="val 8792"/>
            </a:avLst>
          </a:prstGeom>
          <a:solidFill>
            <a:srgbClr val="0C0524">
              <a:alpha val="95000"/>
            </a:srgbClr>
          </a:solidFill>
          <a:ln w="14288">
            <a:solidFill>
              <a:srgbClr val="48367C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224" y="4030489"/>
            <a:ext cx="57150" cy="7800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41157" y="4153272"/>
            <a:ext cx="1424583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Mentor Gap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6041157" y="4381128"/>
            <a:ext cx="2152650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access to expert guidance creates preparation bottlenecks.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40916"/>
            <a:ext cx="1426815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876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588169"/>
            <a:ext cx="124718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73547"/>
            <a:ext cx="7932167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Challenges in Traditional Preparation Systems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96119" y="1551310"/>
            <a:ext cx="4004965" cy="1073795"/>
          </a:xfrm>
          <a:prstGeom prst="roundRect">
            <a:avLst>
              <a:gd name="adj" fmla="val 5545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2640" y="1697831"/>
            <a:ext cx="2143125" cy="242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📦</a:t>
            </a: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Static Question Banks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2640" y="2024955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Pre-defined questions with no dynamic generation or difficulty adaptation.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1551310"/>
            <a:ext cx="4005039" cy="1073795"/>
          </a:xfrm>
          <a:prstGeom prst="roundRect">
            <a:avLst>
              <a:gd name="adj" fmla="val 5545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9363" y="1697831"/>
            <a:ext cx="1860649" cy="242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⏳</a:t>
            </a: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Delayed Feedback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789363" y="2024955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instant or automated evaluation of candidate responses.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2766864"/>
            <a:ext cx="4004965" cy="1073795"/>
          </a:xfrm>
          <a:prstGeom prst="roundRect">
            <a:avLst>
              <a:gd name="adj" fmla="val 5545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640" y="2913385"/>
            <a:ext cx="1896145" cy="242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👤</a:t>
            </a: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No Personalisation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2640" y="3240509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Generic guidance that ignores individual strengths and weaknesses.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42842" y="2766864"/>
            <a:ext cx="4005039" cy="1073795"/>
          </a:xfrm>
          <a:prstGeom prst="roundRect">
            <a:avLst>
              <a:gd name="adj" fmla="val 5545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9363" y="2913385"/>
            <a:ext cx="2098625" cy="242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📊</a:t>
            </a: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No Progress Tracking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789363" y="3240509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Absence of long-term performance analytics and session history.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6119" y="4000128"/>
            <a:ext cx="8151763" cy="602382"/>
          </a:xfrm>
          <a:prstGeom prst="roundRect">
            <a:avLst>
              <a:gd name="adj" fmla="val 9884"/>
            </a:avLst>
          </a:prstGeom>
          <a:solidFill>
            <a:srgbClr val="4B3F02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4215185"/>
            <a:ext cx="177180" cy="14175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56816" y="4177308"/>
            <a:ext cx="7549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gaps directly reduce candidate readiness and confidence in competitive technical interviews.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1871" y="352574"/>
            <a:ext cx="1583829" cy="237976"/>
          </a:xfrm>
          <a:prstGeom prst="roundRect">
            <a:avLst>
              <a:gd name="adj" fmla="val 17827"/>
            </a:avLst>
          </a:prstGeom>
          <a:noFill/>
          <a:ln w="4763">
            <a:solidFill>
              <a:srgbClr val="876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2387" y="395213"/>
            <a:ext cx="1422797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 &amp; COMPARISON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41871" y="635496"/>
            <a:ext cx="6169075" cy="4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Objectives &amp; System Comparison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41871" y="1330821"/>
            <a:ext cx="16571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Objectives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198" y="1670707"/>
            <a:ext cx="189384" cy="1893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2115" y="1664419"/>
            <a:ext cx="356584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AI-driven question generation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198" y="2280605"/>
            <a:ext cx="189384" cy="1893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2115" y="2274317"/>
            <a:ext cx="356584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answer evaluation via Gemini API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198" y="2890503"/>
            <a:ext cx="189384" cy="1893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2115" y="2884215"/>
            <a:ext cx="356584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Personalised, structured feedback delivery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198" y="3500400"/>
            <a:ext cx="189384" cy="1893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52115" y="3494112"/>
            <a:ext cx="356584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authentication &amp; session history tracking</a:t>
            </a:r>
            <a:endParaRPr lang="en-US" sz="9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198" y="4110298"/>
            <a:ext cx="189384" cy="18938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52115" y="4104010"/>
            <a:ext cx="356584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Responsive, modern cross-device interface</a:t>
            </a:r>
            <a:endParaRPr lang="en-US" sz="950" dirty="0"/>
          </a:p>
        </p:txBody>
      </p:sp>
      <p:sp>
        <p:nvSpPr>
          <p:cNvPr id="16" name="Text 9"/>
          <p:cNvSpPr/>
          <p:nvPr/>
        </p:nvSpPr>
        <p:spPr>
          <a:xfrm>
            <a:off x="4730800" y="1330821"/>
            <a:ext cx="2206451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Existing System vs CodeCraft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4730800" y="1664419"/>
            <a:ext cx="3976092" cy="2999929"/>
          </a:xfrm>
          <a:prstGeom prst="roundRect">
            <a:avLst>
              <a:gd name="adj" fmla="val 1768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4862215" y="1741363"/>
            <a:ext cx="106709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</a:t>
            </a:r>
            <a:endParaRPr lang="en-US" sz="950" dirty="0"/>
          </a:p>
        </p:txBody>
      </p:sp>
      <p:sp>
        <p:nvSpPr>
          <p:cNvPr id="19" name="Text 12"/>
          <p:cNvSpPr/>
          <p:nvPr/>
        </p:nvSpPr>
        <p:spPr>
          <a:xfrm>
            <a:off x="6186488" y="1741363"/>
            <a:ext cx="106471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System</a:t>
            </a:r>
            <a:endParaRPr lang="en-US" sz="950" dirty="0"/>
          </a:p>
        </p:txBody>
      </p:sp>
      <p:sp>
        <p:nvSpPr>
          <p:cNvPr id="20" name="Text 13"/>
          <p:cNvSpPr/>
          <p:nvPr/>
        </p:nvSpPr>
        <p:spPr>
          <a:xfrm>
            <a:off x="7508379" y="1741363"/>
            <a:ext cx="106709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CodeCraft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4862215" y="2081436"/>
            <a:ext cx="106709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6186488" y="2081436"/>
            <a:ext cx="106471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Static, fixed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7508379" y="2081436"/>
            <a:ext cx="1067098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AI-generated, dynamic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4862215" y="2612454"/>
            <a:ext cx="106709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6186488" y="2612454"/>
            <a:ext cx="106471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Generic / delayed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7508379" y="2612454"/>
            <a:ext cx="1067098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Real-time, personalised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4862215" y="3143473"/>
            <a:ext cx="106709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Dependency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6186488" y="3143473"/>
            <a:ext cx="106471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mentor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7508379" y="3143473"/>
            <a:ext cx="1067098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AI engine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4862215" y="3674492"/>
            <a:ext cx="106709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6186488" y="3674492"/>
            <a:ext cx="106471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7508379" y="3674492"/>
            <a:ext cx="1067098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performance dashboard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4862215" y="4205511"/>
            <a:ext cx="106709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6186488" y="4205511"/>
            <a:ext cx="106471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7508379" y="4205511"/>
            <a:ext cx="1067098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24/7, cloud-based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029" y="311572"/>
            <a:ext cx="1097310" cy="177850"/>
          </a:xfrm>
          <a:prstGeom prst="roundRect">
            <a:avLst>
              <a:gd name="adj" fmla="val 18832"/>
            </a:avLst>
          </a:prstGeom>
          <a:noFill/>
          <a:ln w="4763">
            <a:solidFill>
              <a:srgbClr val="876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97546" y="346174"/>
            <a:ext cx="968276" cy="10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0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&amp; STACK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1133029" y="517401"/>
            <a:ext cx="4839891" cy="327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Architecture &amp; Technology Stack</a:t>
            </a:r>
            <a:endParaRPr lang="en-US" sz="2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161" y="949523"/>
            <a:ext cx="6657529" cy="249815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28711" y="1585848"/>
            <a:ext cx="343881" cy="34388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22335" y="2836392"/>
            <a:ext cx="1004132" cy="20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Gemini AI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9785" y="1586493"/>
            <a:ext cx="343881" cy="34388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356854" y="2836392"/>
            <a:ext cx="1004131" cy="20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Next.js API</a:t>
            </a:r>
            <a:endParaRPr lang="en-US" sz="12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11182" y="1586493"/>
            <a:ext cx="343881" cy="34388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098250" y="2836392"/>
            <a:ext cx="1004132" cy="20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Clerk Auth</a:t>
            </a:r>
            <a:endParaRPr lang="en-US" sz="12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52579" y="1586493"/>
            <a:ext cx="343881" cy="34388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839647" y="2734840"/>
            <a:ext cx="1004132" cy="406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Next.js Frontend</a:t>
            </a:r>
            <a:endParaRPr lang="en-US" sz="12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87097" y="1586493"/>
            <a:ext cx="343881" cy="34388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553533" y="2836392"/>
            <a:ext cx="1004132" cy="20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User</a:t>
            </a:r>
            <a:endParaRPr lang="en-US" sz="1250" dirty="0"/>
          </a:p>
        </p:txBody>
      </p:sp>
      <p:sp>
        <p:nvSpPr>
          <p:cNvPr id="16" name="Text 8"/>
          <p:cNvSpPr/>
          <p:nvPr/>
        </p:nvSpPr>
        <p:spPr>
          <a:xfrm>
            <a:off x="1133029" y="3526482"/>
            <a:ext cx="6877869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flow from user interaction through secure authentication, AI processing, persistent storage, and performance visualisation.</a:t>
            </a:r>
            <a:endParaRPr lang="en-US" sz="750" dirty="0"/>
          </a:p>
        </p:txBody>
      </p:sp>
      <p:sp>
        <p:nvSpPr>
          <p:cNvPr id="17" name="Shape 9"/>
          <p:cNvSpPr/>
          <p:nvPr/>
        </p:nvSpPr>
        <p:spPr>
          <a:xfrm>
            <a:off x="1133029" y="3741093"/>
            <a:ext cx="6877869" cy="1090761"/>
          </a:xfrm>
          <a:prstGeom prst="roundRect">
            <a:avLst>
              <a:gd name="adj" fmla="val 3838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8" name="Shape 10"/>
          <p:cNvSpPr/>
          <p:nvPr/>
        </p:nvSpPr>
        <p:spPr>
          <a:xfrm>
            <a:off x="1137791" y="3745855"/>
            <a:ext cx="3434135" cy="540618"/>
          </a:xfrm>
          <a:prstGeom prst="roundRect">
            <a:avLst>
              <a:gd name="adj" fmla="val 7744"/>
            </a:avLst>
          </a:prstGeom>
          <a:solidFill>
            <a:srgbClr val="2F1D63"/>
          </a:solidFill>
          <a:ln/>
        </p:spPr>
      </p:sp>
      <p:sp>
        <p:nvSpPr>
          <p:cNvPr id="19" name="Text 11"/>
          <p:cNvSpPr/>
          <p:nvPr/>
        </p:nvSpPr>
        <p:spPr>
          <a:xfrm>
            <a:off x="1237431" y="3845496"/>
            <a:ext cx="130827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Frontend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1237431" y="4051027"/>
            <a:ext cx="3234854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Next.js · React · Tailwind CSS · ShadCN UI</a:t>
            </a:r>
            <a:endParaRPr lang="en-US" sz="750" dirty="0"/>
          </a:p>
        </p:txBody>
      </p:sp>
      <p:sp>
        <p:nvSpPr>
          <p:cNvPr id="21" name="Shape 13"/>
          <p:cNvSpPr/>
          <p:nvPr/>
        </p:nvSpPr>
        <p:spPr>
          <a:xfrm>
            <a:off x="4571926" y="3745855"/>
            <a:ext cx="3434209" cy="540618"/>
          </a:xfrm>
          <a:prstGeom prst="rect">
            <a:avLst/>
          </a:prstGeom>
          <a:solidFill>
            <a:srgbClr val="2F1D63"/>
          </a:solidFill>
          <a:ln/>
        </p:spPr>
      </p:sp>
      <p:sp>
        <p:nvSpPr>
          <p:cNvPr id="22" name="Shape 14"/>
          <p:cNvSpPr/>
          <p:nvPr/>
        </p:nvSpPr>
        <p:spPr>
          <a:xfrm>
            <a:off x="4571926" y="3745855"/>
            <a:ext cx="14288" cy="540618"/>
          </a:xfrm>
          <a:prstGeom prst="roundRect">
            <a:avLst>
              <a:gd name="adj" fmla="val 293013"/>
            </a:avLst>
          </a:prstGeom>
          <a:solidFill>
            <a:srgbClr val="48367C"/>
          </a:solidFill>
          <a:ln/>
        </p:spPr>
      </p:sp>
      <p:sp>
        <p:nvSpPr>
          <p:cNvPr id="23" name="Text 15"/>
          <p:cNvSpPr/>
          <p:nvPr/>
        </p:nvSpPr>
        <p:spPr>
          <a:xfrm>
            <a:off x="4671566" y="3845496"/>
            <a:ext cx="130827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Backend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4671566" y="4051027"/>
            <a:ext cx="3234928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· Next.js API Routes</a:t>
            </a:r>
            <a:endParaRPr lang="en-US" sz="750" dirty="0"/>
          </a:p>
        </p:txBody>
      </p:sp>
      <p:sp>
        <p:nvSpPr>
          <p:cNvPr id="25" name="Shape 17"/>
          <p:cNvSpPr/>
          <p:nvPr/>
        </p:nvSpPr>
        <p:spPr>
          <a:xfrm>
            <a:off x="1137791" y="4286473"/>
            <a:ext cx="3434135" cy="540618"/>
          </a:xfrm>
          <a:prstGeom prst="rect">
            <a:avLst/>
          </a:prstGeom>
          <a:solidFill>
            <a:srgbClr val="2F1D63"/>
          </a:solidFill>
          <a:ln/>
        </p:spPr>
      </p:sp>
      <p:sp>
        <p:nvSpPr>
          <p:cNvPr id="26" name="Shape 18"/>
          <p:cNvSpPr/>
          <p:nvPr/>
        </p:nvSpPr>
        <p:spPr>
          <a:xfrm>
            <a:off x="1137791" y="4286473"/>
            <a:ext cx="3434135" cy="14288"/>
          </a:xfrm>
          <a:prstGeom prst="roundRect">
            <a:avLst>
              <a:gd name="adj" fmla="val 293013"/>
            </a:avLst>
          </a:prstGeom>
          <a:solidFill>
            <a:srgbClr val="48367C"/>
          </a:solidFill>
          <a:ln/>
        </p:spPr>
      </p:sp>
      <p:sp>
        <p:nvSpPr>
          <p:cNvPr id="27" name="Text 19"/>
          <p:cNvSpPr/>
          <p:nvPr/>
        </p:nvSpPr>
        <p:spPr>
          <a:xfrm>
            <a:off x="1237431" y="4386114"/>
            <a:ext cx="130827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Auth &amp; DB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1237431" y="4591645"/>
            <a:ext cx="3234854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Clerk · MongoDB + Mongoose</a:t>
            </a:r>
            <a:endParaRPr lang="en-US" sz="750" dirty="0"/>
          </a:p>
        </p:txBody>
      </p:sp>
      <p:sp>
        <p:nvSpPr>
          <p:cNvPr id="29" name="Shape 21"/>
          <p:cNvSpPr/>
          <p:nvPr/>
        </p:nvSpPr>
        <p:spPr>
          <a:xfrm>
            <a:off x="4571926" y="4286473"/>
            <a:ext cx="3434209" cy="540618"/>
          </a:xfrm>
          <a:prstGeom prst="rect">
            <a:avLst/>
          </a:prstGeom>
          <a:solidFill>
            <a:srgbClr val="2F1D63"/>
          </a:solidFill>
          <a:ln/>
        </p:spPr>
      </p:sp>
      <p:sp>
        <p:nvSpPr>
          <p:cNvPr id="30" name="Shape 22"/>
          <p:cNvSpPr/>
          <p:nvPr/>
        </p:nvSpPr>
        <p:spPr>
          <a:xfrm>
            <a:off x="4571926" y="4286473"/>
            <a:ext cx="14288" cy="540618"/>
          </a:xfrm>
          <a:prstGeom prst="roundRect">
            <a:avLst>
              <a:gd name="adj" fmla="val 293013"/>
            </a:avLst>
          </a:prstGeom>
          <a:solidFill>
            <a:srgbClr val="48367C"/>
          </a:solidFill>
          <a:ln/>
        </p:spPr>
      </p:sp>
      <p:sp>
        <p:nvSpPr>
          <p:cNvPr id="31" name="Shape 23"/>
          <p:cNvSpPr/>
          <p:nvPr/>
        </p:nvSpPr>
        <p:spPr>
          <a:xfrm>
            <a:off x="4571926" y="4286473"/>
            <a:ext cx="3434209" cy="14288"/>
          </a:xfrm>
          <a:prstGeom prst="roundRect">
            <a:avLst>
              <a:gd name="adj" fmla="val 293013"/>
            </a:avLst>
          </a:prstGeom>
          <a:solidFill>
            <a:srgbClr val="48367C"/>
          </a:solidFill>
          <a:ln/>
        </p:spPr>
      </p:sp>
      <p:sp>
        <p:nvSpPr>
          <p:cNvPr id="32" name="Text 24"/>
          <p:cNvSpPr/>
          <p:nvPr/>
        </p:nvSpPr>
        <p:spPr>
          <a:xfrm>
            <a:off x="4671566" y="4386114"/>
            <a:ext cx="130827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&amp; Deploy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4671566" y="4591645"/>
            <a:ext cx="3234928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API · Vercel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4132" y="395064"/>
            <a:ext cx="882997" cy="232842"/>
          </a:xfrm>
          <a:prstGeom prst="roundRect">
            <a:avLst>
              <a:gd name="adj" fmla="val 17900"/>
            </a:avLst>
          </a:prstGeom>
          <a:noFill/>
          <a:ln w="4763">
            <a:solidFill>
              <a:srgbClr val="876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3308" y="437034"/>
            <a:ext cx="724644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75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4132" y="671289"/>
            <a:ext cx="3389486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CodeCraft Offers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132" y="1241078"/>
            <a:ext cx="248022" cy="2480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4132" y="1624757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Evaluation Engine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34132" y="1893391"/>
            <a:ext cx="407000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Gemini-powered real-time assessment of coding and theoretical answers with structured scoring.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9791" y="1241078"/>
            <a:ext cx="248022" cy="2480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39791" y="1624757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Dynamic Questions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639791" y="1893391"/>
            <a:ext cx="4070077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generates unique, category-specific questions tailored to difficulty and topic.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132" y="2482528"/>
            <a:ext cx="248022" cy="24802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4132" y="2866206"/>
            <a:ext cx="1898079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Coding Practice Interface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434132" y="3134841"/>
            <a:ext cx="407000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In-browser code editor with syntax highlighting and instant AI feedback on submissions.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9791" y="2482528"/>
            <a:ext cx="248022" cy="24802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39791" y="2866206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Chatbot Support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4639791" y="3134841"/>
            <a:ext cx="4070077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Conversational assistant for doubt resolution, hints, and interview guidance.</a:t>
            </a:r>
            <a:endParaRPr lang="en-US" sz="9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4132" y="3723977"/>
            <a:ext cx="248022" cy="24802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34132" y="4107656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Session History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434132" y="4376291"/>
            <a:ext cx="407000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interview session logs with retrievable past performance records.</a:t>
            </a:r>
            <a:endParaRPr lang="en-US" sz="9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9791" y="3723977"/>
            <a:ext cx="248022" cy="24802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639791" y="4107656"/>
            <a:ext cx="1692250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Responsive Dashboard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4639791" y="4376291"/>
            <a:ext cx="4070077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Analytics-rich, fully responsive UI accessible across all devices and screen sizes.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26531" y="194890"/>
            <a:ext cx="789905" cy="119955"/>
          </a:xfrm>
          <a:prstGeom prst="roundRect">
            <a:avLst>
              <a:gd name="adj" fmla="val 19855"/>
            </a:avLst>
          </a:prstGeom>
          <a:noFill/>
          <a:ln w="4763">
            <a:solidFill>
              <a:srgbClr val="876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73784" y="220861"/>
            <a:ext cx="695399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&amp; DATABASE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2126531" y="328985"/>
            <a:ext cx="306578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Application Workflow &amp; Data Model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531" y="614660"/>
            <a:ext cx="4890939" cy="21126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93633" y="2061749"/>
            <a:ext cx="726217" cy="27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Select Category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293633" y="2377132"/>
            <a:ext cx="726217" cy="15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0"/>
              </a:lnSpc>
              <a:buNone/>
            </a:pPr>
            <a:r>
              <a:rPr lang="en-US" sz="6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topic and difficulty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5158373" y="2061749"/>
            <a:ext cx="726218" cy="27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Submit Answer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158373" y="2377132"/>
            <a:ext cx="726218" cy="15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0"/>
              </a:lnSpc>
              <a:buNone/>
            </a:pPr>
            <a:r>
              <a:rPr lang="en-US" sz="6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submits response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2363578" y="805289"/>
            <a:ext cx="726218" cy="13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User Login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363578" y="981792"/>
            <a:ext cx="726218" cy="15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0"/>
              </a:lnSpc>
              <a:buNone/>
            </a:pPr>
            <a:r>
              <a:rPr lang="en-US" sz="6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Authenticate and start session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6060725" y="805289"/>
            <a:ext cx="726218" cy="13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Evaluation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060725" y="981792"/>
            <a:ext cx="726218" cy="15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0"/>
              </a:lnSpc>
              <a:buNone/>
            </a:pPr>
            <a:r>
              <a:rPr lang="en-US" sz="6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scoring and notes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4237577" y="805289"/>
            <a:ext cx="726218" cy="27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Generate Question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237577" y="1120672"/>
            <a:ext cx="726218" cy="15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0"/>
              </a:lnSpc>
              <a:buNone/>
            </a:pPr>
            <a:r>
              <a:rPr lang="en-US" sz="6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Produce prompt via AI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2126531" y="2767087"/>
            <a:ext cx="489093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end-to-end interview session flow from authentication through AI evaluation to persistent performance review.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7022232" y="1670967"/>
            <a:ext cx="1248445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Database Schema (MongoDB)</a:t>
            </a:r>
            <a:endParaRPr lang="en-US" sz="7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943" y="1903429"/>
            <a:ext cx="2096128" cy="2236160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3784" y="3374986"/>
            <a:ext cx="2371398" cy="19264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63232" y="4166369"/>
            <a:ext cx="2359000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core entities with relational mappings ensure complete traceability from user authentication through to AI-generated evaluation records.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0912" y="312167"/>
            <a:ext cx="1332458" cy="202183"/>
          </a:xfrm>
          <a:prstGeom prst="roundRect">
            <a:avLst>
              <a:gd name="adj" fmla="val 18406"/>
            </a:avLst>
          </a:prstGeom>
          <a:noFill/>
          <a:ln w="4763">
            <a:solidFill>
              <a:srgbClr val="876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127" y="350118"/>
            <a:ext cx="1190030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65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INTEGRATION &amp; TESTING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750912" y="548953"/>
            <a:ext cx="5712991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Gemini AI Integration &amp; Quality Assurance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50912" y="1128564"/>
            <a:ext cx="1528465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Integration Pipeline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0912" y="1407542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8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12" y="1581448"/>
            <a:ext cx="3685952" cy="142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0912" y="1665387"/>
            <a:ext cx="14536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Prompt Construction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50912" y="1933501"/>
            <a:ext cx="368595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Context-rich prompts built from user answer, category, and difficulty.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50912" y="2260774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8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12" y="2423592"/>
            <a:ext cx="3685952" cy="142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0912" y="2518618"/>
            <a:ext cx="14536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Gemini API Call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50912" y="2786732"/>
            <a:ext cx="368595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request dispatched to Google Gemini Pro for evaluation.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750912" y="3114005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8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12" y="3265810"/>
            <a:ext cx="3685952" cy="142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0912" y="3371850"/>
            <a:ext cx="14536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Response Parsing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750912" y="3639964"/>
            <a:ext cx="368595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output parsed into score, strengths, and improvement areas.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750912" y="3967237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8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12" y="4107954"/>
            <a:ext cx="3685952" cy="142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0912" y="4225082"/>
            <a:ext cx="14536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Feedback Delivery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750912" y="4493196"/>
            <a:ext cx="368595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Formatted, actionable feedback rendered instantly to the user.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4711750" y="1128564"/>
            <a:ext cx="14536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Testing &amp; Validation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711750" y="1451744"/>
            <a:ext cx="3685952" cy="1965424"/>
          </a:xfrm>
          <a:prstGeom prst="roundRect">
            <a:avLst>
              <a:gd name="adj" fmla="val 2367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716512" y="1456506"/>
            <a:ext cx="3676055" cy="2710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4827612" y="1468934"/>
            <a:ext cx="100139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Type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6055221" y="1468934"/>
            <a:ext cx="999009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7280449" y="1468934"/>
            <a:ext cx="100139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4716512" y="1727522"/>
            <a:ext cx="3676055" cy="27577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4827612" y="1739950"/>
            <a:ext cx="100139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Testing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6055221" y="1739950"/>
            <a:ext cx="999009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routes, utils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7280449" y="1739950"/>
            <a:ext cx="1001390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Passed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4716512" y="2003301"/>
            <a:ext cx="3676055" cy="27577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3" name="Text 27"/>
          <p:cNvSpPr/>
          <p:nvPr/>
        </p:nvSpPr>
        <p:spPr>
          <a:xfrm>
            <a:off x="4827612" y="2015728"/>
            <a:ext cx="100139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6055221" y="2015728"/>
            <a:ext cx="999009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→ DB → AI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7280449" y="2015728"/>
            <a:ext cx="1001390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Passed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4716512" y="2279079"/>
            <a:ext cx="3676055" cy="27577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7" name="Text 31"/>
          <p:cNvSpPr/>
          <p:nvPr/>
        </p:nvSpPr>
        <p:spPr>
          <a:xfrm>
            <a:off x="4827612" y="2291507"/>
            <a:ext cx="100139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</a:t>
            </a:r>
            <a:endParaRPr lang="en-US" sz="850" dirty="0"/>
          </a:p>
        </p:txBody>
      </p:sp>
      <p:sp>
        <p:nvSpPr>
          <p:cNvPr id="38" name="Text 32"/>
          <p:cNvSpPr/>
          <p:nvPr/>
        </p:nvSpPr>
        <p:spPr>
          <a:xfrm>
            <a:off x="6055221" y="2291507"/>
            <a:ext cx="999009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flows</a:t>
            </a:r>
            <a:endParaRPr lang="en-US" sz="850" dirty="0"/>
          </a:p>
        </p:txBody>
      </p:sp>
      <p:sp>
        <p:nvSpPr>
          <p:cNvPr id="39" name="Text 33"/>
          <p:cNvSpPr/>
          <p:nvPr/>
        </p:nvSpPr>
        <p:spPr>
          <a:xfrm>
            <a:off x="7280449" y="2291507"/>
            <a:ext cx="1001390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Passed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4716512" y="2554858"/>
            <a:ext cx="3676055" cy="42877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1" name="Text 35"/>
          <p:cNvSpPr/>
          <p:nvPr/>
        </p:nvSpPr>
        <p:spPr>
          <a:xfrm>
            <a:off x="4827612" y="2567285"/>
            <a:ext cx="100139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</a:t>
            </a:r>
            <a:endParaRPr lang="en-US" sz="850" dirty="0"/>
          </a:p>
        </p:txBody>
      </p:sp>
      <p:sp>
        <p:nvSpPr>
          <p:cNvPr id="42" name="Text 36"/>
          <p:cNvSpPr/>
          <p:nvPr/>
        </p:nvSpPr>
        <p:spPr>
          <a:xfrm>
            <a:off x="6055221" y="2567285"/>
            <a:ext cx="999009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Auth, input sanitisation</a:t>
            </a:r>
            <a:endParaRPr lang="en-US" sz="850" dirty="0"/>
          </a:p>
        </p:txBody>
      </p:sp>
      <p:sp>
        <p:nvSpPr>
          <p:cNvPr id="43" name="Text 37"/>
          <p:cNvSpPr/>
          <p:nvPr/>
        </p:nvSpPr>
        <p:spPr>
          <a:xfrm>
            <a:off x="7280449" y="2567285"/>
            <a:ext cx="1001390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Passed</a:t>
            </a:r>
            <a:endParaRPr lang="en-US" sz="850" dirty="0"/>
          </a:p>
        </p:txBody>
      </p:sp>
      <p:sp>
        <p:nvSpPr>
          <p:cNvPr id="44" name="Shape 38"/>
          <p:cNvSpPr/>
          <p:nvPr/>
        </p:nvSpPr>
        <p:spPr>
          <a:xfrm>
            <a:off x="4716512" y="2983632"/>
            <a:ext cx="3676055" cy="42877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5" name="Text 39"/>
          <p:cNvSpPr/>
          <p:nvPr/>
        </p:nvSpPr>
        <p:spPr>
          <a:xfrm>
            <a:off x="4827612" y="2996059"/>
            <a:ext cx="100139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UAT</a:t>
            </a:r>
            <a:endParaRPr lang="en-US" sz="850" dirty="0"/>
          </a:p>
        </p:txBody>
      </p:sp>
      <p:sp>
        <p:nvSpPr>
          <p:cNvPr id="46" name="Text 40"/>
          <p:cNvSpPr/>
          <p:nvPr/>
        </p:nvSpPr>
        <p:spPr>
          <a:xfrm>
            <a:off x="6055221" y="2996059"/>
            <a:ext cx="999009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user scenarios</a:t>
            </a:r>
            <a:endParaRPr lang="en-US" sz="850" dirty="0"/>
          </a:p>
        </p:txBody>
      </p:sp>
      <p:sp>
        <p:nvSpPr>
          <p:cNvPr id="47" name="Text 41"/>
          <p:cNvSpPr/>
          <p:nvPr/>
        </p:nvSpPr>
        <p:spPr>
          <a:xfrm>
            <a:off x="7280449" y="2996059"/>
            <a:ext cx="1001390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Passed</a:t>
            </a:r>
            <a:endParaRPr lang="en-US" sz="850" dirty="0"/>
          </a:p>
        </p:txBody>
      </p:sp>
      <p:sp>
        <p:nvSpPr>
          <p:cNvPr id="48" name="Shape 42"/>
          <p:cNvSpPr/>
          <p:nvPr/>
        </p:nvSpPr>
        <p:spPr>
          <a:xfrm>
            <a:off x="4711750" y="3514502"/>
            <a:ext cx="3685952" cy="405110"/>
          </a:xfrm>
          <a:prstGeom prst="roundRect">
            <a:avLst>
              <a:gd name="adj" fmla="val 11483"/>
            </a:avLst>
          </a:prstGeom>
          <a:solidFill>
            <a:srgbClr val="183A13"/>
          </a:solidFill>
          <a:ln/>
        </p:spPr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478" y="3675087"/>
            <a:ext cx="138410" cy="110728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5071616" y="3584451"/>
            <a:ext cx="321535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test suites completed with zero critical defects.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38721" y="262384"/>
            <a:ext cx="1007566" cy="159321"/>
          </a:xfrm>
          <a:prstGeom prst="roundRect">
            <a:avLst>
              <a:gd name="adj" fmla="val 19153"/>
            </a:avLst>
          </a:prstGeom>
          <a:noFill/>
          <a:ln w="4763">
            <a:solidFill>
              <a:srgbClr val="876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97955" y="294382"/>
            <a:ext cx="889099" cy="95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55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&amp; ADVANTAGES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438721" y="444922"/>
            <a:ext cx="4301728" cy="298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Outcomes &amp; System Advantages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438721" y="875556"/>
            <a:ext cx="3096890" cy="299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~1.2s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2391147" y="1264221"/>
            <a:ext cx="1191964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Response Time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38721" y="1448098"/>
            <a:ext cx="3096890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evaluation latency per answer submission.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608314" y="875556"/>
            <a:ext cx="3096964" cy="299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99.8%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560814" y="1264221"/>
            <a:ext cx="1191964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Auth Reliability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08314" y="1448098"/>
            <a:ext cx="3096964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 session handling via Clerk authentication.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438721" y="1728936"/>
            <a:ext cx="3096890" cy="299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100%</a:t>
            </a:r>
            <a:endParaRPr lang="en-US" sz="2350" dirty="0"/>
          </a:p>
        </p:txBody>
      </p:sp>
      <p:sp>
        <p:nvSpPr>
          <p:cNvPr id="12" name="Text 10"/>
          <p:cNvSpPr/>
          <p:nvPr/>
        </p:nvSpPr>
        <p:spPr>
          <a:xfrm>
            <a:off x="2391147" y="2117601"/>
            <a:ext cx="1191964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Objectives Met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38721" y="2301478"/>
            <a:ext cx="3096890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six project objectives successfully achieved.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608314" y="1728936"/>
            <a:ext cx="3096964" cy="299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</a:t>
            </a:r>
            <a:endParaRPr lang="en-US" sz="2350" dirty="0"/>
          </a:p>
        </p:txBody>
      </p:sp>
      <p:sp>
        <p:nvSpPr>
          <p:cNvPr id="15" name="Text 13"/>
          <p:cNvSpPr/>
          <p:nvPr/>
        </p:nvSpPr>
        <p:spPr>
          <a:xfrm>
            <a:off x="5560814" y="2117601"/>
            <a:ext cx="1191964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Test Categories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08314" y="2301478"/>
            <a:ext cx="3096964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testing across all validation layers.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438721" y="2862114"/>
            <a:ext cx="1191964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Advantages</a:t>
            </a:r>
            <a:endParaRPr lang="en-US" sz="9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196" y="3066976"/>
            <a:ext cx="19050" cy="25732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548557" y="3076501"/>
            <a:ext cx="1939454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Personalised Learning</a:t>
            </a: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Adaptive feedback tailored to individual performance patterns.</a:t>
            </a:r>
            <a:endParaRPr lang="en-US" sz="7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196" y="3421559"/>
            <a:ext cx="19050" cy="25732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548557" y="3431084"/>
            <a:ext cx="1939454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24/7 Availability</a:t>
            </a: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 dependency on human mentors; always accessible.</a:t>
            </a:r>
            <a:endParaRPr lang="en-US" sz="7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196" y="3776142"/>
            <a:ext cx="19050" cy="2573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48557" y="3785667"/>
            <a:ext cx="1939454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Effective</a:t>
            </a: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Eliminates expensive coaching and consultation fees.</a:t>
            </a:r>
            <a:endParaRPr lang="en-US" sz="7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9196" y="4130725"/>
            <a:ext cx="19050" cy="37646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48557" y="4140250"/>
            <a:ext cx="1939454" cy="357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Architecture</a:t>
            </a: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Cloud-native design supports growing user bases effortlessly.</a:t>
            </a:r>
            <a:endParaRPr lang="en-US" sz="7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4229" y="2551435"/>
            <a:ext cx="3995737" cy="22641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0912" y="364108"/>
            <a:ext cx="1519461" cy="202183"/>
          </a:xfrm>
          <a:prstGeom prst="roundRect">
            <a:avLst>
              <a:gd name="adj" fmla="val 18406"/>
            </a:avLst>
          </a:prstGeom>
          <a:noFill/>
          <a:ln w="4763">
            <a:solidFill>
              <a:srgbClr val="876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127" y="402059"/>
            <a:ext cx="1377032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65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SCOPE &amp; CONCLUSION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750912" y="600894"/>
            <a:ext cx="4088755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Roadmap &amp; Conclusion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50912" y="1180505"/>
            <a:ext cx="1473101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Enhancements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86707" y="1459483"/>
            <a:ext cx="14288" cy="3222575"/>
          </a:xfrm>
          <a:prstGeom prst="roundRect">
            <a:avLst>
              <a:gd name="adj" fmla="val 325570"/>
            </a:avLst>
          </a:prstGeom>
          <a:solidFill>
            <a:srgbClr val="48367C"/>
          </a:solidFill>
          <a:ln/>
        </p:spPr>
      </p:sp>
      <p:sp>
        <p:nvSpPr>
          <p:cNvPr id="7" name="Shape 5"/>
          <p:cNvSpPr/>
          <p:nvPr/>
        </p:nvSpPr>
        <p:spPr>
          <a:xfrm>
            <a:off x="2151311" y="1576908"/>
            <a:ext cx="332259" cy="14288"/>
          </a:xfrm>
          <a:prstGeom prst="roundRect">
            <a:avLst>
              <a:gd name="adj" fmla="val 325570"/>
            </a:avLst>
          </a:prstGeom>
          <a:solidFill>
            <a:srgbClr val="48367C"/>
          </a:solidFill>
          <a:ln/>
        </p:spPr>
      </p:sp>
      <p:sp>
        <p:nvSpPr>
          <p:cNvPr id="8" name="Shape 6"/>
          <p:cNvSpPr/>
          <p:nvPr/>
        </p:nvSpPr>
        <p:spPr>
          <a:xfrm>
            <a:off x="2469282" y="1459483"/>
            <a:ext cx="249138" cy="249138"/>
          </a:xfrm>
          <a:prstGeom prst="roundRect">
            <a:avLst>
              <a:gd name="adj" fmla="val 18671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06638" y="1475036"/>
            <a:ext cx="17442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50912" y="1497509"/>
            <a:ext cx="128922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Voice Interviews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0912" y="1765622"/>
            <a:ext cx="1289224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Speech-to-text AI evaluation for verbal mock interviews.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04133" y="2192908"/>
            <a:ext cx="332259" cy="14288"/>
          </a:xfrm>
          <a:prstGeom prst="roundRect">
            <a:avLst>
              <a:gd name="adj" fmla="val 325570"/>
            </a:avLst>
          </a:prstGeom>
          <a:solidFill>
            <a:srgbClr val="48367C"/>
          </a:solidFill>
          <a:ln/>
        </p:spPr>
      </p:sp>
      <p:sp>
        <p:nvSpPr>
          <p:cNvPr id="13" name="Shape 11"/>
          <p:cNvSpPr/>
          <p:nvPr/>
        </p:nvSpPr>
        <p:spPr>
          <a:xfrm>
            <a:off x="2469282" y="2075483"/>
            <a:ext cx="249138" cy="249138"/>
          </a:xfrm>
          <a:prstGeom prst="roundRect">
            <a:avLst>
              <a:gd name="adj" fmla="val 18671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06638" y="2091035"/>
            <a:ext cx="17442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147566" y="2113508"/>
            <a:ext cx="1289298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Video Analysis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47566" y="2381622"/>
            <a:ext cx="1289298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Behavioural and confidence assessment via webcam integration.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151311" y="2741414"/>
            <a:ext cx="332259" cy="14288"/>
          </a:xfrm>
          <a:prstGeom prst="roundRect">
            <a:avLst>
              <a:gd name="adj" fmla="val 325570"/>
            </a:avLst>
          </a:prstGeom>
          <a:solidFill>
            <a:srgbClr val="48367C"/>
          </a:solidFill>
          <a:ln/>
        </p:spPr>
      </p:sp>
      <p:sp>
        <p:nvSpPr>
          <p:cNvPr id="18" name="Shape 16"/>
          <p:cNvSpPr/>
          <p:nvPr/>
        </p:nvSpPr>
        <p:spPr>
          <a:xfrm>
            <a:off x="2469282" y="2623989"/>
            <a:ext cx="249138" cy="249138"/>
          </a:xfrm>
          <a:prstGeom prst="roundRect">
            <a:avLst>
              <a:gd name="adj" fmla="val 18671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06638" y="2639541"/>
            <a:ext cx="17442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50912" y="2662014"/>
            <a:ext cx="128922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Resume Evaluation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0912" y="2930128"/>
            <a:ext cx="1289224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resume scoring and ATS compatibility checks.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04133" y="3289920"/>
            <a:ext cx="332259" cy="14288"/>
          </a:xfrm>
          <a:prstGeom prst="roundRect">
            <a:avLst>
              <a:gd name="adj" fmla="val 325570"/>
            </a:avLst>
          </a:prstGeom>
          <a:solidFill>
            <a:srgbClr val="48367C"/>
          </a:solidFill>
          <a:ln/>
        </p:spPr>
      </p:sp>
      <p:sp>
        <p:nvSpPr>
          <p:cNvPr id="23" name="Shape 21"/>
          <p:cNvSpPr/>
          <p:nvPr/>
        </p:nvSpPr>
        <p:spPr>
          <a:xfrm>
            <a:off x="2469282" y="3172495"/>
            <a:ext cx="249138" cy="249138"/>
          </a:xfrm>
          <a:prstGeom prst="roundRect">
            <a:avLst>
              <a:gd name="adj" fmla="val 18671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06638" y="3188047"/>
            <a:ext cx="17442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147566" y="3210520"/>
            <a:ext cx="1289298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Company Patterns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47566" y="3478634"/>
            <a:ext cx="1289298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 question banks tailored to specific organisations.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151311" y="3838426"/>
            <a:ext cx="332259" cy="14288"/>
          </a:xfrm>
          <a:prstGeom prst="roundRect">
            <a:avLst>
              <a:gd name="adj" fmla="val 325570"/>
            </a:avLst>
          </a:prstGeom>
          <a:solidFill>
            <a:srgbClr val="48367C"/>
          </a:solidFill>
          <a:ln/>
        </p:spPr>
      </p:sp>
      <p:sp>
        <p:nvSpPr>
          <p:cNvPr id="28" name="Shape 26"/>
          <p:cNvSpPr/>
          <p:nvPr/>
        </p:nvSpPr>
        <p:spPr>
          <a:xfrm>
            <a:off x="2469282" y="3721001"/>
            <a:ext cx="249138" cy="249138"/>
          </a:xfrm>
          <a:prstGeom prst="roundRect">
            <a:avLst>
              <a:gd name="adj" fmla="val 18671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06638" y="3736553"/>
            <a:ext cx="17442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50912" y="3759026"/>
            <a:ext cx="1289224" cy="363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Coding Interviewer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50912" y="4208785"/>
            <a:ext cx="1289224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problem-solving sessions with adaptive difficulty.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32052" y="1094036"/>
            <a:ext cx="3845347" cy="3685356"/>
          </a:xfrm>
          <a:prstGeom prst="roundRect">
            <a:avLst>
              <a:gd name="adj" fmla="val 2164"/>
            </a:avLst>
          </a:prstGeom>
          <a:solidFill>
            <a:srgbClr val="876CD4">
              <a:alpha val="9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742780" y="1180505"/>
            <a:ext cx="14536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42780" y="1448619"/>
            <a:ext cx="3623890" cy="946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CodeCraft successfully delivers a fully functional, AI-driven interview preparation platform meeting all project objectives. The system demonstrates a scalable, secure architecture with real-time intelligent evaluation, personalised feedback, and a modern user experience — positioning it as a future-ready solution for technical interview readiness.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42780" y="2520181"/>
            <a:ext cx="3623890" cy="826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742780" y="2653457"/>
            <a:ext cx="362389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We welcome your questions and feedback.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42780" y="2889052"/>
            <a:ext cx="3623890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Divyam Raj · Divakar Verma · Divyanshu Mishra | Guided by Ms. Annu Yadav | KIET Group of Institutions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884</Words>
  <Application>Microsoft Office PowerPoint</Application>
  <PresentationFormat>On-screen Show (16:9)</PresentationFormat>
  <Paragraphs>185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Inter</vt:lpstr>
      <vt:lpstr>Petrona Bold</vt:lpstr>
      <vt:lpstr>Arial</vt:lpstr>
      <vt:lpstr>Petrona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Abhimanyu Singh</cp:lastModifiedBy>
  <cp:revision>2</cp:revision>
  <dcterms:created xsi:type="dcterms:W3CDTF">2026-05-11T19:29:46Z</dcterms:created>
  <dcterms:modified xsi:type="dcterms:W3CDTF">2026-05-11T19:36:06Z</dcterms:modified>
</cp:coreProperties>
</file>