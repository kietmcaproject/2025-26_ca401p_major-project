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66" r:id="rId3"/>
    <p:sldId id="257" r:id="rId4"/>
    <p:sldId id="258" r:id="rId5"/>
    <p:sldId id="259" r:id="rId6"/>
    <p:sldId id="260" r:id="rId7"/>
    <p:sldId id="261" r:id="rId8"/>
    <p:sldId id="262" r:id="rId9"/>
    <p:sldId id="263" r:id="rId10"/>
    <p:sldId id="264" r:id="rId11"/>
    <p:sldId id="265" r:id="rId12"/>
  </p:sldIdLst>
  <p:sldSz cx="14630400" cy="8229600"/>
  <p:notesSz cx="8229600" cy="14630400"/>
  <p:embeddedFontLst>
    <p:embeddedFont>
      <p:font typeface="Source Serif 4" panose="020B0604020202020204" charset="0"/>
      <p:regular r:id="rId14"/>
    </p:embeddedFont>
    <p:embeddedFont>
      <p:font typeface="Platypi Medium" panose="020B0604020202020204" charset="0"/>
      <p:regular r:id="rId15"/>
    </p:embeddedFont>
    <p:embeddedFont>
      <p:font typeface="Calibri" panose="020F0502020204030204" pitchFamily="34" charset="0"/>
      <p:regular r:id="rId16"/>
      <p:bold r:id="rId17"/>
      <p:italic r:id="rId18"/>
      <p:boldItalic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8" d="100"/>
          <a:sy n="58" d="100"/>
        </p:scale>
        <p:origin x="52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6686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7601555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png"/><Relationship Id="rId7" Type="http://schemas.openxmlformats.org/officeDocument/2006/relationships/image" Target="../media/image-4-6.svg"/><Relationship Id="rId12" Type="http://schemas.openxmlformats.org/officeDocument/2006/relationships/image" Target="../media/image-4-12.sv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4-4.svg"/><Relationship Id="rId5" Type="http://schemas.openxmlformats.org/officeDocument/2006/relationships/image" Target="../media/image6.png"/><Relationship Id="rId10" Type="http://schemas.openxmlformats.org/officeDocument/2006/relationships/image" Target="../media/image-4-10.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5-6.svg"/><Relationship Id="rId5" Type="http://schemas.openxmlformats.org/officeDocument/2006/relationships/image" Target="../media/image-5-4.svg"/><Relationship Id="rId10" Type="http://schemas.openxmlformats.org/officeDocument/2006/relationships/image" Target="../media/image-5-10.svg"/><Relationship Id="rId4" Type="http://schemas.openxmlformats.org/officeDocument/2006/relationships/image" Target="../media/image-5-2.sv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8-7.sv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8-5.svg"/><Relationship Id="rId5" Type="http://schemas.openxmlformats.org/officeDocument/2006/relationships/image" Target="../media/image-8-3.svg"/><Relationship Id="rId4" Type="http://schemas.openxmlformats.org/officeDocument/2006/relationships/image" Target="../media/image6.png"/><Relationship Id="rId9" Type="http://schemas.openxmlformats.org/officeDocument/2006/relationships/image" Target="../media/image-8-9.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7" name="Picture 6" descr="A close-up of a logo&#10;&#10;AI-generated content may be incorrect.">
            <a:extLst>
              <a:ext uri="{FF2B5EF4-FFF2-40B4-BE49-F238E27FC236}">
                <a16:creationId xmlns:a16="http://schemas.microsoft.com/office/drawing/2014/main" xmlns="" id="{48DC02B4-1A9E-669F-DEA5-5FBC82F838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405" y="428524"/>
            <a:ext cx="5066868" cy="1807193"/>
          </a:xfrm>
          <a:prstGeom prst="rect">
            <a:avLst/>
          </a:prstGeom>
        </p:spPr>
      </p:pic>
      <p:sp>
        <p:nvSpPr>
          <p:cNvPr id="8" name="Rectangle 7"/>
          <p:cNvSpPr/>
          <p:nvPr/>
        </p:nvSpPr>
        <p:spPr>
          <a:xfrm>
            <a:off x="264405" y="538693"/>
            <a:ext cx="14123623" cy="6987041"/>
          </a:xfrm>
          <a:prstGeom prst="rect">
            <a:avLst/>
          </a:prstGeom>
        </p:spPr>
        <p:txBody>
          <a:bodyPr wrap="square">
            <a:spAutoFit/>
          </a:bodyPr>
          <a:lstStyle/>
          <a:p>
            <a:pPr algn="ctr">
              <a:lnSpc>
                <a:spcPct val="115000"/>
              </a:lnSpc>
              <a:spcAft>
                <a:spcPts val="1000"/>
              </a:spcAft>
              <a:buNone/>
            </a:pPr>
            <a:r>
              <a:rPr lang="en-IN" sz="2000" b="1" dirty="0"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SYNOPSIS Presentation </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b="1" dirty="0"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on</a:t>
            </a:r>
            <a:endParaRPr lang="en-IN"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1000"/>
              </a:spcAft>
              <a:buNone/>
            </a:pPr>
            <a:r>
              <a:rPr lang="en-IN" sz="2400" b="1" dirty="0" err="1" smtClean="0">
                <a:solidFill>
                  <a:srgbClr val="1F497D"/>
                </a:solidFill>
                <a:latin typeface="Times New Roman" panose="02020603050405020304" pitchFamily="18" charset="0"/>
                <a:ea typeface="Calibri" panose="020F0502020204030204" pitchFamily="34" charset="0"/>
                <a:cs typeface="Times New Roman" panose="02020603050405020304" pitchFamily="18" charset="0"/>
              </a:rPr>
              <a:t>HomeEase</a:t>
            </a:r>
            <a:endParaRPr lang="en-IN" sz="2400" b="1" dirty="0">
              <a:solidFill>
                <a:srgbClr val="1F497D"/>
              </a:solidFill>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1000"/>
              </a:spcAft>
              <a:buNone/>
            </a:pPr>
            <a:r>
              <a:rPr lang="en-IN" sz="2000" b="1" dirty="0"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by</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dirty="0"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Ankit Kumar </a:t>
            </a:r>
            <a:r>
              <a:rPr lang="en-IN" sz="2000" dirty="0" err="1"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Shahi</a:t>
            </a:r>
            <a:r>
              <a:rPr lang="en-IN" sz="2000" dirty="0" smtClean="0">
                <a:solidFill>
                  <a:srgbClr val="1F497D"/>
                </a:solidFill>
                <a:latin typeface="Times New Roman" panose="02020603050405020304" pitchFamily="18" charset="0"/>
                <a:ea typeface="Calibri" panose="020F0502020204030204" pitchFamily="34" charset="0"/>
                <a:cs typeface="Times New Roman" panose="02020603050405020304" pitchFamily="18" charset="0"/>
              </a:rPr>
              <a:t> 202410116100028</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dirty="0"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Ankit </a:t>
            </a:r>
            <a:r>
              <a:rPr lang="en-IN" sz="2000" dirty="0" err="1"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Sisodia</a:t>
            </a:r>
            <a:r>
              <a:rPr lang="en-IN" sz="2000" dirty="0" smtClean="0">
                <a:solidFill>
                  <a:srgbClr val="1F497D"/>
                </a:solidFill>
                <a:latin typeface="Times New Roman" panose="02020603050405020304" pitchFamily="18" charset="0"/>
                <a:ea typeface="Calibri" panose="020F0502020204030204" pitchFamily="34" charset="0"/>
                <a:cs typeface="Times New Roman" panose="02020603050405020304" pitchFamily="18" charset="0"/>
              </a:rPr>
              <a:t> 202410116100029</a:t>
            </a:r>
            <a:endParaRPr lang="en-IN" sz="2000" dirty="0"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dirty="0" err="1" smtClean="0">
                <a:solidFill>
                  <a:srgbClr val="1F497D"/>
                </a:solidFill>
                <a:latin typeface="Times New Roman" panose="02020603050405020304" pitchFamily="18" charset="0"/>
                <a:ea typeface="Calibri" panose="020F0502020204030204" pitchFamily="34" charset="0"/>
                <a:cs typeface="Times New Roman" panose="02020603050405020304" pitchFamily="18" charset="0"/>
              </a:rPr>
              <a:t>Ansh</a:t>
            </a:r>
            <a:r>
              <a:rPr lang="en-IN" sz="2000" dirty="0" smtClean="0">
                <a:solidFill>
                  <a:srgbClr val="1F497D"/>
                </a:solidFill>
                <a:latin typeface="Times New Roman" panose="02020603050405020304" pitchFamily="18" charset="0"/>
                <a:ea typeface="Calibri" panose="020F0502020204030204" pitchFamily="34" charset="0"/>
                <a:cs typeface="Times New Roman" panose="02020603050405020304" pitchFamily="18" charset="0"/>
              </a:rPr>
              <a:t> Mishra 202410116100030</a:t>
            </a:r>
          </a:p>
          <a:p>
            <a:pPr algn="ctr">
              <a:lnSpc>
                <a:spcPct val="115000"/>
              </a:lnSpc>
              <a:spcAft>
                <a:spcPts val="1000"/>
              </a:spcAft>
              <a:buNone/>
            </a:pPr>
            <a:r>
              <a:rPr lang="en-IN" sz="2000" dirty="0" err="1"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Ambikeshwar</a:t>
            </a:r>
            <a:r>
              <a:rPr lang="en-IN" sz="2000" dirty="0"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Dutt</a:t>
            </a:r>
            <a:r>
              <a:rPr lang="en-IN" sz="2000" dirty="0"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err="1"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Dwivedi</a:t>
            </a:r>
            <a:r>
              <a:rPr lang="en-IN" sz="2000" dirty="0"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 202410116100022</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b="1" dirty="0"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Session:2025-2026 (4</a:t>
            </a:r>
            <a:r>
              <a:rPr lang="en-IN" sz="2000" b="1" baseline="30000" dirty="0"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th</a:t>
            </a:r>
            <a:r>
              <a:rPr lang="en-IN" sz="2000" b="1" dirty="0"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 Semester)</a:t>
            </a:r>
            <a:endParaRPr lang="en-IN" sz="2000" dirty="0"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dirty="0"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dirty="0"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Under the supervision of </a:t>
            </a:r>
            <a:endParaRPr lang="en-IN" sz="20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b="1" dirty="0"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Ms. </a:t>
            </a:r>
            <a:r>
              <a:rPr lang="en-IN" sz="2000" b="1"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Riya </a:t>
            </a:r>
            <a:r>
              <a:rPr lang="en-IN" sz="2000" b="1" dirty="0"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Rai</a:t>
            </a:r>
          </a:p>
          <a:p>
            <a:pPr algn="ctr">
              <a:lnSpc>
                <a:spcPct val="115000"/>
              </a:lnSpc>
              <a:spcAft>
                <a:spcPts val="1000"/>
              </a:spcAft>
              <a:buNone/>
            </a:pPr>
            <a:r>
              <a:rPr lang="en-IN" sz="2000" b="1" dirty="0" smtClean="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Department Of Computer Applications</a:t>
            </a:r>
          </a:p>
          <a:p>
            <a:pPr algn="ctr">
              <a:lnSpc>
                <a:spcPct val="115000"/>
              </a:lnSpc>
              <a:spcAft>
                <a:spcPts val="1000"/>
              </a:spcAft>
            </a:pPr>
            <a:r>
              <a:rPr lang="en-IN" sz="2000" b="1" dirty="0" smtClean="0">
                <a:solidFill>
                  <a:srgbClr val="1F497D"/>
                </a:solidFill>
                <a:latin typeface="Times New Roman" panose="02020603050405020304" pitchFamily="18" charset="0"/>
                <a:cs typeface="Times New Roman" panose="02020603050405020304" pitchFamily="18" charset="0"/>
              </a:rPr>
              <a:t>KIET GROUP OF INSTITUTIONS, DELHI-NCR, GHAZIABAD-201206</a:t>
            </a:r>
            <a:endParaRPr lang="en-IN" sz="2000" b="1" dirty="0">
              <a:solidFill>
                <a:srgbClr val="1F497D"/>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086922"/>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Project Overview: HomeEase</a:t>
            </a:r>
            <a:endParaRPr lang="en-US" sz="4450" dirty="0"/>
          </a:p>
        </p:txBody>
      </p:sp>
      <p:sp>
        <p:nvSpPr>
          <p:cNvPr id="4" name="Text 1"/>
          <p:cNvSpPr/>
          <p:nvPr/>
        </p:nvSpPr>
        <p:spPr>
          <a:xfrm>
            <a:off x="793790" y="2844641"/>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HomeEase is an intuitive web-based platform designed to seamlessly connect customers with local, professional home service providers. From plumbing to electrical work, cleaning to technical assistance, HomeEase simplifies the process of finding and booking reliable help right from your device.</a:t>
            </a:r>
            <a:endParaRPr lang="en-US" sz="1750" dirty="0"/>
          </a:p>
        </p:txBody>
      </p:sp>
      <p:sp>
        <p:nvSpPr>
          <p:cNvPr id="5" name="Text 2"/>
          <p:cNvSpPr/>
          <p:nvPr/>
        </p:nvSpPr>
        <p:spPr>
          <a:xfrm>
            <a:off x="793790" y="4914305"/>
            <a:ext cx="7556421" cy="12472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Online service booking for ultimate convenience</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Streamlined provider registration and vetting</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Centralized management for administrators</a:t>
            </a:r>
            <a:endParaRPr lang="en-US" sz="1750" dirty="0"/>
          </a:p>
        </p:txBody>
      </p:sp>
      <p:sp>
        <p:nvSpPr>
          <p:cNvPr id="6" name="Text 3"/>
          <p:cNvSpPr/>
          <p:nvPr/>
        </p:nvSpPr>
        <p:spPr>
          <a:xfrm>
            <a:off x="793790" y="6416754"/>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Our goal is to redefine customer satisfaction in the home services sector by making booking effortless and reliable.</a:t>
            </a:r>
            <a:endParaRPr lang="en-US" sz="1750" dirty="0"/>
          </a:p>
        </p:txBody>
      </p:sp>
    </p:spTree>
    <p:extLst>
      <p:ext uri="{BB962C8B-B14F-4D97-AF65-F5344CB8AC3E}">
        <p14:creationId xmlns:p14="http://schemas.microsoft.com/office/powerpoint/2010/main" val="2431049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2" name="Text 0"/>
          <p:cNvSpPr/>
          <p:nvPr/>
        </p:nvSpPr>
        <p:spPr>
          <a:xfrm>
            <a:off x="748308" y="1280398"/>
            <a:ext cx="12992933" cy="594836"/>
          </a:xfrm>
          <a:prstGeom prst="rect">
            <a:avLst/>
          </a:prstGeom>
          <a:noFill/>
          <a:ln/>
        </p:spPr>
        <p:txBody>
          <a:bodyPr wrap="none" lIns="0" tIns="0" rIns="0" bIns="0" rtlCol="0" anchor="t"/>
          <a:lstStyle/>
          <a:p>
            <a:pPr marL="0" indent="0" algn="l">
              <a:lnSpc>
                <a:spcPts val="4650"/>
              </a:lnSpc>
              <a:buNone/>
            </a:pPr>
            <a:r>
              <a:rPr lang="en-US" sz="3700" dirty="0">
                <a:solidFill>
                  <a:srgbClr val="201B18"/>
                </a:solidFill>
                <a:latin typeface="Platypi Medium" pitchFamily="34" charset="0"/>
                <a:ea typeface="Platypi Medium" pitchFamily="34" charset="-122"/>
                <a:cs typeface="Platypi Medium" pitchFamily="34" charset="-120"/>
              </a:rPr>
              <a:t>Project Objectives: Enhancing Home Service Experience</a:t>
            </a:r>
            <a:endParaRPr lang="en-US" sz="3700" dirty="0"/>
          </a:p>
        </p:txBody>
      </p:sp>
      <p:sp>
        <p:nvSpPr>
          <p:cNvPr id="3" name="Text 1"/>
          <p:cNvSpPr/>
          <p:nvPr/>
        </p:nvSpPr>
        <p:spPr>
          <a:xfrm>
            <a:off x="748308" y="2194679"/>
            <a:ext cx="13133784" cy="560070"/>
          </a:xfrm>
          <a:prstGeom prst="rect">
            <a:avLst/>
          </a:prstGeom>
          <a:noFill/>
          <a:ln/>
        </p:spPr>
        <p:txBody>
          <a:bodyPr wrap="square" lIns="0" tIns="0" rIns="0" bIns="0" rtlCol="0" anchor="t"/>
          <a:lstStyle/>
          <a:p>
            <a:pPr marL="0" indent="0" algn="l">
              <a:lnSpc>
                <a:spcPts val="2200"/>
              </a:lnSpc>
              <a:buNone/>
            </a:pPr>
            <a:r>
              <a:rPr lang="en-US" sz="1450" dirty="0">
                <a:solidFill>
                  <a:srgbClr val="504C49"/>
                </a:solidFill>
                <a:latin typeface="Source Serif 4" pitchFamily="34" charset="0"/>
                <a:ea typeface="Source Serif 4" pitchFamily="34" charset="-122"/>
                <a:cs typeface="Source Serif 4" pitchFamily="34" charset="-120"/>
              </a:rPr>
              <a:t>The core mission of HomeEase is to revolutionize how home services are accessed and managed. Our key objectives focus on creating a superior, user-centric platform that addresses common pain points in the industry.</a:t>
            </a:r>
            <a:endParaRPr lang="en-US" sz="1450" dirty="0"/>
          </a:p>
        </p:txBody>
      </p:sp>
      <p:sp>
        <p:nvSpPr>
          <p:cNvPr id="4" name="Shape 2"/>
          <p:cNvSpPr/>
          <p:nvPr/>
        </p:nvSpPr>
        <p:spPr>
          <a:xfrm>
            <a:off x="748308" y="3219926"/>
            <a:ext cx="4271486" cy="1641991"/>
          </a:xfrm>
          <a:prstGeom prst="roundRect">
            <a:avLst>
              <a:gd name="adj" fmla="val 6683"/>
            </a:avLst>
          </a:prstGeom>
          <a:solidFill>
            <a:srgbClr val="FFFFFF"/>
          </a:solidFill>
          <a:ln/>
        </p:spPr>
      </p:sp>
      <p:sp>
        <p:nvSpPr>
          <p:cNvPr id="5" name="Shape 3"/>
          <p:cNvSpPr/>
          <p:nvPr/>
        </p:nvSpPr>
        <p:spPr>
          <a:xfrm>
            <a:off x="748308" y="3197066"/>
            <a:ext cx="4271486" cy="91440"/>
          </a:xfrm>
          <a:prstGeom prst="roundRect">
            <a:avLst>
              <a:gd name="adj" fmla="val 31225"/>
            </a:avLst>
          </a:prstGeom>
          <a:solidFill>
            <a:srgbClr val="3E2513"/>
          </a:solidFill>
          <a:ln/>
        </p:spPr>
      </p:sp>
      <p:sp>
        <p:nvSpPr>
          <p:cNvPr id="6" name="Shape 4"/>
          <p:cNvSpPr/>
          <p:nvPr/>
        </p:nvSpPr>
        <p:spPr>
          <a:xfrm>
            <a:off x="2598539" y="2934414"/>
            <a:ext cx="571024" cy="571024"/>
          </a:xfrm>
          <a:prstGeom prst="roundRect">
            <a:avLst>
              <a:gd name="adj" fmla="val 160133"/>
            </a:avLst>
          </a:prstGeom>
          <a:solidFill>
            <a:srgbClr val="3E2513"/>
          </a:solidFill>
          <a:ln/>
        </p:spPr>
      </p:sp>
      <p:sp>
        <p:nvSpPr>
          <p:cNvPr id="7" name="Text 5"/>
          <p:cNvSpPr/>
          <p:nvPr/>
        </p:nvSpPr>
        <p:spPr>
          <a:xfrm>
            <a:off x="2769870" y="3077170"/>
            <a:ext cx="228362" cy="285512"/>
          </a:xfrm>
          <a:prstGeom prst="rect">
            <a:avLst/>
          </a:prstGeom>
          <a:noFill/>
          <a:ln/>
        </p:spPr>
        <p:txBody>
          <a:bodyPr wrap="none" lIns="0" tIns="0" rIns="0" bIns="0" rtlCol="0" anchor="t"/>
          <a:lstStyle/>
          <a:p>
            <a:pPr marL="0" indent="0" algn="l">
              <a:lnSpc>
                <a:spcPts val="2600"/>
              </a:lnSpc>
              <a:buNone/>
            </a:pPr>
            <a:r>
              <a:rPr lang="en-US" sz="1750" dirty="0">
                <a:solidFill>
                  <a:srgbClr val="FFFFFF"/>
                </a:solidFill>
                <a:latin typeface="Platypi Medium" pitchFamily="34" charset="0"/>
                <a:ea typeface="Platypi Medium" pitchFamily="34" charset="-122"/>
                <a:cs typeface="Platypi Medium" pitchFamily="34" charset="-120"/>
              </a:rPr>
              <a:t>1</a:t>
            </a:r>
            <a:endParaRPr lang="en-US" sz="1750" dirty="0"/>
          </a:p>
        </p:txBody>
      </p:sp>
      <p:sp>
        <p:nvSpPr>
          <p:cNvPr id="8" name="Text 6"/>
          <p:cNvSpPr/>
          <p:nvPr/>
        </p:nvSpPr>
        <p:spPr>
          <a:xfrm>
            <a:off x="961430" y="3695700"/>
            <a:ext cx="3020020" cy="297299"/>
          </a:xfrm>
          <a:prstGeom prst="rect">
            <a:avLst/>
          </a:prstGeom>
          <a:noFill/>
          <a:ln/>
        </p:spPr>
        <p:txBody>
          <a:bodyPr wrap="none" lIns="0" tIns="0" rIns="0" bIns="0" rtlCol="0" anchor="t"/>
          <a:lstStyle/>
          <a:p>
            <a:pPr marL="0" indent="0" algn="l">
              <a:lnSpc>
                <a:spcPts val="2300"/>
              </a:lnSpc>
              <a:buNone/>
            </a:pPr>
            <a:r>
              <a:rPr lang="en-US" sz="1850" dirty="0">
                <a:solidFill>
                  <a:srgbClr val="504C49"/>
                </a:solidFill>
                <a:latin typeface="Platypi Medium" pitchFamily="34" charset="0"/>
                <a:ea typeface="Platypi Medium" pitchFamily="34" charset="-122"/>
                <a:cs typeface="Platypi Medium" pitchFamily="34" charset="-120"/>
              </a:rPr>
              <a:t>Effortless Online Booking</a:t>
            </a:r>
            <a:endParaRPr lang="en-US" sz="1850" dirty="0"/>
          </a:p>
        </p:txBody>
      </p:sp>
      <p:sp>
        <p:nvSpPr>
          <p:cNvPr id="9" name="Text 7"/>
          <p:cNvSpPr/>
          <p:nvPr/>
        </p:nvSpPr>
        <p:spPr>
          <a:xfrm>
            <a:off x="961430" y="4088725"/>
            <a:ext cx="3845243" cy="560070"/>
          </a:xfrm>
          <a:prstGeom prst="rect">
            <a:avLst/>
          </a:prstGeom>
          <a:noFill/>
          <a:ln/>
        </p:spPr>
        <p:txBody>
          <a:bodyPr wrap="square" lIns="0" tIns="0" rIns="0" bIns="0" rtlCol="0" anchor="t"/>
          <a:lstStyle/>
          <a:p>
            <a:pPr marL="0" indent="0" algn="l">
              <a:lnSpc>
                <a:spcPts val="2200"/>
              </a:lnSpc>
              <a:buNone/>
            </a:pPr>
            <a:r>
              <a:rPr lang="en-US" sz="1450" dirty="0">
                <a:solidFill>
                  <a:srgbClr val="504C49"/>
                </a:solidFill>
                <a:latin typeface="Source Serif 4" pitchFamily="34" charset="0"/>
                <a:ea typeface="Source Serif 4" pitchFamily="34" charset="-122"/>
                <a:cs typeface="Source Serif 4" pitchFamily="34" charset="-120"/>
              </a:rPr>
              <a:t>Provide a simple and intuitive system for customers to book services.</a:t>
            </a:r>
            <a:endParaRPr lang="en-US" sz="1450" dirty="0"/>
          </a:p>
        </p:txBody>
      </p:sp>
      <p:sp>
        <p:nvSpPr>
          <p:cNvPr id="10" name="Shape 8"/>
          <p:cNvSpPr/>
          <p:nvPr/>
        </p:nvSpPr>
        <p:spPr>
          <a:xfrm>
            <a:off x="5179457" y="3219926"/>
            <a:ext cx="4271486" cy="1641991"/>
          </a:xfrm>
          <a:prstGeom prst="roundRect">
            <a:avLst>
              <a:gd name="adj" fmla="val 6683"/>
            </a:avLst>
          </a:prstGeom>
          <a:solidFill>
            <a:srgbClr val="FFFFFF"/>
          </a:solidFill>
          <a:ln/>
        </p:spPr>
      </p:sp>
      <p:sp>
        <p:nvSpPr>
          <p:cNvPr id="11" name="Shape 9"/>
          <p:cNvSpPr/>
          <p:nvPr/>
        </p:nvSpPr>
        <p:spPr>
          <a:xfrm>
            <a:off x="5179457" y="3197066"/>
            <a:ext cx="4271486" cy="91440"/>
          </a:xfrm>
          <a:prstGeom prst="roundRect">
            <a:avLst>
              <a:gd name="adj" fmla="val 31225"/>
            </a:avLst>
          </a:prstGeom>
          <a:solidFill>
            <a:srgbClr val="3E2513"/>
          </a:solidFill>
          <a:ln/>
        </p:spPr>
      </p:sp>
      <p:sp>
        <p:nvSpPr>
          <p:cNvPr id="12" name="Shape 10"/>
          <p:cNvSpPr/>
          <p:nvPr/>
        </p:nvSpPr>
        <p:spPr>
          <a:xfrm>
            <a:off x="7029688" y="2934414"/>
            <a:ext cx="571024" cy="571024"/>
          </a:xfrm>
          <a:prstGeom prst="roundRect">
            <a:avLst>
              <a:gd name="adj" fmla="val 160133"/>
            </a:avLst>
          </a:prstGeom>
          <a:solidFill>
            <a:srgbClr val="3E2513"/>
          </a:solidFill>
          <a:ln/>
        </p:spPr>
      </p:sp>
      <p:sp>
        <p:nvSpPr>
          <p:cNvPr id="13" name="Text 11"/>
          <p:cNvSpPr/>
          <p:nvPr/>
        </p:nvSpPr>
        <p:spPr>
          <a:xfrm>
            <a:off x="7201019" y="3077170"/>
            <a:ext cx="228362" cy="285512"/>
          </a:xfrm>
          <a:prstGeom prst="rect">
            <a:avLst/>
          </a:prstGeom>
          <a:noFill/>
          <a:ln/>
        </p:spPr>
        <p:txBody>
          <a:bodyPr wrap="none" lIns="0" tIns="0" rIns="0" bIns="0" rtlCol="0" anchor="t"/>
          <a:lstStyle/>
          <a:p>
            <a:pPr marL="0" indent="0" algn="l">
              <a:lnSpc>
                <a:spcPts val="2600"/>
              </a:lnSpc>
              <a:buNone/>
            </a:pPr>
            <a:r>
              <a:rPr lang="en-US" sz="1750" dirty="0">
                <a:solidFill>
                  <a:srgbClr val="FFFFFF"/>
                </a:solidFill>
                <a:latin typeface="Platypi Medium" pitchFamily="34" charset="0"/>
                <a:ea typeface="Platypi Medium" pitchFamily="34" charset="-122"/>
                <a:cs typeface="Platypi Medium" pitchFamily="34" charset="-120"/>
              </a:rPr>
              <a:t>2</a:t>
            </a:r>
            <a:endParaRPr lang="en-US" sz="1750" dirty="0"/>
          </a:p>
        </p:txBody>
      </p:sp>
      <p:sp>
        <p:nvSpPr>
          <p:cNvPr id="14" name="Text 12"/>
          <p:cNvSpPr/>
          <p:nvPr/>
        </p:nvSpPr>
        <p:spPr>
          <a:xfrm>
            <a:off x="5392579" y="3695700"/>
            <a:ext cx="3029783" cy="297299"/>
          </a:xfrm>
          <a:prstGeom prst="rect">
            <a:avLst/>
          </a:prstGeom>
          <a:noFill/>
          <a:ln/>
        </p:spPr>
        <p:txBody>
          <a:bodyPr wrap="none" lIns="0" tIns="0" rIns="0" bIns="0" rtlCol="0" anchor="t"/>
          <a:lstStyle/>
          <a:p>
            <a:pPr marL="0" indent="0" algn="l">
              <a:lnSpc>
                <a:spcPts val="2300"/>
              </a:lnSpc>
              <a:buNone/>
            </a:pPr>
            <a:r>
              <a:rPr lang="en-US" sz="1850" dirty="0">
                <a:solidFill>
                  <a:srgbClr val="504C49"/>
                </a:solidFill>
                <a:latin typeface="Platypi Medium" pitchFamily="34" charset="0"/>
                <a:ea typeface="Platypi Medium" pitchFamily="34" charset="-122"/>
                <a:cs typeface="Platypi Medium" pitchFamily="34" charset="-120"/>
              </a:rPr>
              <a:t>Verified Provider Network</a:t>
            </a:r>
            <a:endParaRPr lang="en-US" sz="1850" dirty="0"/>
          </a:p>
        </p:txBody>
      </p:sp>
      <p:sp>
        <p:nvSpPr>
          <p:cNvPr id="15" name="Text 13"/>
          <p:cNvSpPr/>
          <p:nvPr/>
        </p:nvSpPr>
        <p:spPr>
          <a:xfrm>
            <a:off x="5392579" y="4088725"/>
            <a:ext cx="3845243" cy="560070"/>
          </a:xfrm>
          <a:prstGeom prst="rect">
            <a:avLst/>
          </a:prstGeom>
          <a:noFill/>
          <a:ln/>
        </p:spPr>
        <p:txBody>
          <a:bodyPr wrap="square" lIns="0" tIns="0" rIns="0" bIns="0" rtlCol="0" anchor="t"/>
          <a:lstStyle/>
          <a:p>
            <a:pPr marL="0" indent="0" algn="l">
              <a:lnSpc>
                <a:spcPts val="2200"/>
              </a:lnSpc>
              <a:buNone/>
            </a:pPr>
            <a:r>
              <a:rPr lang="en-US" sz="1450" dirty="0">
                <a:solidFill>
                  <a:srgbClr val="504C49"/>
                </a:solidFill>
                <a:latin typeface="Source Serif 4" pitchFamily="34" charset="0"/>
                <a:ea typeface="Source Serif 4" pitchFamily="34" charset="-122"/>
                <a:cs typeface="Source Serif 4" pitchFamily="34" charset="-120"/>
              </a:rPr>
              <a:t>Connect customers with rigorously vetted and highly-rated service professionals.</a:t>
            </a:r>
            <a:endParaRPr lang="en-US" sz="1450" dirty="0"/>
          </a:p>
        </p:txBody>
      </p:sp>
      <p:sp>
        <p:nvSpPr>
          <p:cNvPr id="16" name="Shape 14"/>
          <p:cNvSpPr/>
          <p:nvPr/>
        </p:nvSpPr>
        <p:spPr>
          <a:xfrm>
            <a:off x="9610606" y="3219926"/>
            <a:ext cx="4271486" cy="1641991"/>
          </a:xfrm>
          <a:prstGeom prst="roundRect">
            <a:avLst>
              <a:gd name="adj" fmla="val 6683"/>
            </a:avLst>
          </a:prstGeom>
          <a:solidFill>
            <a:srgbClr val="FFFFFF"/>
          </a:solidFill>
          <a:ln/>
        </p:spPr>
      </p:sp>
      <p:sp>
        <p:nvSpPr>
          <p:cNvPr id="17" name="Shape 15"/>
          <p:cNvSpPr/>
          <p:nvPr/>
        </p:nvSpPr>
        <p:spPr>
          <a:xfrm>
            <a:off x="9610606" y="3197066"/>
            <a:ext cx="4271486" cy="91440"/>
          </a:xfrm>
          <a:prstGeom prst="roundRect">
            <a:avLst>
              <a:gd name="adj" fmla="val 31225"/>
            </a:avLst>
          </a:prstGeom>
          <a:solidFill>
            <a:srgbClr val="3E2513"/>
          </a:solidFill>
          <a:ln/>
        </p:spPr>
      </p:sp>
      <p:sp>
        <p:nvSpPr>
          <p:cNvPr id="18" name="Shape 16"/>
          <p:cNvSpPr/>
          <p:nvPr/>
        </p:nvSpPr>
        <p:spPr>
          <a:xfrm>
            <a:off x="11460837" y="2934414"/>
            <a:ext cx="571024" cy="571024"/>
          </a:xfrm>
          <a:prstGeom prst="roundRect">
            <a:avLst>
              <a:gd name="adj" fmla="val 160133"/>
            </a:avLst>
          </a:prstGeom>
          <a:solidFill>
            <a:srgbClr val="3E2513"/>
          </a:solidFill>
          <a:ln/>
        </p:spPr>
      </p:sp>
      <p:sp>
        <p:nvSpPr>
          <p:cNvPr id="19" name="Text 17"/>
          <p:cNvSpPr/>
          <p:nvPr/>
        </p:nvSpPr>
        <p:spPr>
          <a:xfrm>
            <a:off x="11632168" y="3077170"/>
            <a:ext cx="228362" cy="285512"/>
          </a:xfrm>
          <a:prstGeom prst="rect">
            <a:avLst/>
          </a:prstGeom>
          <a:noFill/>
          <a:ln/>
        </p:spPr>
        <p:txBody>
          <a:bodyPr wrap="none" lIns="0" tIns="0" rIns="0" bIns="0" rtlCol="0" anchor="t"/>
          <a:lstStyle/>
          <a:p>
            <a:pPr marL="0" indent="0" algn="l">
              <a:lnSpc>
                <a:spcPts val="2600"/>
              </a:lnSpc>
              <a:buNone/>
            </a:pPr>
            <a:r>
              <a:rPr lang="en-US" sz="1750" dirty="0">
                <a:solidFill>
                  <a:srgbClr val="FFFFFF"/>
                </a:solidFill>
                <a:latin typeface="Platypi Medium" pitchFamily="34" charset="0"/>
                <a:ea typeface="Platypi Medium" pitchFamily="34" charset="-122"/>
                <a:cs typeface="Platypi Medium" pitchFamily="34" charset="-120"/>
              </a:rPr>
              <a:t>3</a:t>
            </a:r>
            <a:endParaRPr lang="en-US" sz="1750" dirty="0"/>
          </a:p>
        </p:txBody>
      </p:sp>
      <p:sp>
        <p:nvSpPr>
          <p:cNvPr id="20" name="Text 18"/>
          <p:cNvSpPr/>
          <p:nvPr/>
        </p:nvSpPr>
        <p:spPr>
          <a:xfrm>
            <a:off x="9823728" y="3695700"/>
            <a:ext cx="3553897" cy="297299"/>
          </a:xfrm>
          <a:prstGeom prst="rect">
            <a:avLst/>
          </a:prstGeom>
          <a:noFill/>
          <a:ln/>
        </p:spPr>
        <p:txBody>
          <a:bodyPr wrap="none" lIns="0" tIns="0" rIns="0" bIns="0" rtlCol="0" anchor="t"/>
          <a:lstStyle/>
          <a:p>
            <a:pPr marL="0" indent="0" algn="l">
              <a:lnSpc>
                <a:spcPts val="2300"/>
              </a:lnSpc>
              <a:buNone/>
            </a:pPr>
            <a:r>
              <a:rPr lang="en-US" sz="1850" dirty="0">
                <a:solidFill>
                  <a:srgbClr val="504C49"/>
                </a:solidFill>
                <a:latin typeface="Platypi Medium" pitchFamily="34" charset="0"/>
                <a:ea typeface="Platypi Medium" pitchFamily="34" charset="-122"/>
                <a:cs typeface="Platypi Medium" pitchFamily="34" charset="-120"/>
              </a:rPr>
              <a:t>Automated Booking Processes</a:t>
            </a:r>
            <a:endParaRPr lang="en-US" sz="1850" dirty="0"/>
          </a:p>
        </p:txBody>
      </p:sp>
      <p:sp>
        <p:nvSpPr>
          <p:cNvPr id="21" name="Text 19"/>
          <p:cNvSpPr/>
          <p:nvPr/>
        </p:nvSpPr>
        <p:spPr>
          <a:xfrm>
            <a:off x="9823728" y="4088725"/>
            <a:ext cx="3845243" cy="560070"/>
          </a:xfrm>
          <a:prstGeom prst="rect">
            <a:avLst/>
          </a:prstGeom>
          <a:noFill/>
          <a:ln/>
        </p:spPr>
        <p:txBody>
          <a:bodyPr wrap="square" lIns="0" tIns="0" rIns="0" bIns="0" rtlCol="0" anchor="t"/>
          <a:lstStyle/>
          <a:p>
            <a:pPr marL="0" indent="0" algn="l">
              <a:lnSpc>
                <a:spcPts val="2200"/>
              </a:lnSpc>
              <a:buNone/>
            </a:pPr>
            <a:r>
              <a:rPr lang="en-US" sz="1450" dirty="0">
                <a:solidFill>
                  <a:srgbClr val="504C49"/>
                </a:solidFill>
                <a:latin typeface="Source Serif 4" pitchFamily="34" charset="0"/>
                <a:ea typeface="Source Serif 4" pitchFamily="34" charset="-122"/>
                <a:cs typeface="Source Serif 4" pitchFamily="34" charset="-120"/>
              </a:rPr>
              <a:t>Eliminate manual booking challenges through efficient automation.</a:t>
            </a:r>
            <a:endParaRPr lang="en-US" sz="1450" dirty="0"/>
          </a:p>
        </p:txBody>
      </p:sp>
      <p:sp>
        <p:nvSpPr>
          <p:cNvPr id="22" name="Shape 20"/>
          <p:cNvSpPr/>
          <p:nvPr/>
        </p:nvSpPr>
        <p:spPr>
          <a:xfrm>
            <a:off x="748308" y="5307092"/>
            <a:ext cx="6487001" cy="1641991"/>
          </a:xfrm>
          <a:prstGeom prst="roundRect">
            <a:avLst>
              <a:gd name="adj" fmla="val 6683"/>
            </a:avLst>
          </a:prstGeom>
          <a:solidFill>
            <a:srgbClr val="FFFFFF"/>
          </a:solidFill>
          <a:ln/>
        </p:spPr>
      </p:sp>
      <p:sp>
        <p:nvSpPr>
          <p:cNvPr id="23" name="Shape 21"/>
          <p:cNvSpPr/>
          <p:nvPr/>
        </p:nvSpPr>
        <p:spPr>
          <a:xfrm>
            <a:off x="748308" y="5284232"/>
            <a:ext cx="6487001" cy="91440"/>
          </a:xfrm>
          <a:prstGeom prst="roundRect">
            <a:avLst>
              <a:gd name="adj" fmla="val 31225"/>
            </a:avLst>
          </a:prstGeom>
          <a:solidFill>
            <a:srgbClr val="3E2513"/>
          </a:solidFill>
          <a:ln/>
        </p:spPr>
      </p:sp>
      <p:sp>
        <p:nvSpPr>
          <p:cNvPr id="24" name="Shape 22"/>
          <p:cNvSpPr/>
          <p:nvPr/>
        </p:nvSpPr>
        <p:spPr>
          <a:xfrm>
            <a:off x="3706297" y="5021580"/>
            <a:ext cx="571024" cy="571024"/>
          </a:xfrm>
          <a:prstGeom prst="roundRect">
            <a:avLst>
              <a:gd name="adj" fmla="val 160133"/>
            </a:avLst>
          </a:prstGeom>
          <a:solidFill>
            <a:srgbClr val="3E2513"/>
          </a:solidFill>
          <a:ln/>
        </p:spPr>
      </p:sp>
      <p:sp>
        <p:nvSpPr>
          <p:cNvPr id="25" name="Text 23"/>
          <p:cNvSpPr/>
          <p:nvPr/>
        </p:nvSpPr>
        <p:spPr>
          <a:xfrm>
            <a:off x="3877627" y="5164336"/>
            <a:ext cx="228362" cy="285512"/>
          </a:xfrm>
          <a:prstGeom prst="rect">
            <a:avLst/>
          </a:prstGeom>
          <a:noFill/>
          <a:ln/>
        </p:spPr>
        <p:txBody>
          <a:bodyPr wrap="none" lIns="0" tIns="0" rIns="0" bIns="0" rtlCol="0" anchor="t"/>
          <a:lstStyle/>
          <a:p>
            <a:pPr marL="0" indent="0" algn="l">
              <a:lnSpc>
                <a:spcPts val="2600"/>
              </a:lnSpc>
              <a:buNone/>
            </a:pPr>
            <a:r>
              <a:rPr lang="en-US" sz="1750" dirty="0">
                <a:solidFill>
                  <a:srgbClr val="FFFFFF"/>
                </a:solidFill>
                <a:latin typeface="Platypi Medium" pitchFamily="34" charset="0"/>
                <a:ea typeface="Platypi Medium" pitchFamily="34" charset="-122"/>
                <a:cs typeface="Platypi Medium" pitchFamily="34" charset="-120"/>
              </a:rPr>
              <a:t>4</a:t>
            </a:r>
            <a:endParaRPr lang="en-US" sz="1750" dirty="0"/>
          </a:p>
        </p:txBody>
      </p:sp>
      <p:sp>
        <p:nvSpPr>
          <p:cNvPr id="26" name="Text 24"/>
          <p:cNvSpPr/>
          <p:nvPr/>
        </p:nvSpPr>
        <p:spPr>
          <a:xfrm>
            <a:off x="961430" y="5782866"/>
            <a:ext cx="3369945" cy="297299"/>
          </a:xfrm>
          <a:prstGeom prst="rect">
            <a:avLst/>
          </a:prstGeom>
          <a:noFill/>
          <a:ln/>
        </p:spPr>
        <p:txBody>
          <a:bodyPr wrap="none" lIns="0" tIns="0" rIns="0" bIns="0" rtlCol="0" anchor="t"/>
          <a:lstStyle/>
          <a:p>
            <a:pPr marL="0" indent="0" algn="l">
              <a:lnSpc>
                <a:spcPts val="2300"/>
              </a:lnSpc>
              <a:buNone/>
            </a:pPr>
            <a:r>
              <a:rPr lang="en-US" sz="1850" dirty="0">
                <a:solidFill>
                  <a:srgbClr val="504C49"/>
                </a:solidFill>
                <a:latin typeface="Platypi Medium" pitchFamily="34" charset="0"/>
                <a:ea typeface="Platypi Medium" pitchFamily="34" charset="-122"/>
                <a:cs typeface="Platypi Medium" pitchFamily="34" charset="-120"/>
              </a:rPr>
              <a:t>Transparent Service Delivery</a:t>
            </a:r>
            <a:endParaRPr lang="en-US" sz="1850" dirty="0"/>
          </a:p>
        </p:txBody>
      </p:sp>
      <p:sp>
        <p:nvSpPr>
          <p:cNvPr id="27" name="Text 25"/>
          <p:cNvSpPr/>
          <p:nvPr/>
        </p:nvSpPr>
        <p:spPr>
          <a:xfrm>
            <a:off x="961430" y="6175891"/>
            <a:ext cx="6060758" cy="560070"/>
          </a:xfrm>
          <a:prstGeom prst="rect">
            <a:avLst/>
          </a:prstGeom>
          <a:noFill/>
          <a:ln/>
        </p:spPr>
        <p:txBody>
          <a:bodyPr wrap="square" lIns="0" tIns="0" rIns="0" bIns="0" rtlCol="0" anchor="t"/>
          <a:lstStyle/>
          <a:p>
            <a:pPr marL="0" indent="0" algn="l">
              <a:lnSpc>
                <a:spcPts val="2200"/>
              </a:lnSpc>
              <a:buNone/>
            </a:pPr>
            <a:r>
              <a:rPr lang="en-US" sz="1450" dirty="0">
                <a:solidFill>
                  <a:srgbClr val="504C49"/>
                </a:solidFill>
                <a:latin typeface="Source Serif 4" pitchFamily="34" charset="0"/>
                <a:ea typeface="Source Serif 4" pitchFamily="34" charset="-122"/>
                <a:cs typeface="Source Serif 4" pitchFamily="34" charset="-120"/>
              </a:rPr>
              <a:t>Enhance clarity and communication throughout the service lifecycle.</a:t>
            </a:r>
            <a:endParaRPr lang="en-US" sz="1450" dirty="0"/>
          </a:p>
        </p:txBody>
      </p:sp>
      <p:sp>
        <p:nvSpPr>
          <p:cNvPr id="28" name="Shape 26"/>
          <p:cNvSpPr/>
          <p:nvPr/>
        </p:nvSpPr>
        <p:spPr>
          <a:xfrm>
            <a:off x="7394972" y="5307092"/>
            <a:ext cx="6487120" cy="1641991"/>
          </a:xfrm>
          <a:prstGeom prst="roundRect">
            <a:avLst>
              <a:gd name="adj" fmla="val 6683"/>
            </a:avLst>
          </a:prstGeom>
          <a:solidFill>
            <a:srgbClr val="FFFFFF"/>
          </a:solidFill>
          <a:ln/>
        </p:spPr>
      </p:sp>
      <p:sp>
        <p:nvSpPr>
          <p:cNvPr id="29" name="Shape 27"/>
          <p:cNvSpPr/>
          <p:nvPr/>
        </p:nvSpPr>
        <p:spPr>
          <a:xfrm>
            <a:off x="7394972" y="5284232"/>
            <a:ext cx="6487120" cy="91440"/>
          </a:xfrm>
          <a:prstGeom prst="roundRect">
            <a:avLst>
              <a:gd name="adj" fmla="val 31225"/>
            </a:avLst>
          </a:prstGeom>
          <a:solidFill>
            <a:srgbClr val="3E2513"/>
          </a:solidFill>
          <a:ln/>
        </p:spPr>
      </p:sp>
      <p:sp>
        <p:nvSpPr>
          <p:cNvPr id="30" name="Shape 28"/>
          <p:cNvSpPr/>
          <p:nvPr/>
        </p:nvSpPr>
        <p:spPr>
          <a:xfrm>
            <a:off x="10352961" y="5021580"/>
            <a:ext cx="571024" cy="571024"/>
          </a:xfrm>
          <a:prstGeom prst="roundRect">
            <a:avLst>
              <a:gd name="adj" fmla="val 160133"/>
            </a:avLst>
          </a:prstGeom>
          <a:solidFill>
            <a:srgbClr val="3E2513"/>
          </a:solidFill>
          <a:ln/>
        </p:spPr>
      </p:sp>
      <p:sp>
        <p:nvSpPr>
          <p:cNvPr id="31" name="Text 29"/>
          <p:cNvSpPr/>
          <p:nvPr/>
        </p:nvSpPr>
        <p:spPr>
          <a:xfrm>
            <a:off x="10524292" y="5164336"/>
            <a:ext cx="228362" cy="285512"/>
          </a:xfrm>
          <a:prstGeom prst="rect">
            <a:avLst/>
          </a:prstGeom>
          <a:noFill/>
          <a:ln/>
        </p:spPr>
        <p:txBody>
          <a:bodyPr wrap="none" lIns="0" tIns="0" rIns="0" bIns="0" rtlCol="0" anchor="t"/>
          <a:lstStyle/>
          <a:p>
            <a:pPr marL="0" indent="0" algn="l">
              <a:lnSpc>
                <a:spcPts val="2600"/>
              </a:lnSpc>
              <a:buNone/>
            </a:pPr>
            <a:r>
              <a:rPr lang="en-US" sz="1750" dirty="0">
                <a:solidFill>
                  <a:srgbClr val="FFFFFF"/>
                </a:solidFill>
                <a:latin typeface="Platypi Medium" pitchFamily="34" charset="0"/>
                <a:ea typeface="Platypi Medium" pitchFamily="34" charset="-122"/>
                <a:cs typeface="Platypi Medium" pitchFamily="34" charset="-120"/>
              </a:rPr>
              <a:t>5</a:t>
            </a:r>
            <a:endParaRPr lang="en-US" sz="1750" dirty="0"/>
          </a:p>
        </p:txBody>
      </p:sp>
      <p:sp>
        <p:nvSpPr>
          <p:cNvPr id="32" name="Text 30"/>
          <p:cNvSpPr/>
          <p:nvPr/>
        </p:nvSpPr>
        <p:spPr>
          <a:xfrm>
            <a:off x="7608094" y="5782866"/>
            <a:ext cx="2609017" cy="297299"/>
          </a:xfrm>
          <a:prstGeom prst="rect">
            <a:avLst/>
          </a:prstGeom>
          <a:noFill/>
          <a:ln/>
        </p:spPr>
        <p:txBody>
          <a:bodyPr wrap="none" lIns="0" tIns="0" rIns="0" bIns="0" rtlCol="0" anchor="t"/>
          <a:lstStyle/>
          <a:p>
            <a:pPr marL="0" indent="0" algn="l">
              <a:lnSpc>
                <a:spcPts val="2300"/>
              </a:lnSpc>
              <a:buNone/>
            </a:pPr>
            <a:r>
              <a:rPr lang="en-US" sz="1850" dirty="0">
                <a:solidFill>
                  <a:srgbClr val="504C49"/>
                </a:solidFill>
                <a:latin typeface="Platypi Medium" pitchFamily="34" charset="0"/>
                <a:ea typeface="Platypi Medium" pitchFamily="34" charset="-122"/>
                <a:cs typeface="Platypi Medium" pitchFamily="34" charset="-120"/>
              </a:rPr>
              <a:t>Robust Admin Control</a:t>
            </a:r>
            <a:endParaRPr lang="en-US" sz="1850" dirty="0"/>
          </a:p>
        </p:txBody>
      </p:sp>
      <p:sp>
        <p:nvSpPr>
          <p:cNvPr id="33" name="Text 31"/>
          <p:cNvSpPr/>
          <p:nvPr/>
        </p:nvSpPr>
        <p:spPr>
          <a:xfrm>
            <a:off x="7608094" y="6175891"/>
            <a:ext cx="6060877" cy="560070"/>
          </a:xfrm>
          <a:prstGeom prst="rect">
            <a:avLst/>
          </a:prstGeom>
          <a:noFill/>
          <a:ln/>
        </p:spPr>
        <p:txBody>
          <a:bodyPr wrap="square" lIns="0" tIns="0" rIns="0" bIns="0" rtlCol="0" anchor="t"/>
          <a:lstStyle/>
          <a:p>
            <a:pPr marL="0" indent="0" algn="l">
              <a:lnSpc>
                <a:spcPts val="2200"/>
              </a:lnSpc>
              <a:buNone/>
            </a:pPr>
            <a:r>
              <a:rPr lang="en-US" sz="1450" dirty="0">
                <a:solidFill>
                  <a:srgbClr val="504C49"/>
                </a:solidFill>
                <a:latin typeface="Source Serif 4" pitchFamily="34" charset="0"/>
                <a:ea typeface="Source Serif 4" pitchFamily="34" charset="-122"/>
                <a:cs typeface="Source Serif 4" pitchFamily="34" charset="-120"/>
              </a:rPr>
              <a:t>Enable efficient oversight and management of all platform activities.</a:t>
            </a:r>
            <a:endParaRPr lang="en-US" sz="1450" dirty="0"/>
          </a:p>
        </p:txBody>
      </p:sp>
    </p:spTree>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793790" y="653177"/>
            <a:ext cx="8218884"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Comprehensive Project Scope</a:t>
            </a:r>
            <a:endParaRPr lang="en-US" sz="4450" dirty="0"/>
          </a:p>
        </p:txBody>
      </p:sp>
      <p:sp>
        <p:nvSpPr>
          <p:cNvPr id="3" name="Text 1"/>
          <p:cNvSpPr/>
          <p:nvPr/>
        </p:nvSpPr>
        <p:spPr>
          <a:xfrm>
            <a:off x="793790" y="1815584"/>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HomeEase is meticulously designed to cater to the distinct needs of its three primary user groups: customers, service providers, and administrators. Our current scope lays a robust foundation, with an eye towards future enhancements.</a:t>
            </a:r>
            <a:endParaRPr lang="en-US" sz="1750" dirty="0"/>
          </a:p>
        </p:txBody>
      </p:sp>
      <p:sp>
        <p:nvSpPr>
          <p:cNvPr id="4" name="Text 2"/>
          <p:cNvSpPr/>
          <p:nvPr/>
        </p:nvSpPr>
        <p:spPr>
          <a:xfrm>
            <a:off x="793790" y="3023354"/>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201B18"/>
                </a:solidFill>
                <a:latin typeface="Platypi Medium" pitchFamily="34" charset="0"/>
                <a:ea typeface="Platypi Medium" pitchFamily="34" charset="-122"/>
                <a:cs typeface="Platypi Medium" pitchFamily="34" charset="-120"/>
              </a:rPr>
              <a:t>Customer Features</a:t>
            </a:r>
            <a:endParaRPr lang="en-US" sz="2650" dirty="0"/>
          </a:p>
        </p:txBody>
      </p:sp>
      <p:sp>
        <p:nvSpPr>
          <p:cNvPr id="5" name="Text 3"/>
          <p:cNvSpPr/>
          <p:nvPr/>
        </p:nvSpPr>
        <p:spPr>
          <a:xfrm>
            <a:off x="793790" y="3675459"/>
            <a:ext cx="3978116" cy="2415302"/>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Seamless registration and login</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Intuitive service browsing and selection</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Effortless booking initiation</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Real-time booking status tracking</a:t>
            </a:r>
            <a:endParaRPr lang="en-US" sz="1750" dirty="0"/>
          </a:p>
        </p:txBody>
      </p:sp>
      <p:sp>
        <p:nvSpPr>
          <p:cNvPr id="6" name="Text 4"/>
          <p:cNvSpPr/>
          <p:nvPr/>
        </p:nvSpPr>
        <p:spPr>
          <a:xfrm>
            <a:off x="5332928" y="3023354"/>
            <a:ext cx="3978116" cy="850583"/>
          </a:xfrm>
          <a:prstGeom prst="rect">
            <a:avLst/>
          </a:prstGeom>
          <a:noFill/>
          <a:ln/>
        </p:spPr>
        <p:txBody>
          <a:bodyPr wrap="square" lIns="0" tIns="0" rIns="0" bIns="0" rtlCol="0" anchor="t"/>
          <a:lstStyle/>
          <a:p>
            <a:pPr marL="0" indent="0" algn="l">
              <a:lnSpc>
                <a:spcPts val="3300"/>
              </a:lnSpc>
              <a:buNone/>
            </a:pPr>
            <a:r>
              <a:rPr lang="en-US" sz="2650" dirty="0">
                <a:solidFill>
                  <a:srgbClr val="201B18"/>
                </a:solidFill>
                <a:latin typeface="Platypi Medium" pitchFamily="34" charset="0"/>
                <a:ea typeface="Platypi Medium" pitchFamily="34" charset="-122"/>
                <a:cs typeface="Platypi Medium" pitchFamily="34" charset="-120"/>
              </a:rPr>
              <a:t>Service Provider Features</a:t>
            </a:r>
            <a:endParaRPr lang="en-US" sz="2650" dirty="0"/>
          </a:p>
        </p:txBody>
      </p:sp>
      <p:sp>
        <p:nvSpPr>
          <p:cNvPr id="7" name="Text 5"/>
          <p:cNvSpPr/>
          <p:nvPr/>
        </p:nvSpPr>
        <p:spPr>
          <a:xfrm>
            <a:off x="5332928" y="4100751"/>
            <a:ext cx="3978116" cy="2415302"/>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Detailed profile registration</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Comprehensive service listing management</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Flexible availability management</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Efficient booking acceptance and management</a:t>
            </a:r>
            <a:endParaRPr lang="en-US" sz="1750" dirty="0"/>
          </a:p>
        </p:txBody>
      </p:sp>
      <p:sp>
        <p:nvSpPr>
          <p:cNvPr id="8" name="Text 6"/>
          <p:cNvSpPr/>
          <p:nvPr/>
        </p:nvSpPr>
        <p:spPr>
          <a:xfrm>
            <a:off x="9872067" y="3023354"/>
            <a:ext cx="3978116" cy="850583"/>
          </a:xfrm>
          <a:prstGeom prst="rect">
            <a:avLst/>
          </a:prstGeom>
          <a:noFill/>
          <a:ln/>
        </p:spPr>
        <p:txBody>
          <a:bodyPr wrap="square" lIns="0" tIns="0" rIns="0" bIns="0" rtlCol="0" anchor="t"/>
          <a:lstStyle/>
          <a:p>
            <a:pPr marL="0" indent="0" algn="l">
              <a:lnSpc>
                <a:spcPts val="3300"/>
              </a:lnSpc>
              <a:buNone/>
            </a:pPr>
            <a:r>
              <a:rPr lang="en-US" sz="2650" dirty="0">
                <a:solidFill>
                  <a:srgbClr val="201B18"/>
                </a:solidFill>
                <a:latin typeface="Platypi Medium" pitchFamily="34" charset="0"/>
                <a:ea typeface="Platypi Medium" pitchFamily="34" charset="-122"/>
                <a:cs typeface="Platypi Medium" pitchFamily="34" charset="-120"/>
              </a:rPr>
              <a:t>Super Admin Capabilities</a:t>
            </a:r>
            <a:endParaRPr lang="en-US" sz="2650" dirty="0"/>
          </a:p>
        </p:txBody>
      </p:sp>
      <p:sp>
        <p:nvSpPr>
          <p:cNvPr id="9" name="Text 7"/>
          <p:cNvSpPr/>
          <p:nvPr/>
        </p:nvSpPr>
        <p:spPr>
          <a:xfrm>
            <a:off x="9872067" y="4100751"/>
            <a:ext cx="3978116" cy="2415302"/>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Streamlined provider approval process</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Holistic user management</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Centralized booking monitoring</a:t>
            </a:r>
            <a:endParaRPr lang="en-US" sz="1750" dirty="0"/>
          </a:p>
          <a:p>
            <a:pPr marL="342900" indent="-342900" algn="l">
              <a:lnSpc>
                <a:spcPts val="2850"/>
              </a:lnSpc>
              <a:buSzPct val="100000"/>
              <a:buChar char="•"/>
            </a:pPr>
            <a:r>
              <a:rPr lang="en-US" sz="1750" dirty="0">
                <a:solidFill>
                  <a:srgbClr val="504C49"/>
                </a:solidFill>
                <a:latin typeface="Source Serif 4" pitchFamily="34" charset="0"/>
                <a:ea typeface="Source Serif 4" pitchFamily="34" charset="-122"/>
                <a:cs typeface="Source Serif 4" pitchFamily="34" charset="-120"/>
              </a:rPr>
              <a:t>Comprehensive report generation</a:t>
            </a:r>
            <a:endParaRPr lang="en-US" sz="1750" dirty="0"/>
          </a:p>
        </p:txBody>
      </p:sp>
      <p:sp>
        <p:nvSpPr>
          <p:cNvPr id="10" name="Text 8"/>
          <p:cNvSpPr/>
          <p:nvPr/>
        </p:nvSpPr>
        <p:spPr>
          <a:xfrm>
            <a:off x="793790" y="685049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Looking ahead, we plan to integrate advanced payment gateways and real-time chat functionalities to further enrich the user experience.</a:t>
            </a:r>
            <a:endParaRPr lang="en-US" sz="1750" dirty="0"/>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22590" y="569119"/>
            <a:ext cx="7698819" cy="1290161"/>
          </a:xfrm>
          <a:prstGeom prst="rect">
            <a:avLst/>
          </a:prstGeom>
          <a:noFill/>
          <a:ln/>
        </p:spPr>
        <p:txBody>
          <a:bodyPr wrap="square" lIns="0" tIns="0" rIns="0" bIns="0" rtlCol="0" anchor="t"/>
          <a:lstStyle/>
          <a:p>
            <a:pPr marL="0" indent="0" algn="l">
              <a:lnSpc>
                <a:spcPts val="5050"/>
              </a:lnSpc>
              <a:buNone/>
            </a:pPr>
            <a:r>
              <a:rPr lang="en-US" sz="4050" dirty="0">
                <a:solidFill>
                  <a:srgbClr val="201B18"/>
                </a:solidFill>
                <a:latin typeface="Platypi Medium" pitchFamily="34" charset="0"/>
                <a:ea typeface="Platypi Medium" pitchFamily="34" charset="-122"/>
                <a:cs typeface="Platypi Medium" pitchFamily="34" charset="-120"/>
              </a:rPr>
              <a:t>Methodology: Agile-Based Development</a:t>
            </a:r>
            <a:endParaRPr lang="en-US" sz="4050" dirty="0"/>
          </a:p>
        </p:txBody>
      </p:sp>
      <p:sp>
        <p:nvSpPr>
          <p:cNvPr id="4" name="Text 1"/>
          <p:cNvSpPr/>
          <p:nvPr/>
        </p:nvSpPr>
        <p:spPr>
          <a:xfrm>
            <a:off x="722590" y="2141101"/>
            <a:ext cx="7698819" cy="1261586"/>
          </a:xfrm>
          <a:prstGeom prst="rect">
            <a:avLst/>
          </a:prstGeom>
          <a:noFill/>
          <a:ln/>
        </p:spPr>
        <p:txBody>
          <a:bodyPr wrap="square" lIns="0" tIns="0" rIns="0" bIns="0" rtlCol="0" anchor="t"/>
          <a:lstStyle/>
          <a:p>
            <a:pPr marL="0" indent="0" algn="l">
              <a:lnSpc>
                <a:spcPts val="2450"/>
              </a:lnSpc>
              <a:buNone/>
            </a:pPr>
            <a:r>
              <a:rPr lang="en-US" sz="1600" dirty="0">
                <a:solidFill>
                  <a:srgbClr val="504C49"/>
                </a:solidFill>
                <a:latin typeface="Source Serif 4" pitchFamily="34" charset="0"/>
                <a:ea typeface="Source Serif 4" pitchFamily="34" charset="-122"/>
                <a:cs typeface="Source Serif 4" pitchFamily="34" charset="-120"/>
              </a:rPr>
              <a:t>Our project adopts a dynamic Agile-based development methodology, emphasizing iterative progress, flexibility, and continuous improvement. This approach ensures that HomeEase evolves responsively to user needs and market demands.</a:t>
            </a:r>
            <a:endParaRPr lang="en-US" sz="1600" dirty="0"/>
          </a:p>
        </p:txBody>
      </p:sp>
      <p:pic>
        <p:nvPicPr>
          <p:cNvPr id="5" name="Image 1" descr="preencoded.png"/>
          <p:cNvPicPr>
            <a:picLocks noChangeAspect="1"/>
          </p:cNvPicPr>
          <p:nvPr/>
        </p:nvPicPr>
        <p:blipFill>
          <a:blip r:embed="rId4"/>
          <a:stretch>
            <a:fillRect/>
          </a:stretch>
        </p:blipFill>
        <p:spPr>
          <a:xfrm>
            <a:off x="722590" y="3614023"/>
            <a:ext cx="7698819" cy="2888933"/>
          </a:xfrm>
          <a:prstGeom prst="rect">
            <a:avLst/>
          </a:prstGeom>
        </p:spPr>
      </p:pic>
      <p:pic>
        <p:nvPicPr>
          <p:cNvPr id="6" name="Image 2" descr="preencoded.png"/>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7297450" y="4349886"/>
            <a:ext cx="397673" cy="397673"/>
          </a:xfrm>
          <a:prstGeom prst="rect">
            <a:avLst/>
          </a:prstGeom>
        </p:spPr>
      </p:pic>
      <p:sp>
        <p:nvSpPr>
          <p:cNvPr id="7" name="Text 2"/>
          <p:cNvSpPr/>
          <p:nvPr/>
        </p:nvSpPr>
        <p:spPr>
          <a:xfrm>
            <a:off x="6943148" y="5801640"/>
            <a:ext cx="1161205" cy="223691"/>
          </a:xfrm>
          <a:prstGeom prst="rect">
            <a:avLst/>
          </a:prstGeom>
          <a:noFill/>
          <a:ln/>
        </p:spPr>
        <p:txBody>
          <a:bodyPr wrap="none" lIns="0" tIns="0" rIns="0" bIns="0" rtlCol="0" anchor="t"/>
          <a:lstStyle/>
          <a:p>
            <a:pPr marL="0" indent="0" algn="ctr">
              <a:lnSpc>
                <a:spcPts val="1750"/>
              </a:lnSpc>
              <a:buNone/>
            </a:pPr>
            <a:r>
              <a:rPr lang="en-US" sz="1400" dirty="0">
                <a:solidFill>
                  <a:srgbClr val="504C49"/>
                </a:solidFill>
                <a:latin typeface="Platypi Medium" pitchFamily="34" charset="0"/>
                <a:ea typeface="Platypi Medium" pitchFamily="34" charset="-122"/>
                <a:cs typeface="Platypi Medium" pitchFamily="34" charset="-120"/>
              </a:rPr>
              <a:t>Testing</a:t>
            </a:r>
            <a:endParaRPr lang="en-US" sz="1400" dirty="0"/>
          </a:p>
        </p:txBody>
      </p:sp>
      <p:pic>
        <p:nvPicPr>
          <p:cNvPr id="8" name="Image 3" descr="preencoded.png"/>
          <p:cNvPicPr>
            <a:picLocks noChangeAspect="1"/>
          </p:cNvPicPr>
          <p:nvPr/>
        </p:nvPicPr>
        <p:blipFill>
          <a:blip r:embed="rId5">
            <a:extLst>
              <a:ext uri="{96DAC541-7B7A-43D3-8B79-37D633B846F1}">
                <asvg:svgBlip xmlns="" xmlns:asvg="http://schemas.microsoft.com/office/drawing/2016/SVG/main" r:embed="rId7"/>
              </a:ext>
            </a:extLst>
          </a:blip>
          <a:stretch>
            <a:fillRect/>
          </a:stretch>
        </p:blipFill>
        <p:spPr>
          <a:xfrm>
            <a:off x="5841595" y="4350632"/>
            <a:ext cx="397673" cy="397673"/>
          </a:xfrm>
          <a:prstGeom prst="rect">
            <a:avLst/>
          </a:prstGeom>
        </p:spPr>
      </p:pic>
      <p:sp>
        <p:nvSpPr>
          <p:cNvPr id="9" name="Text 3"/>
          <p:cNvSpPr/>
          <p:nvPr/>
        </p:nvSpPr>
        <p:spPr>
          <a:xfrm>
            <a:off x="5479712" y="5801640"/>
            <a:ext cx="1161205" cy="223691"/>
          </a:xfrm>
          <a:prstGeom prst="rect">
            <a:avLst/>
          </a:prstGeom>
          <a:noFill/>
          <a:ln/>
        </p:spPr>
        <p:txBody>
          <a:bodyPr wrap="none" lIns="0" tIns="0" rIns="0" bIns="0" rtlCol="0" anchor="t"/>
          <a:lstStyle/>
          <a:p>
            <a:pPr marL="0" indent="0" algn="ctr">
              <a:lnSpc>
                <a:spcPts val="1750"/>
              </a:lnSpc>
              <a:buNone/>
            </a:pPr>
            <a:r>
              <a:rPr lang="en-US" sz="1400" dirty="0">
                <a:solidFill>
                  <a:srgbClr val="504C49"/>
                </a:solidFill>
                <a:latin typeface="Platypi Medium" pitchFamily="34" charset="0"/>
                <a:ea typeface="Platypi Medium" pitchFamily="34" charset="-122"/>
                <a:cs typeface="Platypi Medium" pitchFamily="34" charset="-120"/>
              </a:rPr>
              <a:t>Frontend</a:t>
            </a:r>
            <a:endParaRPr lang="en-US" sz="1400" dirty="0"/>
          </a:p>
        </p:txBody>
      </p:sp>
      <p:pic>
        <p:nvPicPr>
          <p:cNvPr id="10" name="Image 4" descr="preencoded.png"/>
          <p:cNvPicPr>
            <a:picLocks noChangeAspect="1"/>
          </p:cNvPicPr>
          <p:nvPr/>
        </p:nvPicPr>
        <p:blipFill>
          <a:blip r:embed="rId5">
            <a:extLst>
              <a:ext uri="{96DAC541-7B7A-43D3-8B79-37D633B846F1}">
                <asvg:svgBlip xmlns="" xmlns:asvg="http://schemas.microsoft.com/office/drawing/2016/SVG/main" r:embed="rId8"/>
              </a:ext>
            </a:extLst>
          </a:blip>
          <a:stretch>
            <a:fillRect/>
          </a:stretch>
        </p:blipFill>
        <p:spPr>
          <a:xfrm>
            <a:off x="4386112" y="4350632"/>
            <a:ext cx="397673" cy="397673"/>
          </a:xfrm>
          <a:prstGeom prst="rect">
            <a:avLst/>
          </a:prstGeom>
        </p:spPr>
      </p:pic>
      <p:sp>
        <p:nvSpPr>
          <p:cNvPr id="11" name="Text 4"/>
          <p:cNvSpPr/>
          <p:nvPr/>
        </p:nvSpPr>
        <p:spPr>
          <a:xfrm>
            <a:off x="4024230" y="5801640"/>
            <a:ext cx="1161204" cy="223691"/>
          </a:xfrm>
          <a:prstGeom prst="rect">
            <a:avLst/>
          </a:prstGeom>
          <a:noFill/>
          <a:ln/>
        </p:spPr>
        <p:txBody>
          <a:bodyPr wrap="none" lIns="0" tIns="0" rIns="0" bIns="0" rtlCol="0" anchor="t"/>
          <a:lstStyle/>
          <a:p>
            <a:pPr marL="0" indent="0" algn="ctr">
              <a:lnSpc>
                <a:spcPts val="1750"/>
              </a:lnSpc>
              <a:buNone/>
            </a:pPr>
            <a:r>
              <a:rPr lang="en-US" sz="1400" dirty="0">
                <a:solidFill>
                  <a:srgbClr val="504C49"/>
                </a:solidFill>
                <a:latin typeface="Platypi Medium" pitchFamily="34" charset="0"/>
                <a:ea typeface="Platypi Medium" pitchFamily="34" charset="-122"/>
                <a:cs typeface="Platypi Medium" pitchFamily="34" charset="-120"/>
              </a:rPr>
              <a:t>Backend</a:t>
            </a:r>
            <a:endParaRPr lang="en-US" sz="1400" dirty="0"/>
          </a:p>
        </p:txBody>
      </p:sp>
      <p:pic>
        <p:nvPicPr>
          <p:cNvPr id="12" name="Image 5" descr="preencoded.png"/>
          <p:cNvPicPr>
            <a:picLocks noChangeAspect="1"/>
          </p:cNvPicPr>
          <p:nvPr/>
        </p:nvPicPr>
        <p:blipFill>
          <a:blip r:embed="rId5">
            <a:extLst>
              <a:ext uri="{96DAC541-7B7A-43D3-8B79-37D633B846F1}">
                <asvg:svgBlip xmlns="" xmlns:asvg="http://schemas.microsoft.com/office/drawing/2016/SVG/main" r:embed="rId10"/>
              </a:ext>
            </a:extLst>
          </a:blip>
          <a:stretch>
            <a:fillRect/>
          </a:stretch>
        </p:blipFill>
        <p:spPr>
          <a:xfrm>
            <a:off x="2930629" y="4350632"/>
            <a:ext cx="397673" cy="397673"/>
          </a:xfrm>
          <a:prstGeom prst="rect">
            <a:avLst/>
          </a:prstGeom>
        </p:spPr>
      </p:pic>
      <p:sp>
        <p:nvSpPr>
          <p:cNvPr id="13" name="Text 5"/>
          <p:cNvSpPr/>
          <p:nvPr/>
        </p:nvSpPr>
        <p:spPr>
          <a:xfrm>
            <a:off x="2568747" y="5801640"/>
            <a:ext cx="1161205" cy="223691"/>
          </a:xfrm>
          <a:prstGeom prst="rect">
            <a:avLst/>
          </a:prstGeom>
          <a:noFill/>
          <a:ln/>
        </p:spPr>
        <p:txBody>
          <a:bodyPr wrap="none" lIns="0" tIns="0" rIns="0" bIns="0" rtlCol="0" anchor="t"/>
          <a:lstStyle/>
          <a:p>
            <a:pPr marL="0" indent="0" algn="ctr">
              <a:lnSpc>
                <a:spcPts val="1750"/>
              </a:lnSpc>
              <a:buNone/>
            </a:pPr>
            <a:r>
              <a:rPr lang="en-US" sz="1400" dirty="0">
                <a:solidFill>
                  <a:srgbClr val="504C49"/>
                </a:solidFill>
                <a:latin typeface="Platypi Medium" pitchFamily="34" charset="0"/>
                <a:ea typeface="Platypi Medium" pitchFamily="34" charset="-122"/>
                <a:cs typeface="Platypi Medium" pitchFamily="34" charset="-120"/>
              </a:rPr>
              <a:t>Design</a:t>
            </a:r>
            <a:endParaRPr lang="en-US" sz="1400" dirty="0"/>
          </a:p>
        </p:txBody>
      </p:sp>
      <p:pic>
        <p:nvPicPr>
          <p:cNvPr id="14" name="Image 6" descr="preencoded.png"/>
          <p:cNvPicPr>
            <a:picLocks noChangeAspect="1"/>
          </p:cNvPicPr>
          <p:nvPr/>
        </p:nvPicPr>
        <p:blipFill>
          <a:blip r:embed="rId5">
            <a:extLst>
              <a:ext uri="{96DAC541-7B7A-43D3-8B79-37D633B846F1}">
                <asvg:svgBlip xmlns="" xmlns:asvg="http://schemas.microsoft.com/office/drawing/2016/SVG/main" r:embed="rId12"/>
              </a:ext>
            </a:extLst>
          </a:blip>
          <a:stretch>
            <a:fillRect/>
          </a:stretch>
        </p:blipFill>
        <p:spPr>
          <a:xfrm>
            <a:off x="1467193" y="4350632"/>
            <a:ext cx="397673" cy="397673"/>
          </a:xfrm>
          <a:prstGeom prst="rect">
            <a:avLst/>
          </a:prstGeom>
        </p:spPr>
      </p:pic>
      <p:sp>
        <p:nvSpPr>
          <p:cNvPr id="15" name="Text 6"/>
          <p:cNvSpPr/>
          <p:nvPr/>
        </p:nvSpPr>
        <p:spPr>
          <a:xfrm>
            <a:off x="1081450" y="5689795"/>
            <a:ext cx="1161205" cy="447382"/>
          </a:xfrm>
          <a:prstGeom prst="rect">
            <a:avLst/>
          </a:prstGeom>
          <a:noFill/>
          <a:ln/>
        </p:spPr>
        <p:txBody>
          <a:bodyPr wrap="square" lIns="0" tIns="0" rIns="0" bIns="0" rtlCol="0" anchor="t"/>
          <a:lstStyle/>
          <a:p>
            <a:pPr marL="0" indent="0" algn="ctr">
              <a:lnSpc>
                <a:spcPts val="1750"/>
              </a:lnSpc>
              <a:buNone/>
            </a:pPr>
            <a:r>
              <a:rPr lang="en-US" sz="1400" dirty="0">
                <a:solidFill>
                  <a:srgbClr val="504C49"/>
                </a:solidFill>
                <a:latin typeface="Platypi Medium" pitchFamily="34" charset="0"/>
                <a:ea typeface="Platypi Medium" pitchFamily="34" charset="-122"/>
                <a:cs typeface="Platypi Medium" pitchFamily="34" charset="-120"/>
              </a:rPr>
              <a:t>Requirements</a:t>
            </a:r>
            <a:endParaRPr lang="en-US" sz="1400" dirty="0"/>
          </a:p>
        </p:txBody>
      </p:sp>
      <p:sp>
        <p:nvSpPr>
          <p:cNvPr id="16" name="Text 7"/>
          <p:cNvSpPr/>
          <p:nvPr/>
        </p:nvSpPr>
        <p:spPr>
          <a:xfrm>
            <a:off x="722590" y="6714292"/>
            <a:ext cx="7698819" cy="946190"/>
          </a:xfrm>
          <a:prstGeom prst="rect">
            <a:avLst/>
          </a:prstGeom>
          <a:noFill/>
          <a:ln/>
        </p:spPr>
        <p:txBody>
          <a:bodyPr wrap="square" lIns="0" tIns="0" rIns="0" bIns="0" rtlCol="0" anchor="t"/>
          <a:lstStyle/>
          <a:p>
            <a:pPr marL="0" indent="0" algn="l">
              <a:lnSpc>
                <a:spcPts val="2450"/>
              </a:lnSpc>
              <a:buNone/>
            </a:pPr>
            <a:r>
              <a:rPr lang="en-US" sz="1600" dirty="0">
                <a:solidFill>
                  <a:srgbClr val="504C49"/>
                </a:solidFill>
                <a:latin typeface="Source Serif 4" pitchFamily="34" charset="0"/>
                <a:ea typeface="Source Serif 4" pitchFamily="34" charset="-122"/>
                <a:cs typeface="Source Serif 4" pitchFamily="34" charset="-120"/>
              </a:rPr>
              <a:t>By breaking down the project into smaller, manageable modules, we can ensure regular testing and rapid iteration, significantly enhancing product quality and development efficiency.</a:t>
            </a:r>
            <a:endParaRPr lang="en-US" sz="16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2" name="Text 0"/>
          <p:cNvSpPr/>
          <p:nvPr/>
        </p:nvSpPr>
        <p:spPr>
          <a:xfrm>
            <a:off x="707231" y="1019413"/>
            <a:ext cx="10369748" cy="598527"/>
          </a:xfrm>
          <a:prstGeom prst="rect">
            <a:avLst/>
          </a:prstGeom>
          <a:noFill/>
          <a:ln/>
        </p:spPr>
        <p:txBody>
          <a:bodyPr wrap="none" lIns="0" tIns="0" rIns="0" bIns="0" rtlCol="0" anchor="t"/>
          <a:lstStyle/>
          <a:p>
            <a:pPr marL="0" indent="0" algn="l">
              <a:lnSpc>
                <a:spcPts val="4700"/>
              </a:lnSpc>
              <a:buNone/>
            </a:pPr>
            <a:r>
              <a:rPr lang="en-US" sz="3750" dirty="0">
                <a:solidFill>
                  <a:srgbClr val="201B18"/>
                </a:solidFill>
                <a:latin typeface="Platypi Medium" pitchFamily="34" charset="0"/>
                <a:ea typeface="Platypi Medium" pitchFamily="34" charset="-122"/>
                <a:cs typeface="Platypi Medium" pitchFamily="34" charset="-120"/>
              </a:rPr>
              <a:t>Technology Used: The Power of MERN Stack</a:t>
            </a:r>
            <a:endParaRPr lang="en-US" sz="3750" dirty="0"/>
          </a:p>
        </p:txBody>
      </p:sp>
      <p:sp>
        <p:nvSpPr>
          <p:cNvPr id="3" name="Text 1"/>
          <p:cNvSpPr/>
          <p:nvPr/>
        </p:nvSpPr>
        <p:spPr>
          <a:xfrm>
            <a:off x="707231" y="1941314"/>
            <a:ext cx="13215938" cy="565309"/>
          </a:xfrm>
          <a:prstGeom prst="rect">
            <a:avLst/>
          </a:prstGeom>
          <a:noFill/>
          <a:ln/>
        </p:spPr>
        <p:txBody>
          <a:bodyPr wrap="square" lIns="0" tIns="0" rIns="0" bIns="0" rtlCol="0" anchor="t"/>
          <a:lstStyle/>
          <a:p>
            <a:pPr marL="0" indent="0" algn="l">
              <a:lnSpc>
                <a:spcPts val="2200"/>
              </a:lnSpc>
              <a:buNone/>
            </a:pPr>
            <a:r>
              <a:rPr lang="en-US" sz="1500" dirty="0">
                <a:solidFill>
                  <a:srgbClr val="504C49"/>
                </a:solidFill>
                <a:latin typeface="Source Serif 4" pitchFamily="34" charset="0"/>
                <a:ea typeface="Source Serif 4" pitchFamily="34" charset="-122"/>
                <a:cs typeface="Source Serif 4" pitchFamily="34" charset="-120"/>
              </a:rPr>
              <a:t>HomeEase is built upon the robust and scalable MERN (MongoDB, Express.js, React.js, Node.js) stack, a powerful combination of technologies known for delivering high-performance, dynamic web applications.</a:t>
            </a:r>
            <a:endParaRPr lang="en-US" sz="1500" dirty="0"/>
          </a:p>
        </p:txBody>
      </p:sp>
      <p:sp>
        <p:nvSpPr>
          <p:cNvPr id="4" name="Shape 2"/>
          <p:cNvSpPr/>
          <p:nvPr/>
        </p:nvSpPr>
        <p:spPr>
          <a:xfrm>
            <a:off x="707231" y="2688550"/>
            <a:ext cx="3182660" cy="2097286"/>
          </a:xfrm>
          <a:prstGeom prst="roundRect">
            <a:avLst>
              <a:gd name="adj" fmla="val 1370"/>
            </a:avLst>
          </a:prstGeom>
          <a:solidFill>
            <a:srgbClr val="F9F7F7"/>
          </a:solidFill>
          <a:ln/>
        </p:spPr>
      </p:sp>
      <p:sp>
        <p:nvSpPr>
          <p:cNvPr id="5" name="Shape 3"/>
          <p:cNvSpPr/>
          <p:nvPr/>
        </p:nvSpPr>
        <p:spPr>
          <a:xfrm>
            <a:off x="898684" y="2880003"/>
            <a:ext cx="574596" cy="574596"/>
          </a:xfrm>
          <a:prstGeom prst="roundRect">
            <a:avLst>
              <a:gd name="adj" fmla="val 15912198"/>
            </a:avLst>
          </a:prstGeom>
          <a:solidFill>
            <a:srgbClr val="3E2513"/>
          </a:solidFill>
          <a:ln/>
        </p:spPr>
      </p:sp>
      <p:pic>
        <p:nvPicPr>
          <p:cNvPr id="6" name="Image 0" descr="preencoded.png"/>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1056680" y="3037999"/>
            <a:ext cx="258485" cy="258485"/>
          </a:xfrm>
          <a:prstGeom prst="rect">
            <a:avLst/>
          </a:prstGeom>
        </p:spPr>
      </p:pic>
      <p:sp>
        <p:nvSpPr>
          <p:cNvPr id="7" name="Text 4"/>
          <p:cNvSpPr/>
          <p:nvPr/>
        </p:nvSpPr>
        <p:spPr>
          <a:xfrm>
            <a:off x="898684" y="3616285"/>
            <a:ext cx="2394109" cy="299204"/>
          </a:xfrm>
          <a:prstGeom prst="rect">
            <a:avLst/>
          </a:prstGeom>
          <a:noFill/>
          <a:ln/>
        </p:spPr>
        <p:txBody>
          <a:bodyPr wrap="none" lIns="0" tIns="0" rIns="0" bIns="0" rtlCol="0" anchor="t"/>
          <a:lstStyle/>
          <a:p>
            <a:pPr marL="0" indent="0" algn="l">
              <a:lnSpc>
                <a:spcPts val="2350"/>
              </a:lnSpc>
              <a:buNone/>
            </a:pPr>
            <a:r>
              <a:rPr lang="en-US" sz="1850" dirty="0">
                <a:solidFill>
                  <a:srgbClr val="504C49"/>
                </a:solidFill>
                <a:latin typeface="Platypi Medium" pitchFamily="34" charset="0"/>
                <a:ea typeface="Platypi Medium" pitchFamily="34" charset="-122"/>
                <a:cs typeface="Platypi Medium" pitchFamily="34" charset="-120"/>
              </a:rPr>
              <a:t>Frontend: React.js</a:t>
            </a:r>
            <a:endParaRPr lang="en-US" sz="1850" dirty="0"/>
          </a:p>
        </p:txBody>
      </p:sp>
      <p:sp>
        <p:nvSpPr>
          <p:cNvPr id="8" name="Text 5"/>
          <p:cNvSpPr/>
          <p:nvPr/>
        </p:nvSpPr>
        <p:spPr>
          <a:xfrm>
            <a:off x="898684" y="4012525"/>
            <a:ext cx="2799755" cy="282654"/>
          </a:xfrm>
          <a:prstGeom prst="rect">
            <a:avLst/>
          </a:prstGeom>
          <a:noFill/>
          <a:ln/>
        </p:spPr>
        <p:txBody>
          <a:bodyPr wrap="none" lIns="0" tIns="0" rIns="0" bIns="0" rtlCol="0" anchor="t"/>
          <a:lstStyle/>
          <a:p>
            <a:pPr marL="0" indent="0" algn="l">
              <a:lnSpc>
                <a:spcPts val="2200"/>
              </a:lnSpc>
              <a:buNone/>
            </a:pPr>
            <a:r>
              <a:rPr lang="en-US" sz="1500" dirty="0">
                <a:solidFill>
                  <a:srgbClr val="504C49"/>
                </a:solidFill>
                <a:latin typeface="Source Serif 4" pitchFamily="34" charset="0"/>
                <a:ea typeface="Source Serif 4" pitchFamily="34" charset="-122"/>
                <a:cs typeface="Source Serif 4" pitchFamily="34" charset="-120"/>
              </a:rPr>
              <a:t>For interactive user interfaces.</a:t>
            </a:r>
            <a:endParaRPr lang="en-US" sz="1500" dirty="0"/>
          </a:p>
        </p:txBody>
      </p:sp>
      <p:sp>
        <p:nvSpPr>
          <p:cNvPr id="9" name="Shape 6"/>
          <p:cNvSpPr/>
          <p:nvPr/>
        </p:nvSpPr>
        <p:spPr>
          <a:xfrm>
            <a:off x="4051578" y="2688550"/>
            <a:ext cx="3182779" cy="2097286"/>
          </a:xfrm>
          <a:prstGeom prst="roundRect">
            <a:avLst>
              <a:gd name="adj" fmla="val 1370"/>
            </a:avLst>
          </a:prstGeom>
          <a:solidFill>
            <a:srgbClr val="F9F7F7"/>
          </a:solidFill>
          <a:ln/>
        </p:spPr>
      </p:sp>
      <p:sp>
        <p:nvSpPr>
          <p:cNvPr id="10" name="Shape 7"/>
          <p:cNvSpPr/>
          <p:nvPr/>
        </p:nvSpPr>
        <p:spPr>
          <a:xfrm>
            <a:off x="4243030" y="2880003"/>
            <a:ext cx="574596" cy="574596"/>
          </a:xfrm>
          <a:prstGeom prst="roundRect">
            <a:avLst>
              <a:gd name="adj" fmla="val 15912198"/>
            </a:avLst>
          </a:prstGeom>
          <a:solidFill>
            <a:srgbClr val="3E2513"/>
          </a:solidFill>
          <a:ln/>
        </p:spPr>
      </p:sp>
      <p:pic>
        <p:nvPicPr>
          <p:cNvPr id="11" name="Image 1" descr="preencoded.png"/>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4401026" y="3037999"/>
            <a:ext cx="258485" cy="258485"/>
          </a:xfrm>
          <a:prstGeom prst="rect">
            <a:avLst/>
          </a:prstGeom>
        </p:spPr>
      </p:pic>
      <p:sp>
        <p:nvSpPr>
          <p:cNvPr id="12" name="Text 8"/>
          <p:cNvSpPr/>
          <p:nvPr/>
        </p:nvSpPr>
        <p:spPr>
          <a:xfrm>
            <a:off x="4243030" y="3616285"/>
            <a:ext cx="2799874" cy="598408"/>
          </a:xfrm>
          <a:prstGeom prst="rect">
            <a:avLst/>
          </a:prstGeom>
          <a:noFill/>
          <a:ln/>
        </p:spPr>
        <p:txBody>
          <a:bodyPr wrap="square" lIns="0" tIns="0" rIns="0" bIns="0" rtlCol="0" anchor="t"/>
          <a:lstStyle/>
          <a:p>
            <a:pPr marL="0" indent="0" algn="l">
              <a:lnSpc>
                <a:spcPts val="2350"/>
              </a:lnSpc>
              <a:buNone/>
            </a:pPr>
            <a:r>
              <a:rPr lang="en-US" sz="1850" dirty="0">
                <a:solidFill>
                  <a:srgbClr val="504C49"/>
                </a:solidFill>
                <a:latin typeface="Platypi Medium" pitchFamily="34" charset="0"/>
                <a:ea typeface="Platypi Medium" pitchFamily="34" charset="-122"/>
                <a:cs typeface="Platypi Medium" pitchFamily="34" charset="-120"/>
              </a:rPr>
              <a:t>Backend: Node.js, Express.js</a:t>
            </a:r>
            <a:endParaRPr lang="en-US" sz="1850" dirty="0"/>
          </a:p>
        </p:txBody>
      </p:sp>
      <p:sp>
        <p:nvSpPr>
          <p:cNvPr id="13" name="Text 9"/>
          <p:cNvSpPr/>
          <p:nvPr/>
        </p:nvSpPr>
        <p:spPr>
          <a:xfrm>
            <a:off x="4243030" y="4311729"/>
            <a:ext cx="2799874" cy="282654"/>
          </a:xfrm>
          <a:prstGeom prst="rect">
            <a:avLst/>
          </a:prstGeom>
          <a:noFill/>
          <a:ln/>
        </p:spPr>
        <p:txBody>
          <a:bodyPr wrap="none" lIns="0" tIns="0" rIns="0" bIns="0" rtlCol="0" anchor="t"/>
          <a:lstStyle/>
          <a:p>
            <a:pPr marL="0" indent="0" algn="l">
              <a:lnSpc>
                <a:spcPts val="2200"/>
              </a:lnSpc>
              <a:buNone/>
            </a:pPr>
            <a:r>
              <a:rPr lang="en-US" sz="1500" dirty="0">
                <a:solidFill>
                  <a:srgbClr val="504C49"/>
                </a:solidFill>
                <a:latin typeface="Source Serif 4" pitchFamily="34" charset="0"/>
                <a:ea typeface="Source Serif 4" pitchFamily="34" charset="-122"/>
                <a:cs typeface="Source Serif 4" pitchFamily="34" charset="-120"/>
              </a:rPr>
              <a:t>For server-side logic and APIs.</a:t>
            </a:r>
            <a:endParaRPr lang="en-US" sz="1500" dirty="0"/>
          </a:p>
        </p:txBody>
      </p:sp>
      <p:sp>
        <p:nvSpPr>
          <p:cNvPr id="14" name="Shape 10"/>
          <p:cNvSpPr/>
          <p:nvPr/>
        </p:nvSpPr>
        <p:spPr>
          <a:xfrm>
            <a:off x="7396043" y="2688550"/>
            <a:ext cx="3182660" cy="2097286"/>
          </a:xfrm>
          <a:prstGeom prst="roundRect">
            <a:avLst>
              <a:gd name="adj" fmla="val 1370"/>
            </a:avLst>
          </a:prstGeom>
          <a:solidFill>
            <a:srgbClr val="F9F7F7"/>
          </a:solidFill>
          <a:ln/>
        </p:spPr>
      </p:sp>
      <p:sp>
        <p:nvSpPr>
          <p:cNvPr id="15" name="Shape 11"/>
          <p:cNvSpPr/>
          <p:nvPr/>
        </p:nvSpPr>
        <p:spPr>
          <a:xfrm>
            <a:off x="7587496" y="2880003"/>
            <a:ext cx="574596" cy="574596"/>
          </a:xfrm>
          <a:prstGeom prst="roundRect">
            <a:avLst>
              <a:gd name="adj" fmla="val 15912198"/>
            </a:avLst>
          </a:prstGeom>
          <a:solidFill>
            <a:srgbClr val="3E2513"/>
          </a:solidFill>
          <a:ln/>
        </p:spPr>
      </p:sp>
      <p:pic>
        <p:nvPicPr>
          <p:cNvPr id="16" name="Image 2" descr="preencoded.png"/>
          <p:cNvPicPr>
            <a:picLocks noChangeAspect="1"/>
          </p:cNvPicPr>
          <p:nvPr/>
        </p:nvPicPr>
        <p:blipFill>
          <a:blip r:embed="rId3">
            <a:extLst>
              <a:ext uri="{96DAC541-7B7A-43D3-8B79-37D633B846F1}">
                <asvg:svgBlip xmlns="" xmlns:asvg="http://schemas.microsoft.com/office/drawing/2016/SVG/main" r:embed="rId6"/>
              </a:ext>
            </a:extLst>
          </a:blip>
          <a:stretch>
            <a:fillRect/>
          </a:stretch>
        </p:blipFill>
        <p:spPr>
          <a:xfrm>
            <a:off x="7745492" y="3037999"/>
            <a:ext cx="258485" cy="258485"/>
          </a:xfrm>
          <a:prstGeom prst="rect">
            <a:avLst/>
          </a:prstGeom>
        </p:spPr>
      </p:pic>
      <p:sp>
        <p:nvSpPr>
          <p:cNvPr id="17" name="Text 12"/>
          <p:cNvSpPr/>
          <p:nvPr/>
        </p:nvSpPr>
        <p:spPr>
          <a:xfrm>
            <a:off x="7587496" y="3616285"/>
            <a:ext cx="2394109" cy="299204"/>
          </a:xfrm>
          <a:prstGeom prst="rect">
            <a:avLst/>
          </a:prstGeom>
          <a:noFill/>
          <a:ln/>
        </p:spPr>
        <p:txBody>
          <a:bodyPr wrap="none" lIns="0" tIns="0" rIns="0" bIns="0" rtlCol="0" anchor="t"/>
          <a:lstStyle/>
          <a:p>
            <a:pPr marL="0" indent="0" algn="l">
              <a:lnSpc>
                <a:spcPts val="2350"/>
              </a:lnSpc>
              <a:buNone/>
            </a:pPr>
            <a:r>
              <a:rPr lang="en-US" sz="1850" dirty="0">
                <a:solidFill>
                  <a:srgbClr val="504C49"/>
                </a:solidFill>
                <a:latin typeface="Platypi Medium" pitchFamily="34" charset="0"/>
                <a:ea typeface="Platypi Medium" pitchFamily="34" charset="-122"/>
                <a:cs typeface="Platypi Medium" pitchFamily="34" charset="-120"/>
              </a:rPr>
              <a:t>Database: MongoDB</a:t>
            </a:r>
            <a:endParaRPr lang="en-US" sz="1850" dirty="0"/>
          </a:p>
        </p:txBody>
      </p:sp>
      <p:sp>
        <p:nvSpPr>
          <p:cNvPr id="18" name="Text 13"/>
          <p:cNvSpPr/>
          <p:nvPr/>
        </p:nvSpPr>
        <p:spPr>
          <a:xfrm>
            <a:off x="7587496" y="4012525"/>
            <a:ext cx="2799755" cy="565309"/>
          </a:xfrm>
          <a:prstGeom prst="rect">
            <a:avLst/>
          </a:prstGeom>
          <a:noFill/>
          <a:ln/>
        </p:spPr>
        <p:txBody>
          <a:bodyPr wrap="square" lIns="0" tIns="0" rIns="0" bIns="0" rtlCol="0" anchor="t"/>
          <a:lstStyle/>
          <a:p>
            <a:pPr marL="0" indent="0" algn="l">
              <a:lnSpc>
                <a:spcPts val="2200"/>
              </a:lnSpc>
              <a:buNone/>
            </a:pPr>
            <a:r>
              <a:rPr lang="en-US" sz="1500" dirty="0">
                <a:solidFill>
                  <a:srgbClr val="504C49"/>
                </a:solidFill>
                <a:latin typeface="Source Serif 4" pitchFamily="34" charset="0"/>
                <a:ea typeface="Source Serif 4" pitchFamily="34" charset="-122"/>
                <a:cs typeface="Source Serif 4" pitchFamily="34" charset="-120"/>
              </a:rPr>
              <a:t>For flexible, scalable data storage.</a:t>
            </a:r>
            <a:endParaRPr lang="en-US" sz="1500" dirty="0"/>
          </a:p>
        </p:txBody>
      </p:sp>
      <p:sp>
        <p:nvSpPr>
          <p:cNvPr id="19" name="Shape 14"/>
          <p:cNvSpPr/>
          <p:nvPr/>
        </p:nvSpPr>
        <p:spPr>
          <a:xfrm>
            <a:off x="10740390" y="2688550"/>
            <a:ext cx="3182779" cy="2097286"/>
          </a:xfrm>
          <a:prstGeom prst="roundRect">
            <a:avLst>
              <a:gd name="adj" fmla="val 1370"/>
            </a:avLst>
          </a:prstGeom>
          <a:solidFill>
            <a:srgbClr val="F9F7F7"/>
          </a:solidFill>
          <a:ln/>
        </p:spPr>
      </p:sp>
      <p:sp>
        <p:nvSpPr>
          <p:cNvPr id="20" name="Shape 15"/>
          <p:cNvSpPr/>
          <p:nvPr/>
        </p:nvSpPr>
        <p:spPr>
          <a:xfrm>
            <a:off x="10931843" y="2880003"/>
            <a:ext cx="574596" cy="574596"/>
          </a:xfrm>
          <a:prstGeom prst="roundRect">
            <a:avLst>
              <a:gd name="adj" fmla="val 15912198"/>
            </a:avLst>
          </a:prstGeom>
          <a:solidFill>
            <a:srgbClr val="3E2513"/>
          </a:solidFill>
          <a:ln/>
        </p:spPr>
      </p:sp>
      <p:pic>
        <p:nvPicPr>
          <p:cNvPr id="21" name="Image 3" descr="preencoded.png"/>
          <p:cNvPicPr>
            <a:picLocks noChangeAspect="1"/>
          </p:cNvPicPr>
          <p:nvPr/>
        </p:nvPicPr>
        <p:blipFill>
          <a:blip r:embed="rId3">
            <a:extLst>
              <a:ext uri="{96DAC541-7B7A-43D3-8B79-37D633B846F1}">
                <asvg:svgBlip xmlns="" xmlns:asvg="http://schemas.microsoft.com/office/drawing/2016/SVG/main" r:embed="rId8"/>
              </a:ext>
            </a:extLst>
          </a:blip>
          <a:stretch>
            <a:fillRect/>
          </a:stretch>
        </p:blipFill>
        <p:spPr>
          <a:xfrm>
            <a:off x="11089838" y="3037999"/>
            <a:ext cx="258485" cy="258485"/>
          </a:xfrm>
          <a:prstGeom prst="rect">
            <a:avLst/>
          </a:prstGeom>
        </p:spPr>
      </p:pic>
      <p:sp>
        <p:nvSpPr>
          <p:cNvPr id="22" name="Text 16"/>
          <p:cNvSpPr/>
          <p:nvPr/>
        </p:nvSpPr>
        <p:spPr>
          <a:xfrm>
            <a:off x="10931843" y="3616285"/>
            <a:ext cx="2499241" cy="299204"/>
          </a:xfrm>
          <a:prstGeom prst="rect">
            <a:avLst/>
          </a:prstGeom>
          <a:noFill/>
          <a:ln/>
        </p:spPr>
        <p:txBody>
          <a:bodyPr wrap="none" lIns="0" tIns="0" rIns="0" bIns="0" rtlCol="0" anchor="t"/>
          <a:lstStyle/>
          <a:p>
            <a:pPr marL="0" indent="0" algn="l">
              <a:lnSpc>
                <a:spcPts val="2350"/>
              </a:lnSpc>
              <a:buNone/>
            </a:pPr>
            <a:r>
              <a:rPr lang="en-US" sz="1850" dirty="0">
                <a:solidFill>
                  <a:srgbClr val="504C49"/>
                </a:solidFill>
                <a:latin typeface="Platypi Medium" pitchFamily="34" charset="0"/>
                <a:ea typeface="Platypi Medium" pitchFamily="34" charset="-122"/>
                <a:cs typeface="Platypi Medium" pitchFamily="34" charset="-120"/>
              </a:rPr>
              <a:t>Authentication: JWT</a:t>
            </a:r>
            <a:endParaRPr lang="en-US" sz="1850" dirty="0"/>
          </a:p>
        </p:txBody>
      </p:sp>
      <p:sp>
        <p:nvSpPr>
          <p:cNvPr id="23" name="Text 17"/>
          <p:cNvSpPr/>
          <p:nvPr/>
        </p:nvSpPr>
        <p:spPr>
          <a:xfrm>
            <a:off x="10931843" y="4012525"/>
            <a:ext cx="2799874" cy="282654"/>
          </a:xfrm>
          <a:prstGeom prst="rect">
            <a:avLst/>
          </a:prstGeom>
          <a:noFill/>
          <a:ln/>
        </p:spPr>
        <p:txBody>
          <a:bodyPr wrap="none" lIns="0" tIns="0" rIns="0" bIns="0" rtlCol="0" anchor="t"/>
          <a:lstStyle/>
          <a:p>
            <a:pPr marL="0" indent="0" algn="l">
              <a:lnSpc>
                <a:spcPts val="2200"/>
              </a:lnSpc>
              <a:buNone/>
            </a:pPr>
            <a:r>
              <a:rPr lang="en-US" sz="1500" dirty="0">
                <a:solidFill>
                  <a:srgbClr val="504C49"/>
                </a:solidFill>
                <a:latin typeface="Source Serif 4" pitchFamily="34" charset="0"/>
                <a:ea typeface="Source Serif 4" pitchFamily="34" charset="-122"/>
                <a:cs typeface="Source Serif 4" pitchFamily="34" charset="-120"/>
              </a:rPr>
              <a:t>For secure user verification.</a:t>
            </a:r>
            <a:endParaRPr lang="en-US" sz="1500" dirty="0"/>
          </a:p>
        </p:txBody>
      </p:sp>
      <p:sp>
        <p:nvSpPr>
          <p:cNvPr id="24" name="Shape 18"/>
          <p:cNvSpPr/>
          <p:nvPr/>
        </p:nvSpPr>
        <p:spPr>
          <a:xfrm>
            <a:off x="707231" y="4947523"/>
            <a:ext cx="13215938" cy="1798082"/>
          </a:xfrm>
          <a:prstGeom prst="roundRect">
            <a:avLst>
              <a:gd name="adj" fmla="val 1598"/>
            </a:avLst>
          </a:prstGeom>
          <a:solidFill>
            <a:srgbClr val="F9F7F7"/>
          </a:solidFill>
          <a:ln/>
        </p:spPr>
      </p:sp>
      <p:sp>
        <p:nvSpPr>
          <p:cNvPr id="25" name="Shape 19"/>
          <p:cNvSpPr/>
          <p:nvPr/>
        </p:nvSpPr>
        <p:spPr>
          <a:xfrm>
            <a:off x="898684" y="5138976"/>
            <a:ext cx="574596" cy="574596"/>
          </a:xfrm>
          <a:prstGeom prst="roundRect">
            <a:avLst>
              <a:gd name="adj" fmla="val 15912198"/>
            </a:avLst>
          </a:prstGeom>
          <a:solidFill>
            <a:srgbClr val="3E2513"/>
          </a:solidFill>
          <a:ln/>
        </p:spPr>
      </p:sp>
      <p:pic>
        <p:nvPicPr>
          <p:cNvPr id="26" name="Image 4" descr="preencoded.png"/>
          <p:cNvPicPr>
            <a:picLocks noChangeAspect="1"/>
          </p:cNvPicPr>
          <p:nvPr/>
        </p:nvPicPr>
        <p:blipFill>
          <a:blip r:embed="rId3">
            <a:extLst>
              <a:ext uri="{96DAC541-7B7A-43D3-8B79-37D633B846F1}">
                <asvg:svgBlip xmlns="" xmlns:asvg="http://schemas.microsoft.com/office/drawing/2016/SVG/main" r:embed="rId10"/>
              </a:ext>
            </a:extLst>
          </a:blip>
          <a:stretch>
            <a:fillRect/>
          </a:stretch>
        </p:blipFill>
        <p:spPr>
          <a:xfrm>
            <a:off x="1056680" y="5296972"/>
            <a:ext cx="258485" cy="258485"/>
          </a:xfrm>
          <a:prstGeom prst="rect">
            <a:avLst/>
          </a:prstGeom>
        </p:spPr>
      </p:pic>
      <p:sp>
        <p:nvSpPr>
          <p:cNvPr id="27" name="Text 20"/>
          <p:cNvSpPr/>
          <p:nvPr/>
        </p:nvSpPr>
        <p:spPr>
          <a:xfrm>
            <a:off x="898684" y="5875258"/>
            <a:ext cx="3852982" cy="299204"/>
          </a:xfrm>
          <a:prstGeom prst="rect">
            <a:avLst/>
          </a:prstGeom>
          <a:noFill/>
          <a:ln/>
        </p:spPr>
        <p:txBody>
          <a:bodyPr wrap="none" lIns="0" tIns="0" rIns="0" bIns="0" rtlCol="0" anchor="t"/>
          <a:lstStyle/>
          <a:p>
            <a:pPr marL="0" indent="0" algn="l">
              <a:lnSpc>
                <a:spcPts val="2350"/>
              </a:lnSpc>
              <a:buNone/>
            </a:pPr>
            <a:r>
              <a:rPr lang="en-US" sz="1850" dirty="0">
                <a:solidFill>
                  <a:srgbClr val="504C49"/>
                </a:solidFill>
                <a:latin typeface="Platypi Medium" pitchFamily="34" charset="0"/>
                <a:ea typeface="Platypi Medium" pitchFamily="34" charset="-122"/>
                <a:cs typeface="Platypi Medium" pitchFamily="34" charset="-120"/>
              </a:rPr>
              <a:t>Tools: VS Code, Postman, GitHub</a:t>
            </a:r>
            <a:endParaRPr lang="en-US" sz="1850" dirty="0"/>
          </a:p>
        </p:txBody>
      </p:sp>
      <p:sp>
        <p:nvSpPr>
          <p:cNvPr id="28" name="Text 21"/>
          <p:cNvSpPr/>
          <p:nvPr/>
        </p:nvSpPr>
        <p:spPr>
          <a:xfrm>
            <a:off x="898684" y="6271498"/>
            <a:ext cx="12833033" cy="282654"/>
          </a:xfrm>
          <a:prstGeom prst="rect">
            <a:avLst/>
          </a:prstGeom>
          <a:noFill/>
          <a:ln/>
        </p:spPr>
        <p:txBody>
          <a:bodyPr wrap="none" lIns="0" tIns="0" rIns="0" bIns="0" rtlCol="0" anchor="t"/>
          <a:lstStyle/>
          <a:p>
            <a:pPr marL="0" indent="0" algn="l">
              <a:lnSpc>
                <a:spcPts val="2200"/>
              </a:lnSpc>
              <a:buNone/>
            </a:pPr>
            <a:r>
              <a:rPr lang="en-US" sz="1500" dirty="0">
                <a:solidFill>
                  <a:srgbClr val="504C49"/>
                </a:solidFill>
                <a:latin typeface="Source Serif 4" pitchFamily="34" charset="0"/>
                <a:ea typeface="Source Serif 4" pitchFamily="34" charset="-122"/>
                <a:cs typeface="Source Serif 4" pitchFamily="34" charset="-120"/>
              </a:rPr>
              <a:t>For efficient development and collaboration.</a:t>
            </a:r>
            <a:endParaRPr lang="en-US" sz="1500" dirty="0"/>
          </a:p>
        </p:txBody>
      </p:sp>
      <p:sp>
        <p:nvSpPr>
          <p:cNvPr id="29" name="Text 22"/>
          <p:cNvSpPr/>
          <p:nvPr/>
        </p:nvSpPr>
        <p:spPr>
          <a:xfrm>
            <a:off x="707231" y="6927533"/>
            <a:ext cx="13215938" cy="282654"/>
          </a:xfrm>
          <a:prstGeom prst="rect">
            <a:avLst/>
          </a:prstGeom>
          <a:noFill/>
          <a:ln/>
        </p:spPr>
        <p:txBody>
          <a:bodyPr wrap="none" lIns="0" tIns="0" rIns="0" bIns="0" rtlCol="0" anchor="t"/>
          <a:lstStyle/>
          <a:p>
            <a:pPr marL="0" indent="0" algn="l">
              <a:lnSpc>
                <a:spcPts val="2200"/>
              </a:lnSpc>
              <a:buNone/>
            </a:pPr>
            <a:r>
              <a:rPr lang="en-US" sz="1500" dirty="0">
                <a:solidFill>
                  <a:srgbClr val="504C49"/>
                </a:solidFill>
                <a:latin typeface="Source Serif 4" pitchFamily="34" charset="0"/>
                <a:ea typeface="Source Serif 4" pitchFamily="34" charset="-122"/>
                <a:cs typeface="Source Serif 4" pitchFamily="34" charset="-120"/>
              </a:rPr>
              <a:t>This cutting-edge stack ensures a responsive, secure, and easily maintainable platform, capable of scaling with our growth.</a:t>
            </a:r>
            <a:endParaRPr lang="en-US" sz="1500" dirty="0"/>
          </a:p>
        </p:txBody>
      </p:sp>
    </p:spTree>
  </p:cSld>
  <p:clrMapOvr>
    <a:masterClrMapping/>
  </p:clrMapOvr>
  <p:transition spd="med">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2" name="Text 0"/>
          <p:cNvSpPr/>
          <p:nvPr/>
        </p:nvSpPr>
        <p:spPr>
          <a:xfrm>
            <a:off x="2556391" y="558165"/>
            <a:ext cx="6634401" cy="431006"/>
          </a:xfrm>
          <a:prstGeom prst="rect">
            <a:avLst/>
          </a:prstGeom>
          <a:noFill/>
          <a:ln/>
        </p:spPr>
        <p:txBody>
          <a:bodyPr wrap="none" lIns="0" tIns="0" rIns="0" bIns="0" rtlCol="0" anchor="t"/>
          <a:lstStyle/>
          <a:p>
            <a:pPr marL="0" indent="0" algn="l">
              <a:lnSpc>
                <a:spcPts val="3350"/>
              </a:lnSpc>
              <a:buNone/>
            </a:pPr>
            <a:r>
              <a:rPr lang="en-US" sz="2700" dirty="0">
                <a:solidFill>
                  <a:srgbClr val="201B18"/>
                </a:solidFill>
                <a:latin typeface="Platypi Medium" pitchFamily="34" charset="0"/>
                <a:ea typeface="Platypi Medium" pitchFamily="34" charset="-122"/>
                <a:cs typeface="Platypi Medium" pitchFamily="34" charset="-120"/>
              </a:rPr>
              <a:t>System Workflow: A Seamless Journey</a:t>
            </a:r>
            <a:endParaRPr lang="en-US" sz="2700" dirty="0"/>
          </a:p>
        </p:txBody>
      </p:sp>
      <p:sp>
        <p:nvSpPr>
          <p:cNvPr id="3" name="Text 1"/>
          <p:cNvSpPr/>
          <p:nvPr/>
        </p:nvSpPr>
        <p:spPr>
          <a:xfrm>
            <a:off x="2556391" y="1156930"/>
            <a:ext cx="9517499" cy="355044"/>
          </a:xfrm>
          <a:prstGeom prst="rect">
            <a:avLst/>
          </a:prstGeom>
          <a:noFill/>
          <a:ln/>
        </p:spPr>
        <p:txBody>
          <a:bodyPr wrap="square" lIns="0" tIns="0" rIns="0" bIns="0" rtlCol="0" anchor="t"/>
          <a:lstStyle/>
          <a:p>
            <a:pPr marL="0" indent="0" algn="l">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The HomeEase system is designed around a clear, intuitive workflow that orchestrates the interaction between customers, providers, and administrators, ensuring every service request is handled with precision and efficiency.</a:t>
            </a:r>
            <a:endParaRPr lang="en-US" sz="1050" dirty="0"/>
          </a:p>
        </p:txBody>
      </p:sp>
      <p:pic>
        <p:nvPicPr>
          <p:cNvPr id="4" name="Image 0" descr="preencoded.png"/>
          <p:cNvPicPr>
            <a:picLocks noChangeAspect="1"/>
          </p:cNvPicPr>
          <p:nvPr/>
        </p:nvPicPr>
        <p:blipFill>
          <a:blip r:embed="rId3"/>
          <a:stretch>
            <a:fillRect/>
          </a:stretch>
        </p:blipFill>
        <p:spPr>
          <a:xfrm>
            <a:off x="2556391" y="1606272"/>
            <a:ext cx="689610" cy="827603"/>
          </a:xfrm>
          <a:prstGeom prst="rect">
            <a:avLst/>
          </a:prstGeom>
        </p:spPr>
      </p:pic>
      <p:sp>
        <p:nvSpPr>
          <p:cNvPr id="5" name="Text 2"/>
          <p:cNvSpPr/>
          <p:nvPr/>
        </p:nvSpPr>
        <p:spPr>
          <a:xfrm>
            <a:off x="3329821" y="1744147"/>
            <a:ext cx="2184321" cy="215503"/>
          </a:xfrm>
          <a:prstGeom prst="rect">
            <a:avLst/>
          </a:prstGeom>
          <a:noFill/>
          <a:ln/>
        </p:spPr>
        <p:txBody>
          <a:bodyPr wrap="none" lIns="0" tIns="0" rIns="0" bIns="0" rtlCol="0" anchor="t"/>
          <a:lstStyle/>
          <a:p>
            <a:pPr marL="0" indent="0" algn="l">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User Registration &amp; Login</a:t>
            </a:r>
            <a:endParaRPr lang="en-US" sz="1350" dirty="0"/>
          </a:p>
        </p:txBody>
      </p:sp>
      <p:sp>
        <p:nvSpPr>
          <p:cNvPr id="6" name="Text 3"/>
          <p:cNvSpPr/>
          <p:nvPr/>
        </p:nvSpPr>
        <p:spPr>
          <a:xfrm>
            <a:off x="3329821" y="2009894"/>
            <a:ext cx="8744069" cy="177522"/>
          </a:xfrm>
          <a:prstGeom prst="rect">
            <a:avLst/>
          </a:prstGeom>
          <a:noFill/>
          <a:ln/>
        </p:spPr>
        <p:txBody>
          <a:bodyPr wrap="none" lIns="0" tIns="0" rIns="0" bIns="0" rtlCol="0" anchor="t"/>
          <a:lstStyle/>
          <a:p>
            <a:pPr marL="0" indent="0" algn="l">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Customers securely access the platform.</a:t>
            </a:r>
            <a:endParaRPr lang="en-US" sz="1050" dirty="0"/>
          </a:p>
        </p:txBody>
      </p:sp>
      <p:pic>
        <p:nvPicPr>
          <p:cNvPr id="7" name="Image 1" descr="preencoded.png"/>
          <p:cNvPicPr>
            <a:picLocks noChangeAspect="1"/>
          </p:cNvPicPr>
          <p:nvPr/>
        </p:nvPicPr>
        <p:blipFill>
          <a:blip r:embed="rId4"/>
          <a:stretch>
            <a:fillRect/>
          </a:stretch>
        </p:blipFill>
        <p:spPr>
          <a:xfrm>
            <a:off x="2556391" y="2433876"/>
            <a:ext cx="689610" cy="827603"/>
          </a:xfrm>
          <a:prstGeom prst="rect">
            <a:avLst/>
          </a:prstGeom>
        </p:spPr>
      </p:pic>
      <p:sp>
        <p:nvSpPr>
          <p:cNvPr id="8" name="Text 4"/>
          <p:cNvSpPr/>
          <p:nvPr/>
        </p:nvSpPr>
        <p:spPr>
          <a:xfrm>
            <a:off x="3329821" y="2571750"/>
            <a:ext cx="1724144" cy="215503"/>
          </a:xfrm>
          <a:prstGeom prst="rect">
            <a:avLst/>
          </a:prstGeom>
          <a:noFill/>
          <a:ln/>
        </p:spPr>
        <p:txBody>
          <a:bodyPr wrap="none" lIns="0" tIns="0" rIns="0" bIns="0" rtlCol="0" anchor="t"/>
          <a:lstStyle/>
          <a:p>
            <a:pPr marL="0" indent="0" algn="l">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Service Selection</a:t>
            </a:r>
            <a:endParaRPr lang="en-US" sz="1350" dirty="0"/>
          </a:p>
        </p:txBody>
      </p:sp>
      <p:sp>
        <p:nvSpPr>
          <p:cNvPr id="9" name="Text 5"/>
          <p:cNvSpPr/>
          <p:nvPr/>
        </p:nvSpPr>
        <p:spPr>
          <a:xfrm>
            <a:off x="3329821" y="2837498"/>
            <a:ext cx="8744069" cy="177522"/>
          </a:xfrm>
          <a:prstGeom prst="rect">
            <a:avLst/>
          </a:prstGeom>
          <a:noFill/>
          <a:ln/>
        </p:spPr>
        <p:txBody>
          <a:bodyPr wrap="none" lIns="0" tIns="0" rIns="0" bIns="0" rtlCol="0" anchor="t"/>
          <a:lstStyle/>
          <a:p>
            <a:pPr marL="0" indent="0" algn="l">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Customers browse and choose their desired service.</a:t>
            </a:r>
            <a:endParaRPr lang="en-US" sz="1050" dirty="0"/>
          </a:p>
        </p:txBody>
      </p:sp>
      <p:pic>
        <p:nvPicPr>
          <p:cNvPr id="10" name="Image 2" descr="preencoded.png"/>
          <p:cNvPicPr>
            <a:picLocks noChangeAspect="1"/>
          </p:cNvPicPr>
          <p:nvPr/>
        </p:nvPicPr>
        <p:blipFill>
          <a:blip r:embed="rId5"/>
          <a:stretch>
            <a:fillRect/>
          </a:stretch>
        </p:blipFill>
        <p:spPr>
          <a:xfrm>
            <a:off x="2556391" y="3261479"/>
            <a:ext cx="689610" cy="827603"/>
          </a:xfrm>
          <a:prstGeom prst="rect">
            <a:avLst/>
          </a:prstGeom>
        </p:spPr>
      </p:pic>
      <p:sp>
        <p:nvSpPr>
          <p:cNvPr id="11" name="Text 6"/>
          <p:cNvSpPr/>
          <p:nvPr/>
        </p:nvSpPr>
        <p:spPr>
          <a:xfrm>
            <a:off x="3329821" y="3399353"/>
            <a:ext cx="2463879" cy="215503"/>
          </a:xfrm>
          <a:prstGeom prst="rect">
            <a:avLst/>
          </a:prstGeom>
          <a:noFill/>
          <a:ln/>
        </p:spPr>
        <p:txBody>
          <a:bodyPr wrap="none" lIns="0" tIns="0" rIns="0" bIns="0" rtlCol="0" anchor="t"/>
          <a:lstStyle/>
          <a:p>
            <a:pPr marL="0" indent="0" algn="l">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Booking Request Submission</a:t>
            </a:r>
            <a:endParaRPr lang="en-US" sz="1350" dirty="0"/>
          </a:p>
        </p:txBody>
      </p:sp>
      <p:sp>
        <p:nvSpPr>
          <p:cNvPr id="12" name="Text 7"/>
          <p:cNvSpPr/>
          <p:nvPr/>
        </p:nvSpPr>
        <p:spPr>
          <a:xfrm>
            <a:off x="3329821" y="3665101"/>
            <a:ext cx="8744069" cy="177522"/>
          </a:xfrm>
          <a:prstGeom prst="rect">
            <a:avLst/>
          </a:prstGeom>
          <a:noFill/>
          <a:ln/>
        </p:spPr>
        <p:txBody>
          <a:bodyPr wrap="none" lIns="0" tIns="0" rIns="0" bIns="0" rtlCol="0" anchor="t"/>
          <a:lstStyle/>
          <a:p>
            <a:pPr marL="0" indent="0" algn="l">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Customer initiates a service booking.</a:t>
            </a:r>
            <a:endParaRPr lang="en-US" sz="1050" dirty="0"/>
          </a:p>
        </p:txBody>
      </p:sp>
      <p:pic>
        <p:nvPicPr>
          <p:cNvPr id="13" name="Image 3" descr="preencoded.png"/>
          <p:cNvPicPr>
            <a:picLocks noChangeAspect="1"/>
          </p:cNvPicPr>
          <p:nvPr/>
        </p:nvPicPr>
        <p:blipFill>
          <a:blip r:embed="rId6"/>
          <a:stretch>
            <a:fillRect/>
          </a:stretch>
        </p:blipFill>
        <p:spPr>
          <a:xfrm>
            <a:off x="2556391" y="4089083"/>
            <a:ext cx="689610" cy="827603"/>
          </a:xfrm>
          <a:prstGeom prst="rect">
            <a:avLst/>
          </a:prstGeom>
        </p:spPr>
      </p:pic>
      <p:sp>
        <p:nvSpPr>
          <p:cNvPr id="14" name="Text 8"/>
          <p:cNvSpPr/>
          <p:nvPr/>
        </p:nvSpPr>
        <p:spPr>
          <a:xfrm>
            <a:off x="3329821" y="4226957"/>
            <a:ext cx="1724144" cy="215503"/>
          </a:xfrm>
          <a:prstGeom prst="rect">
            <a:avLst/>
          </a:prstGeom>
          <a:noFill/>
          <a:ln/>
        </p:spPr>
        <p:txBody>
          <a:bodyPr wrap="none" lIns="0" tIns="0" rIns="0" bIns="0" rtlCol="0" anchor="t"/>
          <a:lstStyle/>
          <a:p>
            <a:pPr marL="0" indent="0" algn="l">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Admin Assignment</a:t>
            </a:r>
            <a:endParaRPr lang="en-US" sz="1350" dirty="0"/>
          </a:p>
        </p:txBody>
      </p:sp>
      <p:sp>
        <p:nvSpPr>
          <p:cNvPr id="15" name="Text 9"/>
          <p:cNvSpPr/>
          <p:nvPr/>
        </p:nvSpPr>
        <p:spPr>
          <a:xfrm>
            <a:off x="3329821" y="4492704"/>
            <a:ext cx="8744069" cy="177522"/>
          </a:xfrm>
          <a:prstGeom prst="rect">
            <a:avLst/>
          </a:prstGeom>
          <a:noFill/>
          <a:ln/>
        </p:spPr>
        <p:txBody>
          <a:bodyPr wrap="none" lIns="0" tIns="0" rIns="0" bIns="0" rtlCol="0" anchor="t"/>
          <a:lstStyle/>
          <a:p>
            <a:pPr marL="0" indent="0" algn="l">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Administrator allocates a suitable provider.</a:t>
            </a:r>
            <a:endParaRPr lang="en-US" sz="1050" dirty="0"/>
          </a:p>
        </p:txBody>
      </p:sp>
      <p:pic>
        <p:nvPicPr>
          <p:cNvPr id="16" name="Image 4" descr="preencoded.png"/>
          <p:cNvPicPr>
            <a:picLocks noChangeAspect="1"/>
          </p:cNvPicPr>
          <p:nvPr/>
        </p:nvPicPr>
        <p:blipFill>
          <a:blip r:embed="rId7"/>
          <a:stretch>
            <a:fillRect/>
          </a:stretch>
        </p:blipFill>
        <p:spPr>
          <a:xfrm>
            <a:off x="2556391" y="4916686"/>
            <a:ext cx="689610" cy="827603"/>
          </a:xfrm>
          <a:prstGeom prst="rect">
            <a:avLst/>
          </a:prstGeom>
        </p:spPr>
      </p:pic>
      <p:sp>
        <p:nvSpPr>
          <p:cNvPr id="17" name="Text 10"/>
          <p:cNvSpPr/>
          <p:nvPr/>
        </p:nvSpPr>
        <p:spPr>
          <a:xfrm>
            <a:off x="3329821" y="5054560"/>
            <a:ext cx="1724620" cy="215503"/>
          </a:xfrm>
          <a:prstGeom prst="rect">
            <a:avLst/>
          </a:prstGeom>
          <a:noFill/>
          <a:ln/>
        </p:spPr>
        <p:txBody>
          <a:bodyPr wrap="none" lIns="0" tIns="0" rIns="0" bIns="0" rtlCol="0" anchor="t"/>
          <a:lstStyle/>
          <a:p>
            <a:pPr marL="0" indent="0" algn="l">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Provider Acceptance</a:t>
            </a:r>
            <a:endParaRPr lang="en-US" sz="1350" dirty="0"/>
          </a:p>
        </p:txBody>
      </p:sp>
      <p:sp>
        <p:nvSpPr>
          <p:cNvPr id="18" name="Text 11"/>
          <p:cNvSpPr/>
          <p:nvPr/>
        </p:nvSpPr>
        <p:spPr>
          <a:xfrm>
            <a:off x="3329821" y="5320308"/>
            <a:ext cx="8744069" cy="177522"/>
          </a:xfrm>
          <a:prstGeom prst="rect">
            <a:avLst/>
          </a:prstGeom>
          <a:noFill/>
          <a:ln/>
        </p:spPr>
        <p:txBody>
          <a:bodyPr wrap="none" lIns="0" tIns="0" rIns="0" bIns="0" rtlCol="0" anchor="t"/>
          <a:lstStyle/>
          <a:p>
            <a:pPr marL="0" indent="0" algn="l">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Assigned provider confirms the booking.</a:t>
            </a:r>
            <a:endParaRPr lang="en-US" sz="1050" dirty="0"/>
          </a:p>
        </p:txBody>
      </p:sp>
      <p:pic>
        <p:nvPicPr>
          <p:cNvPr id="19" name="Image 5" descr="preencoded.png"/>
          <p:cNvPicPr>
            <a:picLocks noChangeAspect="1"/>
          </p:cNvPicPr>
          <p:nvPr/>
        </p:nvPicPr>
        <p:blipFill>
          <a:blip r:embed="rId8"/>
          <a:stretch>
            <a:fillRect/>
          </a:stretch>
        </p:blipFill>
        <p:spPr>
          <a:xfrm>
            <a:off x="2556391" y="5744289"/>
            <a:ext cx="689610" cy="827603"/>
          </a:xfrm>
          <a:prstGeom prst="rect">
            <a:avLst/>
          </a:prstGeom>
        </p:spPr>
      </p:pic>
      <p:sp>
        <p:nvSpPr>
          <p:cNvPr id="20" name="Text 12"/>
          <p:cNvSpPr/>
          <p:nvPr/>
        </p:nvSpPr>
        <p:spPr>
          <a:xfrm>
            <a:off x="3329821" y="5882164"/>
            <a:ext cx="1724144" cy="215503"/>
          </a:xfrm>
          <a:prstGeom prst="rect">
            <a:avLst/>
          </a:prstGeom>
          <a:noFill/>
          <a:ln/>
        </p:spPr>
        <p:txBody>
          <a:bodyPr wrap="none" lIns="0" tIns="0" rIns="0" bIns="0" rtlCol="0" anchor="t"/>
          <a:lstStyle/>
          <a:p>
            <a:pPr marL="0" indent="0" algn="l">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Service Completion</a:t>
            </a:r>
            <a:endParaRPr lang="en-US" sz="1350" dirty="0"/>
          </a:p>
        </p:txBody>
      </p:sp>
      <p:sp>
        <p:nvSpPr>
          <p:cNvPr id="21" name="Text 13"/>
          <p:cNvSpPr/>
          <p:nvPr/>
        </p:nvSpPr>
        <p:spPr>
          <a:xfrm>
            <a:off x="3329821" y="6147911"/>
            <a:ext cx="8744069" cy="177522"/>
          </a:xfrm>
          <a:prstGeom prst="rect">
            <a:avLst/>
          </a:prstGeom>
          <a:noFill/>
          <a:ln/>
        </p:spPr>
        <p:txBody>
          <a:bodyPr wrap="none" lIns="0" tIns="0" rIns="0" bIns="0" rtlCol="0" anchor="t"/>
          <a:lstStyle/>
          <a:p>
            <a:pPr marL="0" indent="0" algn="l">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Provider successfully delivers the service.</a:t>
            </a:r>
            <a:endParaRPr lang="en-US" sz="1050" dirty="0"/>
          </a:p>
        </p:txBody>
      </p:sp>
      <p:pic>
        <p:nvPicPr>
          <p:cNvPr id="22" name="Image 6" descr="preencoded.png"/>
          <p:cNvPicPr>
            <a:picLocks noChangeAspect="1"/>
          </p:cNvPicPr>
          <p:nvPr/>
        </p:nvPicPr>
        <p:blipFill>
          <a:blip r:embed="rId9"/>
          <a:stretch>
            <a:fillRect/>
          </a:stretch>
        </p:blipFill>
        <p:spPr>
          <a:xfrm>
            <a:off x="2556391" y="6571893"/>
            <a:ext cx="689610" cy="827603"/>
          </a:xfrm>
          <a:prstGeom prst="rect">
            <a:avLst/>
          </a:prstGeom>
        </p:spPr>
      </p:pic>
      <p:sp>
        <p:nvSpPr>
          <p:cNvPr id="23" name="Text 14"/>
          <p:cNvSpPr/>
          <p:nvPr/>
        </p:nvSpPr>
        <p:spPr>
          <a:xfrm>
            <a:off x="3329821" y="6709767"/>
            <a:ext cx="1724144" cy="215503"/>
          </a:xfrm>
          <a:prstGeom prst="rect">
            <a:avLst/>
          </a:prstGeom>
          <a:noFill/>
          <a:ln/>
        </p:spPr>
        <p:txBody>
          <a:bodyPr wrap="none" lIns="0" tIns="0" rIns="0" bIns="0" rtlCol="0" anchor="t"/>
          <a:lstStyle/>
          <a:p>
            <a:pPr marL="0" indent="0" algn="l">
              <a:lnSpc>
                <a:spcPts val="1650"/>
              </a:lnSpc>
              <a:buNone/>
            </a:pPr>
            <a:r>
              <a:rPr lang="en-US" sz="1350" dirty="0">
                <a:solidFill>
                  <a:srgbClr val="504C49"/>
                </a:solidFill>
                <a:latin typeface="Platypi Medium" pitchFamily="34" charset="0"/>
                <a:ea typeface="Platypi Medium" pitchFamily="34" charset="-122"/>
                <a:cs typeface="Platypi Medium" pitchFamily="34" charset="-120"/>
              </a:rPr>
              <a:t>User Feedback</a:t>
            </a:r>
            <a:endParaRPr lang="en-US" sz="1350" dirty="0"/>
          </a:p>
        </p:txBody>
      </p:sp>
      <p:sp>
        <p:nvSpPr>
          <p:cNvPr id="24" name="Text 15"/>
          <p:cNvSpPr/>
          <p:nvPr/>
        </p:nvSpPr>
        <p:spPr>
          <a:xfrm>
            <a:off x="3329821" y="6975515"/>
            <a:ext cx="8744069" cy="177522"/>
          </a:xfrm>
          <a:prstGeom prst="rect">
            <a:avLst/>
          </a:prstGeom>
          <a:noFill/>
          <a:ln/>
        </p:spPr>
        <p:txBody>
          <a:bodyPr wrap="none" lIns="0" tIns="0" rIns="0" bIns="0" rtlCol="0" anchor="t"/>
          <a:lstStyle/>
          <a:p>
            <a:pPr marL="0" indent="0" algn="l">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Customer provides valuable input on the service.</a:t>
            </a:r>
            <a:endParaRPr lang="en-US" sz="1050" dirty="0"/>
          </a:p>
        </p:txBody>
      </p:sp>
      <p:sp>
        <p:nvSpPr>
          <p:cNvPr id="25" name="Text 16"/>
          <p:cNvSpPr/>
          <p:nvPr/>
        </p:nvSpPr>
        <p:spPr>
          <a:xfrm>
            <a:off x="2556391" y="7493794"/>
            <a:ext cx="9517499" cy="177522"/>
          </a:xfrm>
          <a:prstGeom prst="rect">
            <a:avLst/>
          </a:prstGeom>
          <a:noFill/>
          <a:ln/>
        </p:spPr>
        <p:txBody>
          <a:bodyPr wrap="none" lIns="0" tIns="0" rIns="0" bIns="0" rtlCol="0" anchor="t"/>
          <a:lstStyle/>
          <a:p>
            <a:pPr marL="0" indent="0" algn="l">
              <a:lnSpc>
                <a:spcPts val="1350"/>
              </a:lnSpc>
              <a:buNone/>
            </a:pPr>
            <a:r>
              <a:rPr lang="en-US" sz="1050" dirty="0">
                <a:solidFill>
                  <a:srgbClr val="504C49"/>
                </a:solidFill>
                <a:latin typeface="Source Serif 4" pitchFamily="34" charset="0"/>
                <a:ea typeface="Source Serif 4" pitchFamily="34" charset="-122"/>
                <a:cs typeface="Source Serif 4" pitchFamily="34" charset="-120"/>
              </a:rPr>
              <a:t>This structured process ensures transparent communication and coordinated effort, leading to superior service delivery.</a:t>
            </a:r>
            <a:endParaRPr lang="en-US" sz="1050"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2" name="Text 0"/>
          <p:cNvSpPr/>
          <p:nvPr/>
        </p:nvSpPr>
        <p:spPr>
          <a:xfrm>
            <a:off x="715089" y="771882"/>
            <a:ext cx="9690854" cy="638413"/>
          </a:xfrm>
          <a:prstGeom prst="rect">
            <a:avLst/>
          </a:prstGeom>
          <a:noFill/>
          <a:ln/>
        </p:spPr>
        <p:txBody>
          <a:bodyPr wrap="none" lIns="0" tIns="0" rIns="0" bIns="0" rtlCol="0" anchor="t"/>
          <a:lstStyle/>
          <a:p>
            <a:pPr marL="0" indent="0" algn="l">
              <a:lnSpc>
                <a:spcPts val="5000"/>
              </a:lnSpc>
              <a:buNone/>
            </a:pPr>
            <a:r>
              <a:rPr lang="en-US" sz="4000" dirty="0">
                <a:solidFill>
                  <a:srgbClr val="201B18"/>
                </a:solidFill>
                <a:latin typeface="Platypi Medium" pitchFamily="34" charset="0"/>
                <a:ea typeface="Platypi Medium" pitchFamily="34" charset="-122"/>
                <a:cs typeface="Platypi Medium" pitchFamily="34" charset="-120"/>
              </a:rPr>
              <a:t>Project Timeline: Delivering HomeEase</a:t>
            </a:r>
            <a:endParaRPr lang="en-US" sz="4000" dirty="0"/>
          </a:p>
        </p:txBody>
      </p:sp>
      <p:sp>
        <p:nvSpPr>
          <p:cNvPr id="3" name="Text 1"/>
          <p:cNvSpPr/>
          <p:nvPr/>
        </p:nvSpPr>
        <p:spPr>
          <a:xfrm>
            <a:off x="715089" y="1778318"/>
            <a:ext cx="13200221" cy="931902"/>
          </a:xfrm>
          <a:prstGeom prst="rect">
            <a:avLst/>
          </a:prstGeom>
          <a:noFill/>
          <a:ln/>
        </p:spPr>
        <p:txBody>
          <a:bodyPr wrap="squar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Our development schedule is carefully planned to ensure timely delivery of HomeEase, with each phase allocated sufficient time for thorough execution and quality assurance. The entire project is slated for completion within </a:t>
            </a:r>
            <a:r>
              <a:rPr lang="en-US" sz="1600" dirty="0" smtClean="0">
                <a:solidFill>
                  <a:srgbClr val="504C49"/>
                </a:solidFill>
                <a:latin typeface="Source Serif 4" pitchFamily="34" charset="0"/>
                <a:ea typeface="Source Serif 4" pitchFamily="34" charset="-122"/>
                <a:cs typeface="Source Serif 4" pitchFamily="34" charset="-120"/>
              </a:rPr>
              <a:t>9 Weeks, </a:t>
            </a:r>
            <a:r>
              <a:rPr lang="en-US" sz="1600" dirty="0">
                <a:solidFill>
                  <a:srgbClr val="504C49"/>
                </a:solidFill>
                <a:latin typeface="Source Serif 4" pitchFamily="34" charset="0"/>
                <a:ea typeface="Source Serif 4" pitchFamily="34" charset="-122"/>
                <a:cs typeface="Source Serif 4" pitchFamily="34" charset="-120"/>
              </a:rPr>
              <a:t>reflecting our commitment to efficiency.</a:t>
            </a:r>
            <a:endParaRPr lang="en-US" sz="1600" dirty="0"/>
          </a:p>
        </p:txBody>
      </p:sp>
      <p:sp>
        <p:nvSpPr>
          <p:cNvPr id="4" name="Shape 2"/>
          <p:cNvSpPr/>
          <p:nvPr/>
        </p:nvSpPr>
        <p:spPr>
          <a:xfrm>
            <a:off x="715089" y="2917150"/>
            <a:ext cx="13200221" cy="3294936"/>
          </a:xfrm>
          <a:prstGeom prst="roundRect">
            <a:avLst>
              <a:gd name="adj" fmla="val 930"/>
            </a:avLst>
          </a:prstGeom>
          <a:noFill/>
          <a:ln w="7620">
            <a:solidFill>
              <a:srgbClr val="000000">
                <a:alpha val="8000"/>
              </a:srgbClr>
            </a:solidFill>
            <a:prstDash val="solid"/>
          </a:ln>
        </p:spPr>
      </p:sp>
      <p:sp>
        <p:nvSpPr>
          <p:cNvPr id="5" name="Shape 3"/>
          <p:cNvSpPr/>
          <p:nvPr/>
        </p:nvSpPr>
        <p:spPr>
          <a:xfrm>
            <a:off x="722709" y="2924770"/>
            <a:ext cx="13184981" cy="546616"/>
          </a:xfrm>
          <a:prstGeom prst="rect">
            <a:avLst/>
          </a:prstGeom>
          <a:solidFill>
            <a:srgbClr val="FFFFFF">
              <a:alpha val="4000"/>
            </a:srgbClr>
          </a:solidFill>
          <a:ln/>
        </p:spPr>
      </p:sp>
      <p:sp>
        <p:nvSpPr>
          <p:cNvPr id="6" name="Text 4"/>
          <p:cNvSpPr/>
          <p:nvPr/>
        </p:nvSpPr>
        <p:spPr>
          <a:xfrm>
            <a:off x="927021" y="3042761"/>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Requirement Analysis</a:t>
            </a:r>
            <a:endParaRPr lang="en-US" sz="1600" dirty="0"/>
          </a:p>
        </p:txBody>
      </p:sp>
      <p:sp>
        <p:nvSpPr>
          <p:cNvPr id="7" name="Text 5"/>
          <p:cNvSpPr/>
          <p:nvPr/>
        </p:nvSpPr>
        <p:spPr>
          <a:xfrm>
            <a:off x="7523321" y="3042761"/>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1</a:t>
            </a:r>
            <a:r>
              <a:rPr lang="en-US" sz="1600" dirty="0" smtClean="0">
                <a:solidFill>
                  <a:srgbClr val="504C49"/>
                </a:solidFill>
                <a:latin typeface="Source Serif 4" pitchFamily="34" charset="0"/>
                <a:ea typeface="Source Serif 4" pitchFamily="34" charset="-122"/>
                <a:cs typeface="Source Serif 4" pitchFamily="34" charset="-120"/>
              </a:rPr>
              <a:t> Week</a:t>
            </a:r>
            <a:endParaRPr lang="en-US" sz="1600" dirty="0"/>
          </a:p>
        </p:txBody>
      </p:sp>
      <p:sp>
        <p:nvSpPr>
          <p:cNvPr id="8" name="Shape 6"/>
          <p:cNvSpPr/>
          <p:nvPr/>
        </p:nvSpPr>
        <p:spPr>
          <a:xfrm>
            <a:off x="722709" y="3471386"/>
            <a:ext cx="13184981" cy="546616"/>
          </a:xfrm>
          <a:prstGeom prst="rect">
            <a:avLst/>
          </a:prstGeom>
          <a:solidFill>
            <a:srgbClr val="000000">
              <a:alpha val="4000"/>
            </a:srgbClr>
          </a:solidFill>
          <a:ln/>
        </p:spPr>
      </p:sp>
      <p:sp>
        <p:nvSpPr>
          <p:cNvPr id="9" name="Text 7"/>
          <p:cNvSpPr/>
          <p:nvPr/>
        </p:nvSpPr>
        <p:spPr>
          <a:xfrm>
            <a:off x="927021" y="3589377"/>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System Design</a:t>
            </a:r>
            <a:endParaRPr lang="en-US" sz="1600" dirty="0"/>
          </a:p>
        </p:txBody>
      </p:sp>
      <p:sp>
        <p:nvSpPr>
          <p:cNvPr id="10" name="Text 8"/>
          <p:cNvSpPr/>
          <p:nvPr/>
        </p:nvSpPr>
        <p:spPr>
          <a:xfrm>
            <a:off x="7523321" y="3589377"/>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1</a:t>
            </a:r>
            <a:r>
              <a:rPr lang="en-US" sz="1600" dirty="0" smtClean="0">
                <a:solidFill>
                  <a:srgbClr val="504C49"/>
                </a:solidFill>
                <a:latin typeface="Source Serif 4" pitchFamily="34" charset="0"/>
                <a:ea typeface="Source Serif 4" pitchFamily="34" charset="-122"/>
                <a:cs typeface="Source Serif 4" pitchFamily="34" charset="-120"/>
              </a:rPr>
              <a:t> Weeks</a:t>
            </a:r>
            <a:endParaRPr lang="en-US" sz="1600" dirty="0"/>
          </a:p>
        </p:txBody>
      </p:sp>
      <p:sp>
        <p:nvSpPr>
          <p:cNvPr id="11" name="Shape 9"/>
          <p:cNvSpPr/>
          <p:nvPr/>
        </p:nvSpPr>
        <p:spPr>
          <a:xfrm>
            <a:off x="722709" y="4018002"/>
            <a:ext cx="13184981" cy="546616"/>
          </a:xfrm>
          <a:prstGeom prst="rect">
            <a:avLst/>
          </a:prstGeom>
          <a:solidFill>
            <a:srgbClr val="FFFFFF">
              <a:alpha val="4000"/>
            </a:srgbClr>
          </a:solidFill>
          <a:ln/>
        </p:spPr>
      </p:sp>
      <p:sp>
        <p:nvSpPr>
          <p:cNvPr id="12" name="Text 10"/>
          <p:cNvSpPr/>
          <p:nvPr/>
        </p:nvSpPr>
        <p:spPr>
          <a:xfrm>
            <a:off x="927021" y="4135993"/>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Backend Development</a:t>
            </a:r>
            <a:endParaRPr lang="en-US" sz="1600" dirty="0"/>
          </a:p>
        </p:txBody>
      </p:sp>
      <p:sp>
        <p:nvSpPr>
          <p:cNvPr id="13" name="Text 11"/>
          <p:cNvSpPr/>
          <p:nvPr/>
        </p:nvSpPr>
        <p:spPr>
          <a:xfrm>
            <a:off x="7523321" y="4135993"/>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3</a:t>
            </a:r>
            <a:r>
              <a:rPr lang="en-US" sz="1600" dirty="0" smtClean="0">
                <a:solidFill>
                  <a:srgbClr val="504C49"/>
                </a:solidFill>
                <a:latin typeface="Source Serif 4" pitchFamily="34" charset="0"/>
                <a:ea typeface="Source Serif 4" pitchFamily="34" charset="-122"/>
                <a:cs typeface="Source Serif 4" pitchFamily="34" charset="-120"/>
              </a:rPr>
              <a:t> Weeks</a:t>
            </a:r>
            <a:endParaRPr lang="en-US" sz="1600" dirty="0"/>
          </a:p>
        </p:txBody>
      </p:sp>
      <p:sp>
        <p:nvSpPr>
          <p:cNvPr id="14" name="Shape 12"/>
          <p:cNvSpPr/>
          <p:nvPr/>
        </p:nvSpPr>
        <p:spPr>
          <a:xfrm>
            <a:off x="722709" y="4564618"/>
            <a:ext cx="13184981" cy="546616"/>
          </a:xfrm>
          <a:prstGeom prst="rect">
            <a:avLst/>
          </a:prstGeom>
          <a:solidFill>
            <a:srgbClr val="000000">
              <a:alpha val="4000"/>
            </a:srgbClr>
          </a:solidFill>
          <a:ln/>
        </p:spPr>
      </p:sp>
      <p:sp>
        <p:nvSpPr>
          <p:cNvPr id="15" name="Text 13"/>
          <p:cNvSpPr/>
          <p:nvPr/>
        </p:nvSpPr>
        <p:spPr>
          <a:xfrm>
            <a:off x="927021" y="4682609"/>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Frontend Development</a:t>
            </a:r>
            <a:endParaRPr lang="en-US" sz="1600" dirty="0"/>
          </a:p>
        </p:txBody>
      </p:sp>
      <p:sp>
        <p:nvSpPr>
          <p:cNvPr id="16" name="Text 14"/>
          <p:cNvSpPr/>
          <p:nvPr/>
        </p:nvSpPr>
        <p:spPr>
          <a:xfrm>
            <a:off x="7523321" y="4682609"/>
            <a:ext cx="6180058" cy="310634"/>
          </a:xfrm>
          <a:prstGeom prst="rect">
            <a:avLst/>
          </a:prstGeom>
          <a:noFill/>
          <a:ln/>
        </p:spPr>
        <p:txBody>
          <a:bodyPr wrap="none" lIns="0" tIns="0" rIns="0" bIns="0" rtlCol="0" anchor="t"/>
          <a:lstStyle/>
          <a:p>
            <a:pPr>
              <a:lnSpc>
                <a:spcPts val="2400"/>
              </a:lnSpc>
            </a:pPr>
            <a:r>
              <a:rPr lang="en-US" sz="1600" dirty="0" smtClean="0">
                <a:solidFill>
                  <a:srgbClr val="504C49"/>
                </a:solidFill>
                <a:latin typeface="Source Serif 4" pitchFamily="34" charset="0"/>
                <a:ea typeface="Source Serif 4" pitchFamily="34" charset="-122"/>
                <a:cs typeface="Source Serif 4" pitchFamily="34" charset="-120"/>
              </a:rPr>
              <a:t>3 Weeks</a:t>
            </a:r>
            <a:endParaRPr lang="en-US" sz="1600" dirty="0"/>
          </a:p>
        </p:txBody>
      </p:sp>
      <p:sp>
        <p:nvSpPr>
          <p:cNvPr id="17" name="Shape 15"/>
          <p:cNvSpPr/>
          <p:nvPr/>
        </p:nvSpPr>
        <p:spPr>
          <a:xfrm>
            <a:off x="722709" y="5111234"/>
            <a:ext cx="13184981" cy="546616"/>
          </a:xfrm>
          <a:prstGeom prst="rect">
            <a:avLst/>
          </a:prstGeom>
          <a:solidFill>
            <a:srgbClr val="FFFFFF">
              <a:alpha val="4000"/>
            </a:srgbClr>
          </a:solidFill>
          <a:ln/>
        </p:spPr>
      </p:sp>
      <p:sp>
        <p:nvSpPr>
          <p:cNvPr id="18" name="Text 16"/>
          <p:cNvSpPr/>
          <p:nvPr/>
        </p:nvSpPr>
        <p:spPr>
          <a:xfrm>
            <a:off x="927021" y="5229225"/>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Testing</a:t>
            </a:r>
            <a:endParaRPr lang="en-US" sz="1600" dirty="0"/>
          </a:p>
        </p:txBody>
      </p:sp>
      <p:sp>
        <p:nvSpPr>
          <p:cNvPr id="19" name="Text 17"/>
          <p:cNvSpPr/>
          <p:nvPr/>
        </p:nvSpPr>
        <p:spPr>
          <a:xfrm>
            <a:off x="7523321" y="5229225"/>
            <a:ext cx="6180058" cy="310634"/>
          </a:xfrm>
          <a:prstGeom prst="rect">
            <a:avLst/>
          </a:prstGeom>
          <a:noFill/>
          <a:ln/>
        </p:spPr>
        <p:txBody>
          <a:bodyPr wrap="none" lIns="0" tIns="0" rIns="0" bIns="0" rtlCol="0" anchor="t"/>
          <a:lstStyle/>
          <a:p>
            <a:pPr marL="0" indent="0" algn="l">
              <a:lnSpc>
                <a:spcPts val="2400"/>
              </a:lnSpc>
              <a:buNone/>
            </a:pPr>
            <a:r>
              <a:rPr lang="en-US" sz="1600" dirty="0" smtClean="0">
                <a:solidFill>
                  <a:srgbClr val="504C49"/>
                </a:solidFill>
                <a:latin typeface="Source Serif 4" pitchFamily="34" charset="0"/>
                <a:ea typeface="Source Serif 4" pitchFamily="34" charset="-122"/>
              </a:rPr>
              <a:t>1 Week</a:t>
            </a:r>
            <a:endParaRPr lang="en-US" sz="1600" dirty="0"/>
          </a:p>
        </p:txBody>
      </p:sp>
      <p:sp>
        <p:nvSpPr>
          <p:cNvPr id="20" name="Shape 18"/>
          <p:cNvSpPr/>
          <p:nvPr/>
        </p:nvSpPr>
        <p:spPr>
          <a:xfrm>
            <a:off x="722709" y="5657850"/>
            <a:ext cx="13184981" cy="546616"/>
          </a:xfrm>
          <a:prstGeom prst="rect">
            <a:avLst/>
          </a:prstGeom>
          <a:solidFill>
            <a:srgbClr val="000000">
              <a:alpha val="4000"/>
            </a:srgbClr>
          </a:solidFill>
          <a:ln/>
        </p:spPr>
      </p:sp>
      <p:sp>
        <p:nvSpPr>
          <p:cNvPr id="21" name="Text 19"/>
          <p:cNvSpPr/>
          <p:nvPr/>
        </p:nvSpPr>
        <p:spPr>
          <a:xfrm>
            <a:off x="927021" y="5775841"/>
            <a:ext cx="6180058"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Documentation</a:t>
            </a:r>
            <a:endParaRPr lang="en-US" sz="1600" dirty="0"/>
          </a:p>
        </p:txBody>
      </p:sp>
      <p:sp>
        <p:nvSpPr>
          <p:cNvPr id="22" name="Text 20"/>
          <p:cNvSpPr/>
          <p:nvPr/>
        </p:nvSpPr>
        <p:spPr>
          <a:xfrm>
            <a:off x="7523321" y="5775841"/>
            <a:ext cx="6180058" cy="310634"/>
          </a:xfrm>
          <a:prstGeom prst="rect">
            <a:avLst/>
          </a:prstGeom>
          <a:noFill/>
          <a:ln/>
        </p:spPr>
        <p:txBody>
          <a:bodyPr wrap="none" lIns="0" tIns="0" rIns="0" bIns="0" rtlCol="0" anchor="t"/>
          <a:lstStyle/>
          <a:p>
            <a:pPr marL="0" indent="0" algn="l">
              <a:lnSpc>
                <a:spcPts val="2400"/>
              </a:lnSpc>
              <a:buNone/>
            </a:pPr>
            <a:r>
              <a:rPr lang="en-US" sz="1600" dirty="0" smtClean="0">
                <a:solidFill>
                  <a:srgbClr val="504C49"/>
                </a:solidFill>
                <a:latin typeface="Source Serif 4" pitchFamily="34" charset="0"/>
                <a:ea typeface="Source Serif 4" pitchFamily="34" charset="-122"/>
              </a:rPr>
              <a:t>1 Week</a:t>
            </a:r>
            <a:endParaRPr lang="en-US" sz="1600" dirty="0"/>
          </a:p>
        </p:txBody>
      </p:sp>
      <p:sp>
        <p:nvSpPr>
          <p:cNvPr id="23" name="Text 21"/>
          <p:cNvSpPr/>
          <p:nvPr/>
        </p:nvSpPr>
        <p:spPr>
          <a:xfrm>
            <a:off x="715089" y="6488073"/>
            <a:ext cx="3509248" cy="383024"/>
          </a:xfrm>
          <a:prstGeom prst="rect">
            <a:avLst/>
          </a:prstGeom>
          <a:noFill/>
          <a:ln/>
        </p:spPr>
        <p:txBody>
          <a:bodyPr wrap="none" lIns="0" tIns="0" rIns="0" bIns="0" rtlCol="0" anchor="t"/>
          <a:lstStyle/>
          <a:p>
            <a:pPr marL="0" indent="0" algn="l">
              <a:lnSpc>
                <a:spcPts val="3000"/>
              </a:lnSpc>
              <a:buNone/>
            </a:pPr>
            <a:r>
              <a:rPr lang="en-US" sz="2400" dirty="0">
                <a:solidFill>
                  <a:srgbClr val="201B18"/>
                </a:solidFill>
                <a:latin typeface="Platypi Medium" pitchFamily="34" charset="0"/>
                <a:ea typeface="Platypi Medium" pitchFamily="34" charset="-122"/>
                <a:cs typeface="Platypi Medium" pitchFamily="34" charset="-120"/>
              </a:rPr>
              <a:t>Total Duration: </a:t>
            </a:r>
            <a:r>
              <a:rPr lang="en-US" sz="2400" dirty="0" smtClean="0">
                <a:solidFill>
                  <a:srgbClr val="201B18"/>
                </a:solidFill>
                <a:latin typeface="Platypi Medium" pitchFamily="34" charset="0"/>
                <a:ea typeface="Platypi Medium" pitchFamily="34" charset="-122"/>
                <a:cs typeface="Platypi Medium" pitchFamily="34" charset="-120"/>
              </a:rPr>
              <a:t>9 Weeks</a:t>
            </a:r>
            <a:endParaRPr lang="en-US" sz="2400" dirty="0"/>
          </a:p>
        </p:txBody>
      </p:sp>
      <p:sp>
        <p:nvSpPr>
          <p:cNvPr id="24" name="Text 22"/>
          <p:cNvSpPr/>
          <p:nvPr/>
        </p:nvSpPr>
        <p:spPr>
          <a:xfrm>
            <a:off x="715089" y="7147084"/>
            <a:ext cx="13200221" cy="310634"/>
          </a:xfrm>
          <a:prstGeom prst="rect">
            <a:avLst/>
          </a:prstGeom>
          <a:noFill/>
          <a:ln/>
        </p:spPr>
        <p:txBody>
          <a:bodyPr wrap="none" lIns="0" tIns="0" rIns="0" bIns="0" rtlCol="0" anchor="t"/>
          <a:lstStyle/>
          <a:p>
            <a:pPr marL="0" indent="0" algn="l">
              <a:lnSpc>
                <a:spcPts val="2400"/>
              </a:lnSpc>
              <a:buNone/>
            </a:pPr>
            <a:r>
              <a:rPr lang="en-US" sz="1600" dirty="0">
                <a:solidFill>
                  <a:srgbClr val="504C49"/>
                </a:solidFill>
                <a:latin typeface="Source Serif 4" pitchFamily="34" charset="0"/>
                <a:ea typeface="Source Serif 4" pitchFamily="34" charset="-122"/>
                <a:cs typeface="Source Serif 4" pitchFamily="34" charset="-120"/>
              </a:rPr>
              <a:t>This agile timeline allows for focused sprints and consistent progress toward our launch goal.</a:t>
            </a:r>
            <a:endParaRPr lang="en-US" sz="1600" dirty="0"/>
          </a:p>
        </p:txBody>
      </p:sp>
    </p:spTree>
  </p:cSld>
  <p:clrMapOvr>
    <a:masterClrMapping/>
  </p:clrMapOvr>
  <p:transition spd="slow">
    <p:wheel spokes="1"/>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sp>
        <p:nvSpPr>
          <p:cNvPr id="2" name="Text 0"/>
          <p:cNvSpPr/>
          <p:nvPr/>
        </p:nvSpPr>
        <p:spPr>
          <a:xfrm>
            <a:off x="1481376" y="485537"/>
            <a:ext cx="7813596" cy="528399"/>
          </a:xfrm>
          <a:prstGeom prst="rect">
            <a:avLst/>
          </a:prstGeom>
          <a:noFill/>
          <a:ln/>
        </p:spPr>
        <p:txBody>
          <a:bodyPr wrap="none" lIns="0" tIns="0" rIns="0" bIns="0" rtlCol="0" anchor="t"/>
          <a:lstStyle/>
          <a:p>
            <a:pPr marL="0" indent="0" algn="l">
              <a:lnSpc>
                <a:spcPts val="4150"/>
              </a:lnSpc>
              <a:buNone/>
            </a:pPr>
            <a:r>
              <a:rPr lang="en-US" sz="3300" dirty="0">
                <a:solidFill>
                  <a:srgbClr val="201B18"/>
                </a:solidFill>
                <a:latin typeface="Platypi Medium" pitchFamily="34" charset="0"/>
                <a:ea typeface="Platypi Medium" pitchFamily="34" charset="-122"/>
                <a:cs typeface="Platypi Medium" pitchFamily="34" charset="-120"/>
              </a:rPr>
              <a:t>Project Timeline: Detailed Gantt View</a:t>
            </a:r>
            <a:endParaRPr lang="en-US" sz="3300" dirty="0"/>
          </a:p>
        </p:txBody>
      </p:sp>
      <p:sp>
        <p:nvSpPr>
          <p:cNvPr id="3" name="Text 1"/>
          <p:cNvSpPr/>
          <p:nvPr/>
        </p:nvSpPr>
        <p:spPr>
          <a:xfrm>
            <a:off x="1481376" y="1265992"/>
            <a:ext cx="11667649" cy="471964"/>
          </a:xfrm>
          <a:prstGeom prst="rect">
            <a:avLst/>
          </a:prstGeom>
          <a:noFill/>
          <a:ln/>
        </p:spPr>
        <p:txBody>
          <a:bodyPr wrap="square" lIns="0" tIns="0" rIns="0" bIns="0" rtlCol="0" anchor="t"/>
          <a:lstStyle/>
          <a:p>
            <a:pPr marL="0" indent="0" algn="l">
              <a:lnSpc>
                <a:spcPts val="1850"/>
              </a:lnSpc>
              <a:buNone/>
            </a:pPr>
            <a:r>
              <a:rPr lang="en-US" sz="1300" dirty="0">
                <a:solidFill>
                  <a:srgbClr val="504C49"/>
                </a:solidFill>
                <a:latin typeface="Source Serif 4" pitchFamily="34" charset="0"/>
                <a:ea typeface="Source Serif 4" pitchFamily="34" charset="-122"/>
                <a:cs typeface="Source Serif 4" pitchFamily="34" charset="-120"/>
              </a:rPr>
              <a:t>To provide a more granular view of our development schedule, this Gantt-like timeline illustrates key phases across a 9-week period, ensuring clarity on task sequencing and duration. This expanded timeline allows for more thorough development and testing.</a:t>
            </a:r>
            <a:endParaRPr lang="en-US" sz="1300" dirty="0"/>
          </a:p>
        </p:txBody>
      </p:sp>
      <p:pic>
        <p:nvPicPr>
          <p:cNvPr id="4" name="Image 0" descr="preencoded.png"/>
          <p:cNvPicPr>
            <a:picLocks noChangeAspect="1"/>
          </p:cNvPicPr>
          <p:nvPr/>
        </p:nvPicPr>
        <p:blipFill>
          <a:blip r:embed="rId3"/>
          <a:stretch>
            <a:fillRect/>
          </a:stretch>
        </p:blipFill>
        <p:spPr>
          <a:xfrm>
            <a:off x="1481376" y="1879759"/>
            <a:ext cx="11667649" cy="5250418"/>
          </a:xfrm>
          <a:prstGeom prst="rect">
            <a:avLst/>
          </a:prstGeom>
        </p:spPr>
      </p:pic>
      <p:sp>
        <p:nvSpPr>
          <p:cNvPr id="5" name="Text 2"/>
          <p:cNvSpPr/>
          <p:nvPr/>
        </p:nvSpPr>
        <p:spPr>
          <a:xfrm>
            <a:off x="3238904" y="2019994"/>
            <a:ext cx="2041829" cy="315530"/>
          </a:xfrm>
          <a:prstGeom prst="rect">
            <a:avLst/>
          </a:prstGeom>
          <a:noFill/>
          <a:ln/>
        </p:spPr>
        <p:txBody>
          <a:bodyPr wrap="none" lIns="0" tIns="0" rIns="0" bIns="0" rtlCol="0" anchor="t"/>
          <a:lstStyle/>
          <a:p>
            <a:pPr marL="0" indent="0" algn="ctr">
              <a:lnSpc>
                <a:spcPts val="2450"/>
              </a:lnSpc>
              <a:buNone/>
            </a:pPr>
            <a:r>
              <a:rPr lang="en-US" sz="1950" dirty="0">
                <a:solidFill>
                  <a:srgbClr val="504C49"/>
                </a:solidFill>
                <a:latin typeface="Platypi Medium" pitchFamily="34" charset="0"/>
                <a:ea typeface="Platypi Medium" pitchFamily="34" charset="-122"/>
                <a:cs typeface="Platypi Medium" pitchFamily="34" charset="-120"/>
              </a:rPr>
              <a:t>Analysis</a:t>
            </a:r>
            <a:endParaRPr lang="en-US" sz="1950" dirty="0"/>
          </a:p>
        </p:txBody>
      </p:sp>
      <p:sp>
        <p:nvSpPr>
          <p:cNvPr id="6" name="Text 3"/>
          <p:cNvSpPr/>
          <p:nvPr/>
        </p:nvSpPr>
        <p:spPr>
          <a:xfrm>
            <a:off x="3238904" y="2425275"/>
            <a:ext cx="2041829" cy="660509"/>
          </a:xfrm>
          <a:prstGeom prst="rect">
            <a:avLst/>
          </a:prstGeom>
          <a:noFill/>
          <a:ln/>
        </p:spPr>
        <p:txBody>
          <a:bodyPr wrap="square" lIns="0" tIns="0" rIns="0" bIns="0" rtlCol="0" anchor="t"/>
          <a:lstStyle/>
          <a:p>
            <a:pPr marL="0" indent="0" algn="ctr">
              <a:lnSpc>
                <a:spcPts val="1700"/>
              </a:lnSpc>
              <a:buNone/>
            </a:pPr>
            <a:r>
              <a:rPr lang="en-US" sz="1550" dirty="0">
                <a:solidFill>
                  <a:srgbClr val="504C49"/>
                </a:solidFill>
                <a:latin typeface="Source Serif 4" pitchFamily="34" charset="0"/>
                <a:ea typeface="Source Serif 4" pitchFamily="34" charset="-122"/>
                <a:cs typeface="Source Serif 4" pitchFamily="34" charset="-120"/>
              </a:rPr>
              <a:t>Week 1: Requirement Analysis</a:t>
            </a:r>
            <a:endParaRPr lang="en-US" sz="1550" dirty="0"/>
          </a:p>
        </p:txBody>
      </p:sp>
      <p:pic>
        <p:nvPicPr>
          <p:cNvPr id="7" name="Image 1" descr="preencoded.png"/>
          <p:cNvPicPr>
            <a:picLocks noChangeAspect="1"/>
          </p:cNvPicPr>
          <p:nvPr/>
        </p:nvPicPr>
        <p:blipFill>
          <a:blip r:embed="rId4">
            <a:extLst>
              <a:ext uri="{96DAC541-7B7A-43D3-8B79-37D633B846F1}">
                <asvg:svgBlip xmlns="" xmlns:asvg="http://schemas.microsoft.com/office/drawing/2016/SVG/main" r:embed="rId5"/>
              </a:ext>
            </a:extLst>
          </a:blip>
          <a:stretch>
            <a:fillRect/>
          </a:stretch>
        </p:blipFill>
        <p:spPr>
          <a:xfrm>
            <a:off x="4039298" y="3528227"/>
            <a:ext cx="452259" cy="452260"/>
          </a:xfrm>
          <a:prstGeom prst="rect">
            <a:avLst/>
          </a:prstGeom>
        </p:spPr>
      </p:pic>
      <p:sp>
        <p:nvSpPr>
          <p:cNvPr id="8" name="Text 4"/>
          <p:cNvSpPr/>
          <p:nvPr/>
        </p:nvSpPr>
        <p:spPr>
          <a:xfrm>
            <a:off x="5258295" y="6067893"/>
            <a:ext cx="2053048" cy="315530"/>
          </a:xfrm>
          <a:prstGeom prst="rect">
            <a:avLst/>
          </a:prstGeom>
          <a:noFill/>
          <a:ln/>
        </p:spPr>
        <p:txBody>
          <a:bodyPr wrap="none" lIns="0" tIns="0" rIns="0" bIns="0" rtlCol="0" anchor="t"/>
          <a:lstStyle/>
          <a:p>
            <a:pPr marL="0" indent="0" algn="ctr">
              <a:lnSpc>
                <a:spcPts val="2450"/>
              </a:lnSpc>
              <a:buNone/>
            </a:pPr>
            <a:r>
              <a:rPr lang="en-US" sz="1950" dirty="0">
                <a:solidFill>
                  <a:srgbClr val="504C49"/>
                </a:solidFill>
                <a:latin typeface="Platypi Medium" pitchFamily="34" charset="0"/>
                <a:ea typeface="Platypi Medium" pitchFamily="34" charset="-122"/>
                <a:cs typeface="Platypi Medium" pitchFamily="34" charset="-120"/>
              </a:rPr>
              <a:t>Design</a:t>
            </a:r>
            <a:endParaRPr lang="en-US" sz="1950" dirty="0"/>
          </a:p>
        </p:txBody>
      </p:sp>
      <p:sp>
        <p:nvSpPr>
          <p:cNvPr id="9" name="Text 5"/>
          <p:cNvSpPr/>
          <p:nvPr/>
        </p:nvSpPr>
        <p:spPr>
          <a:xfrm>
            <a:off x="5258295" y="6473173"/>
            <a:ext cx="2053048" cy="440340"/>
          </a:xfrm>
          <a:prstGeom prst="rect">
            <a:avLst/>
          </a:prstGeom>
          <a:noFill/>
          <a:ln/>
        </p:spPr>
        <p:txBody>
          <a:bodyPr wrap="square" lIns="0" tIns="0" rIns="0" bIns="0" rtlCol="0" anchor="t"/>
          <a:lstStyle/>
          <a:p>
            <a:pPr marL="0" indent="0" algn="ctr">
              <a:lnSpc>
                <a:spcPts val="1700"/>
              </a:lnSpc>
              <a:buNone/>
            </a:pPr>
            <a:r>
              <a:rPr lang="en-US" sz="1550" dirty="0">
                <a:solidFill>
                  <a:srgbClr val="504C49"/>
                </a:solidFill>
                <a:latin typeface="Source Serif 4" pitchFamily="34" charset="0"/>
                <a:ea typeface="Source Serif 4" pitchFamily="34" charset="-122"/>
                <a:cs typeface="Source Serif 4" pitchFamily="34" charset="-120"/>
              </a:rPr>
              <a:t>Week 2: System Design</a:t>
            </a:r>
            <a:endParaRPr lang="en-US" sz="1550" dirty="0"/>
          </a:p>
        </p:txBody>
      </p:sp>
      <p:pic>
        <p:nvPicPr>
          <p:cNvPr id="10" name="Image 2" descr="preencoded.png"/>
          <p:cNvPicPr>
            <a:picLocks noChangeAspect="1"/>
          </p:cNvPicPr>
          <p:nvPr/>
        </p:nvPicPr>
        <p:blipFill>
          <a:blip r:embed="rId4">
            <a:extLst>
              <a:ext uri="{96DAC541-7B7A-43D3-8B79-37D633B846F1}">
                <asvg:svgBlip xmlns="" xmlns:asvg="http://schemas.microsoft.com/office/drawing/2016/SVG/main" r:embed="rId6"/>
              </a:ext>
            </a:extLst>
          </a:blip>
          <a:stretch>
            <a:fillRect/>
          </a:stretch>
        </p:blipFill>
        <p:spPr>
          <a:xfrm>
            <a:off x="6058690" y="5177397"/>
            <a:ext cx="452259" cy="452259"/>
          </a:xfrm>
          <a:prstGeom prst="rect">
            <a:avLst/>
          </a:prstGeom>
        </p:spPr>
      </p:pic>
      <p:sp>
        <p:nvSpPr>
          <p:cNvPr id="11" name="Text 6"/>
          <p:cNvSpPr/>
          <p:nvPr/>
        </p:nvSpPr>
        <p:spPr>
          <a:xfrm>
            <a:off x="7255249" y="2090813"/>
            <a:ext cx="2041830" cy="315530"/>
          </a:xfrm>
          <a:prstGeom prst="rect">
            <a:avLst/>
          </a:prstGeom>
          <a:noFill/>
          <a:ln/>
        </p:spPr>
        <p:txBody>
          <a:bodyPr wrap="none" lIns="0" tIns="0" rIns="0" bIns="0" rtlCol="0" anchor="t"/>
          <a:lstStyle/>
          <a:p>
            <a:pPr marL="0" indent="0" algn="ctr">
              <a:lnSpc>
                <a:spcPts val="2450"/>
              </a:lnSpc>
              <a:buNone/>
            </a:pPr>
            <a:r>
              <a:rPr lang="en-US" sz="1950" dirty="0">
                <a:solidFill>
                  <a:srgbClr val="504C49"/>
                </a:solidFill>
                <a:latin typeface="Platypi Medium" pitchFamily="34" charset="0"/>
                <a:ea typeface="Platypi Medium" pitchFamily="34" charset="-122"/>
                <a:cs typeface="Platypi Medium" pitchFamily="34" charset="-120"/>
              </a:rPr>
              <a:t>Backend</a:t>
            </a:r>
            <a:endParaRPr lang="en-US" sz="1950" dirty="0"/>
          </a:p>
        </p:txBody>
      </p:sp>
      <p:sp>
        <p:nvSpPr>
          <p:cNvPr id="12" name="Text 7"/>
          <p:cNvSpPr/>
          <p:nvPr/>
        </p:nvSpPr>
        <p:spPr>
          <a:xfrm>
            <a:off x="7255249" y="2496094"/>
            <a:ext cx="2041830" cy="440339"/>
          </a:xfrm>
          <a:prstGeom prst="rect">
            <a:avLst/>
          </a:prstGeom>
          <a:noFill/>
          <a:ln/>
        </p:spPr>
        <p:txBody>
          <a:bodyPr wrap="square" lIns="0" tIns="0" rIns="0" bIns="0" rtlCol="0" anchor="t"/>
          <a:lstStyle/>
          <a:p>
            <a:pPr marL="0" indent="0" algn="ctr">
              <a:lnSpc>
                <a:spcPts val="1700"/>
              </a:lnSpc>
              <a:buNone/>
            </a:pPr>
            <a:r>
              <a:rPr lang="en-US" sz="1550" dirty="0">
                <a:solidFill>
                  <a:srgbClr val="504C49"/>
                </a:solidFill>
                <a:latin typeface="Source Serif 4" pitchFamily="34" charset="0"/>
                <a:ea typeface="Source Serif 4" pitchFamily="34" charset="-122"/>
                <a:cs typeface="Source Serif 4" pitchFamily="34" charset="-120"/>
              </a:rPr>
              <a:t>Weeks 3-5: Backend Development</a:t>
            </a:r>
            <a:endParaRPr lang="en-US" sz="1550" dirty="0"/>
          </a:p>
        </p:txBody>
      </p:sp>
      <p:pic>
        <p:nvPicPr>
          <p:cNvPr id="13" name="Image 3" descr="preencoded.png"/>
          <p:cNvPicPr>
            <a:picLocks noChangeAspect="1"/>
          </p:cNvPicPr>
          <p:nvPr/>
        </p:nvPicPr>
        <p:blipFill>
          <a:blip r:embed="rId4">
            <a:extLst>
              <a:ext uri="{96DAC541-7B7A-43D3-8B79-37D633B846F1}">
                <asvg:svgBlip xmlns="" xmlns:asvg="http://schemas.microsoft.com/office/drawing/2016/SVG/main" r:embed="rId7"/>
              </a:ext>
            </a:extLst>
          </a:blip>
          <a:stretch>
            <a:fillRect/>
          </a:stretch>
        </p:blipFill>
        <p:spPr>
          <a:xfrm>
            <a:off x="8089300" y="3483352"/>
            <a:ext cx="452260" cy="452260"/>
          </a:xfrm>
          <a:prstGeom prst="rect">
            <a:avLst/>
          </a:prstGeom>
        </p:spPr>
      </p:pic>
      <p:sp>
        <p:nvSpPr>
          <p:cNvPr id="14" name="Text 8"/>
          <p:cNvSpPr/>
          <p:nvPr/>
        </p:nvSpPr>
        <p:spPr>
          <a:xfrm>
            <a:off x="9274641" y="6067893"/>
            <a:ext cx="2041829" cy="315530"/>
          </a:xfrm>
          <a:prstGeom prst="rect">
            <a:avLst/>
          </a:prstGeom>
          <a:noFill/>
          <a:ln/>
        </p:spPr>
        <p:txBody>
          <a:bodyPr wrap="none" lIns="0" tIns="0" rIns="0" bIns="0" rtlCol="0" anchor="t"/>
          <a:lstStyle/>
          <a:p>
            <a:pPr marL="0" indent="0" algn="ctr">
              <a:lnSpc>
                <a:spcPts val="2450"/>
              </a:lnSpc>
              <a:buNone/>
            </a:pPr>
            <a:r>
              <a:rPr lang="en-US" sz="1950" dirty="0">
                <a:solidFill>
                  <a:srgbClr val="504C49"/>
                </a:solidFill>
                <a:latin typeface="Platypi Medium" pitchFamily="34" charset="0"/>
                <a:ea typeface="Platypi Medium" pitchFamily="34" charset="-122"/>
                <a:cs typeface="Platypi Medium" pitchFamily="34" charset="-120"/>
              </a:rPr>
              <a:t>Frontend</a:t>
            </a:r>
            <a:endParaRPr lang="en-US" sz="1950" dirty="0"/>
          </a:p>
        </p:txBody>
      </p:sp>
      <p:sp>
        <p:nvSpPr>
          <p:cNvPr id="15" name="Text 9"/>
          <p:cNvSpPr/>
          <p:nvPr/>
        </p:nvSpPr>
        <p:spPr>
          <a:xfrm>
            <a:off x="9274641" y="6473173"/>
            <a:ext cx="2041829" cy="440340"/>
          </a:xfrm>
          <a:prstGeom prst="rect">
            <a:avLst/>
          </a:prstGeom>
          <a:noFill/>
          <a:ln/>
        </p:spPr>
        <p:txBody>
          <a:bodyPr wrap="square" lIns="0" tIns="0" rIns="0" bIns="0" rtlCol="0" anchor="t"/>
          <a:lstStyle/>
          <a:p>
            <a:pPr marL="0" indent="0" algn="ctr">
              <a:lnSpc>
                <a:spcPts val="1700"/>
              </a:lnSpc>
              <a:buNone/>
            </a:pPr>
            <a:r>
              <a:rPr lang="en-US" sz="1550" dirty="0">
                <a:solidFill>
                  <a:srgbClr val="504C49"/>
                </a:solidFill>
                <a:latin typeface="Source Serif 4" pitchFamily="34" charset="0"/>
                <a:ea typeface="Source Serif 4" pitchFamily="34" charset="-122"/>
                <a:cs typeface="Source Serif 4" pitchFamily="34" charset="-120"/>
              </a:rPr>
              <a:t>Weeks 6-8: Frontend Development</a:t>
            </a:r>
            <a:endParaRPr lang="en-US" sz="1550" dirty="0"/>
          </a:p>
        </p:txBody>
      </p:sp>
      <p:pic>
        <p:nvPicPr>
          <p:cNvPr id="16" name="Image 4" descr="preencoded.png"/>
          <p:cNvPicPr>
            <a:picLocks noChangeAspect="1"/>
          </p:cNvPicPr>
          <p:nvPr/>
        </p:nvPicPr>
        <p:blipFill>
          <a:blip r:embed="rId4">
            <a:extLst>
              <a:ext uri="{96DAC541-7B7A-43D3-8B79-37D633B846F1}">
                <asvg:svgBlip xmlns="" xmlns:asvg="http://schemas.microsoft.com/office/drawing/2016/SVG/main" r:embed="rId9"/>
              </a:ext>
            </a:extLst>
          </a:blip>
          <a:stretch>
            <a:fillRect/>
          </a:stretch>
        </p:blipFill>
        <p:spPr>
          <a:xfrm>
            <a:off x="10075035" y="5177397"/>
            <a:ext cx="452260" cy="452259"/>
          </a:xfrm>
          <a:prstGeom prst="rect">
            <a:avLst/>
          </a:prstGeom>
        </p:spPr>
      </p:pic>
      <p:sp>
        <p:nvSpPr>
          <p:cNvPr id="17" name="Text 10"/>
          <p:cNvSpPr/>
          <p:nvPr/>
        </p:nvSpPr>
        <p:spPr>
          <a:xfrm>
            <a:off x="1481376" y="7271980"/>
            <a:ext cx="11667649" cy="471964"/>
          </a:xfrm>
          <a:prstGeom prst="rect">
            <a:avLst/>
          </a:prstGeom>
          <a:noFill/>
          <a:ln/>
        </p:spPr>
        <p:txBody>
          <a:bodyPr wrap="square" lIns="0" tIns="0" rIns="0" bIns="0" rtlCol="0" anchor="t"/>
          <a:lstStyle/>
          <a:p>
            <a:pPr marL="0" indent="0" algn="l">
              <a:lnSpc>
                <a:spcPts val="1850"/>
              </a:lnSpc>
              <a:buNone/>
            </a:pPr>
            <a:r>
              <a:rPr lang="en-US" sz="1300" dirty="0">
                <a:solidFill>
                  <a:srgbClr val="504C49"/>
                </a:solidFill>
                <a:latin typeface="Source Serif 4" pitchFamily="34" charset="0"/>
                <a:ea typeface="Source Serif 4" pitchFamily="34" charset="-122"/>
                <a:cs typeface="Source Serif 4" pitchFamily="34" charset="-120"/>
              </a:rPr>
              <a:t>This visual representation emphasizes our commitment to a structured yet adaptive development process, ensuring each phase is completed with precision.</a:t>
            </a:r>
            <a:endParaRPr lang="en-US" sz="13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2" name="Text 0"/>
          <p:cNvSpPr/>
          <p:nvPr/>
        </p:nvSpPr>
        <p:spPr>
          <a:xfrm>
            <a:off x="793790" y="1113830"/>
            <a:ext cx="12771120"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Project Outcome: Empowering Home Services</a:t>
            </a:r>
            <a:endParaRPr lang="en-US" sz="4450" dirty="0"/>
          </a:p>
        </p:txBody>
      </p:sp>
      <p:sp>
        <p:nvSpPr>
          <p:cNvPr id="3" name="Text 1"/>
          <p:cNvSpPr/>
          <p:nvPr/>
        </p:nvSpPr>
        <p:spPr>
          <a:xfrm>
            <a:off x="793790" y="2276237"/>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Upon successful completion, HomeEase delivers a powerful and comprehensive platform that not only meets but exceeds its initial objectives. The system stands as a testament to efficient development and thoughtful design.</a:t>
            </a:r>
            <a:endParaRPr lang="en-US" sz="1750" dirty="0"/>
          </a:p>
        </p:txBody>
      </p:sp>
      <p:sp>
        <p:nvSpPr>
          <p:cNvPr id="4" name="Shape 2"/>
          <p:cNvSpPr/>
          <p:nvPr/>
        </p:nvSpPr>
        <p:spPr>
          <a:xfrm>
            <a:off x="763310" y="3226713"/>
            <a:ext cx="60960" cy="1631513"/>
          </a:xfrm>
          <a:prstGeom prst="rect">
            <a:avLst/>
          </a:prstGeom>
          <a:solidFill>
            <a:srgbClr val="3E2513"/>
          </a:solidFill>
          <a:ln/>
        </p:spPr>
      </p:sp>
      <p:sp>
        <p:nvSpPr>
          <p:cNvPr id="5" name="Text 3"/>
          <p:cNvSpPr/>
          <p:nvPr/>
        </p:nvSpPr>
        <p:spPr>
          <a:xfrm>
            <a:off x="1081564" y="3257193"/>
            <a:ext cx="3870841" cy="708660"/>
          </a:xfrm>
          <a:prstGeom prst="rect">
            <a:avLst/>
          </a:prstGeom>
          <a:noFill/>
          <a:ln/>
        </p:spPr>
        <p:txBody>
          <a:bodyPr wrap="squar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Fully Functional Booking System</a:t>
            </a:r>
            <a:endParaRPr lang="en-US" sz="2200" dirty="0"/>
          </a:p>
        </p:txBody>
      </p:sp>
      <p:sp>
        <p:nvSpPr>
          <p:cNvPr id="6" name="Text 4"/>
          <p:cNvSpPr/>
          <p:nvPr/>
        </p:nvSpPr>
        <p:spPr>
          <a:xfrm>
            <a:off x="1081564" y="4101941"/>
            <a:ext cx="387084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A reliable and easy-to-use platform for all service needs.</a:t>
            </a:r>
            <a:endParaRPr lang="en-US" sz="1750" dirty="0"/>
          </a:p>
        </p:txBody>
      </p:sp>
      <p:sp>
        <p:nvSpPr>
          <p:cNvPr id="7" name="Shape 5"/>
          <p:cNvSpPr/>
          <p:nvPr/>
        </p:nvSpPr>
        <p:spPr>
          <a:xfrm>
            <a:off x="5205413" y="3226713"/>
            <a:ext cx="60960" cy="1631513"/>
          </a:xfrm>
          <a:prstGeom prst="rect">
            <a:avLst/>
          </a:prstGeom>
          <a:solidFill>
            <a:srgbClr val="3E2513"/>
          </a:solidFill>
          <a:ln/>
        </p:spPr>
      </p:sp>
      <p:sp>
        <p:nvSpPr>
          <p:cNvPr id="8" name="Text 6"/>
          <p:cNvSpPr/>
          <p:nvPr/>
        </p:nvSpPr>
        <p:spPr>
          <a:xfrm>
            <a:off x="5523667" y="3257193"/>
            <a:ext cx="3816429"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Secure User Authentication</a:t>
            </a:r>
            <a:endParaRPr lang="en-US" sz="2200" dirty="0"/>
          </a:p>
        </p:txBody>
      </p:sp>
      <p:sp>
        <p:nvSpPr>
          <p:cNvPr id="9" name="Text 7"/>
          <p:cNvSpPr/>
          <p:nvPr/>
        </p:nvSpPr>
        <p:spPr>
          <a:xfrm>
            <a:off x="5523667" y="3747611"/>
            <a:ext cx="387084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Ensuring data privacy and secure access for all users.</a:t>
            </a:r>
            <a:endParaRPr lang="en-US" sz="1750" dirty="0"/>
          </a:p>
        </p:txBody>
      </p:sp>
      <p:sp>
        <p:nvSpPr>
          <p:cNvPr id="10" name="Shape 8"/>
          <p:cNvSpPr/>
          <p:nvPr/>
        </p:nvSpPr>
        <p:spPr>
          <a:xfrm>
            <a:off x="9647515" y="3226713"/>
            <a:ext cx="60960" cy="1631513"/>
          </a:xfrm>
          <a:prstGeom prst="rect">
            <a:avLst/>
          </a:prstGeom>
          <a:solidFill>
            <a:srgbClr val="3E2513"/>
          </a:solidFill>
          <a:ln/>
        </p:spPr>
      </p:sp>
      <p:sp>
        <p:nvSpPr>
          <p:cNvPr id="11" name="Text 9"/>
          <p:cNvSpPr/>
          <p:nvPr/>
        </p:nvSpPr>
        <p:spPr>
          <a:xfrm>
            <a:off x="9965769" y="3257193"/>
            <a:ext cx="3870841" cy="708660"/>
          </a:xfrm>
          <a:prstGeom prst="rect">
            <a:avLst/>
          </a:prstGeom>
          <a:noFill/>
          <a:ln/>
        </p:spPr>
        <p:txBody>
          <a:bodyPr wrap="squar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Efficient Service Management</a:t>
            </a:r>
            <a:endParaRPr lang="en-US" sz="2200" dirty="0"/>
          </a:p>
        </p:txBody>
      </p:sp>
      <p:sp>
        <p:nvSpPr>
          <p:cNvPr id="12" name="Text 10"/>
          <p:cNvSpPr/>
          <p:nvPr/>
        </p:nvSpPr>
        <p:spPr>
          <a:xfrm>
            <a:off x="9965769" y="4101941"/>
            <a:ext cx="387084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Streamlined processes for providers and administrators.</a:t>
            </a:r>
            <a:endParaRPr lang="en-US" sz="1750" dirty="0"/>
          </a:p>
        </p:txBody>
      </p:sp>
      <p:sp>
        <p:nvSpPr>
          <p:cNvPr id="13" name="Shape 11"/>
          <p:cNvSpPr/>
          <p:nvPr/>
        </p:nvSpPr>
        <p:spPr>
          <a:xfrm>
            <a:off x="763310" y="5250894"/>
            <a:ext cx="60960" cy="1277183"/>
          </a:xfrm>
          <a:prstGeom prst="rect">
            <a:avLst/>
          </a:prstGeom>
          <a:solidFill>
            <a:srgbClr val="3E2513"/>
          </a:solidFill>
          <a:ln/>
        </p:spPr>
      </p:sp>
      <p:sp>
        <p:nvSpPr>
          <p:cNvPr id="14" name="Text 12"/>
          <p:cNvSpPr/>
          <p:nvPr/>
        </p:nvSpPr>
        <p:spPr>
          <a:xfrm>
            <a:off x="1081564" y="5281374"/>
            <a:ext cx="4404717"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Enhanced Customer Experience</a:t>
            </a:r>
            <a:endParaRPr lang="en-US" sz="2200" dirty="0"/>
          </a:p>
        </p:txBody>
      </p:sp>
      <p:sp>
        <p:nvSpPr>
          <p:cNvPr id="15" name="Text 13"/>
          <p:cNvSpPr/>
          <p:nvPr/>
        </p:nvSpPr>
        <p:spPr>
          <a:xfrm>
            <a:off x="1081564" y="5771793"/>
            <a:ext cx="6091833" cy="362903"/>
          </a:xfrm>
          <a:prstGeom prst="rect">
            <a:avLst/>
          </a:prstGeom>
          <a:noFill/>
          <a:ln/>
        </p:spPr>
        <p:txBody>
          <a:bodyPr wrap="non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A user-friendly interface leading to higher satisfaction.</a:t>
            </a:r>
            <a:endParaRPr lang="en-US" sz="1750" dirty="0"/>
          </a:p>
        </p:txBody>
      </p:sp>
      <p:sp>
        <p:nvSpPr>
          <p:cNvPr id="16" name="Shape 14"/>
          <p:cNvSpPr/>
          <p:nvPr/>
        </p:nvSpPr>
        <p:spPr>
          <a:xfrm>
            <a:off x="7426404" y="5250894"/>
            <a:ext cx="60960" cy="1277183"/>
          </a:xfrm>
          <a:prstGeom prst="rect">
            <a:avLst/>
          </a:prstGeom>
          <a:solidFill>
            <a:srgbClr val="3E2513"/>
          </a:solidFill>
          <a:ln/>
        </p:spPr>
      </p:sp>
      <p:sp>
        <p:nvSpPr>
          <p:cNvPr id="17" name="Text 15"/>
          <p:cNvSpPr/>
          <p:nvPr/>
        </p:nvSpPr>
        <p:spPr>
          <a:xfrm>
            <a:off x="7744658" y="5281374"/>
            <a:ext cx="3589734" cy="354330"/>
          </a:xfrm>
          <a:prstGeom prst="rect">
            <a:avLst/>
          </a:prstGeom>
          <a:noFill/>
          <a:ln/>
        </p:spPr>
        <p:txBody>
          <a:bodyPr wrap="none" lIns="0" tIns="0" rIns="0" bIns="0" rtlCol="0" anchor="t"/>
          <a:lstStyle/>
          <a:p>
            <a:pPr marL="0" indent="0" algn="l">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Optimized Admin Control</a:t>
            </a:r>
            <a:endParaRPr lang="en-US" sz="2200" dirty="0"/>
          </a:p>
        </p:txBody>
      </p:sp>
      <p:sp>
        <p:nvSpPr>
          <p:cNvPr id="18" name="Text 16"/>
          <p:cNvSpPr/>
          <p:nvPr/>
        </p:nvSpPr>
        <p:spPr>
          <a:xfrm>
            <a:off x="7744658" y="5771793"/>
            <a:ext cx="6091952"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Comprehensive tools for oversight and operational efficiency.</a:t>
            </a:r>
            <a:endParaRPr lang="en-US" sz="1750" dirty="0"/>
          </a:p>
        </p:txBody>
      </p:sp>
      <p:sp>
        <p:nvSpPr>
          <p:cNvPr id="19" name="Text 17"/>
          <p:cNvSpPr/>
          <p:nvPr/>
        </p:nvSpPr>
        <p:spPr>
          <a:xfrm>
            <a:off x="793790" y="675274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HomeEase proudly fulfills all functional requirements, ready to transform the home services landscape.</a:t>
            </a:r>
            <a:endParaRPr lang="en-US" sz="1750"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694134"/>
            <a:ext cx="6994803"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Thank You for Your Time</a:t>
            </a:r>
            <a:endParaRPr lang="en-US" sz="4450" dirty="0"/>
          </a:p>
        </p:txBody>
      </p:sp>
      <p:sp>
        <p:nvSpPr>
          <p:cNvPr id="4" name="Text 1"/>
          <p:cNvSpPr/>
          <p:nvPr/>
        </p:nvSpPr>
        <p:spPr>
          <a:xfrm>
            <a:off x="6280190" y="1743075"/>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We appreciate the opportunity to present the HomeEase project and its vision for simplifying home services. Our commitment to innovation and user satisfaction drives every aspect of this platform.</a:t>
            </a:r>
            <a:endParaRPr lang="en-US" sz="1750" dirty="0"/>
          </a:p>
        </p:txBody>
      </p:sp>
      <p:sp>
        <p:nvSpPr>
          <p:cNvPr id="5" name="Text 2"/>
          <p:cNvSpPr/>
          <p:nvPr/>
        </p:nvSpPr>
        <p:spPr>
          <a:xfrm>
            <a:off x="6280190" y="3171944"/>
            <a:ext cx="7556421" cy="2934653"/>
          </a:xfrm>
          <a:prstGeom prst="rect">
            <a:avLst/>
          </a:prstGeom>
          <a:noFill/>
          <a:ln/>
        </p:spPr>
        <p:txBody>
          <a:bodyPr wrap="square" lIns="0" tIns="0" rIns="0" bIns="0" rtlCol="0" anchor="t"/>
          <a:lstStyle/>
          <a:p>
            <a:pPr marL="0" indent="0" algn="l">
              <a:lnSpc>
                <a:spcPts val="7700"/>
              </a:lnSpc>
              <a:buNone/>
            </a:pPr>
            <a:r>
              <a:rPr lang="en-US" sz="6150" dirty="0">
                <a:solidFill>
                  <a:srgbClr val="201B18"/>
                </a:solidFill>
                <a:latin typeface="Platypi Medium" pitchFamily="34" charset="0"/>
                <a:ea typeface="Platypi Medium" pitchFamily="34" charset="-122"/>
                <a:cs typeface="Platypi Medium" pitchFamily="34" charset="-120"/>
              </a:rPr>
              <a:t>HomeEase – Making Home Services Easy</a:t>
            </a:r>
            <a:endParaRPr lang="en-US" sz="6150" dirty="0"/>
          </a:p>
        </p:txBody>
      </p:sp>
      <p:sp>
        <p:nvSpPr>
          <p:cNvPr id="6" name="Text 3"/>
          <p:cNvSpPr/>
          <p:nvPr/>
        </p:nvSpPr>
        <p:spPr>
          <a:xfrm>
            <a:off x="6280190" y="6446758"/>
            <a:ext cx="7556421" cy="1088708"/>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We welcome any questions you may have about the project, its functionalities, or future prospects. Let's make home services truly effortless.</a:t>
            </a:r>
            <a:endParaRPr lang="en-US" sz="1750" dirty="0"/>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991</Words>
  <Application>Microsoft Office PowerPoint</Application>
  <PresentationFormat>Custom</PresentationFormat>
  <Paragraphs>148</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Times New Roman</vt:lpstr>
      <vt:lpstr>Source Serif 4</vt:lpstr>
      <vt:lpstr>Arial</vt:lpstr>
      <vt:lpstr>Platypi Medium</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AMBIKESHWAR DUTT DWIVEDI</dc:creator>
  <cp:lastModifiedBy>AMBIKESHWAR DUTT DWIVEDI</cp:lastModifiedBy>
  <cp:revision>6</cp:revision>
  <dcterms:created xsi:type="dcterms:W3CDTF">2026-02-13T01:54:13Z</dcterms:created>
  <dcterms:modified xsi:type="dcterms:W3CDTF">2026-02-13T04:06:06Z</dcterms:modified>
</cp:coreProperties>
</file>