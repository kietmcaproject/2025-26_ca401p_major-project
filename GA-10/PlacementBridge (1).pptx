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21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4020202020204" charset="0"/>
      <p:regular r:id="rId17"/>
    </p:embeddedFont>
    <p:embeddedFont>
      <p:font typeface="Gill Sans MT" panose="020B05020201040202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248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920240" y="2864093"/>
            <a:ext cx="10789920" cy="197510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56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4233" y="5223053"/>
            <a:ext cx="8161934" cy="14878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84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519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920240" y="2864093"/>
            <a:ext cx="10789920" cy="1975104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456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4233" y="5222958"/>
            <a:ext cx="8161934" cy="1518098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125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8295" y="3165653"/>
            <a:ext cx="5126125" cy="372237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05979" y="3165653"/>
            <a:ext cx="5124296" cy="372237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424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0123" y="2776120"/>
            <a:ext cx="5124298" cy="844904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80" b="0" cap="all" spc="12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00123" y="3771900"/>
            <a:ext cx="5124298" cy="311613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5979" y="3771900"/>
            <a:ext cx="5104181" cy="311613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605979" y="2776120"/>
            <a:ext cx="5124298" cy="844904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280" b="0" cap="all" spc="12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548640" indent="0">
              <a:buNone/>
              <a:defRPr sz="228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2173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32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5794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65607" y="2692594"/>
            <a:ext cx="5383987" cy="136979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64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3296" y="965607"/>
            <a:ext cx="5779008" cy="6298387"/>
          </a:xfrm>
        </p:spPr>
        <p:txBody>
          <a:bodyPr>
            <a:normAutofit/>
          </a:bodyPr>
          <a:lstStyle>
            <a:lvl1pPr>
              <a:defRPr sz="2280">
                <a:solidFill>
                  <a:schemeClr val="tx1"/>
                </a:solidFill>
              </a:defRPr>
            </a:lvl1pPr>
            <a:lvl2pPr>
              <a:defRPr sz="1920">
                <a:solidFill>
                  <a:schemeClr val="tx1"/>
                </a:solidFill>
              </a:defRPr>
            </a:lvl2pPr>
            <a:lvl3pPr>
              <a:defRPr sz="1920">
                <a:solidFill>
                  <a:schemeClr val="tx1"/>
                </a:solidFill>
              </a:defRPr>
            </a:lvl3pPr>
            <a:lvl4pPr>
              <a:defRPr sz="1920">
                <a:solidFill>
                  <a:schemeClr val="tx1"/>
                </a:solidFill>
              </a:defRPr>
            </a:lvl4pPr>
            <a:lvl5pPr>
              <a:defRPr sz="1920">
                <a:solidFill>
                  <a:schemeClr val="tx1"/>
                </a:solidFill>
              </a:defRPr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682" y="4259902"/>
            <a:ext cx="4553712" cy="2632843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65607" y="7483450"/>
            <a:ext cx="6149756" cy="384048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7135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731519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70227" y="2692594"/>
            <a:ext cx="5393998" cy="1361568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64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15200" y="0"/>
            <a:ext cx="7322516" cy="82296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84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8682" y="4259902"/>
            <a:ext cx="4553712" cy="2632844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65607" y="7483450"/>
            <a:ext cx="6149756" cy="384048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084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313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3734" y="1124712"/>
            <a:ext cx="1558330" cy="598017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7364" y="1124712"/>
            <a:ext cx="7438187" cy="598017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519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526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156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889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366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2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724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820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016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807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33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677363" y="1157630"/>
            <a:ext cx="9275674" cy="1426464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7363" y="3165653"/>
            <a:ext cx="9275674" cy="3722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5715" y="7486579"/>
            <a:ext cx="3304495" cy="38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1" y="7483450"/>
            <a:ext cx="7081427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0706" y="7461504"/>
            <a:ext cx="438912" cy="438912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32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1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  <p:sldLayoutId id="2147483833" r:id="rId12"/>
    <p:sldLayoutId id="2147483834" r:id="rId13"/>
    <p:sldLayoutId id="2147483835" r:id="rId14"/>
    <p:sldLayoutId id="2147483836" r:id="rId15"/>
    <p:sldLayoutId id="2147483837" r:id="rId16"/>
    <p:sldLayoutId id="2147483838" r:id="rId17"/>
    <p:sldLayoutId id="2147483839" r:id="rId18"/>
    <p:sldLayoutId id="2147483840" r:id="rId19"/>
    <p:sldLayoutId id="2147483841" r:id="rId20"/>
    <p:sldLayoutId id="2147483842" r:id="rId21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3360" kern="1200" cap="all" spc="24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216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9728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37160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75436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1781176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59330" indent="-274320" algn="l" defTabSz="1097280" rtl="0" eaLnBrk="1" latinLnBrk="0" hangingPunct="1">
        <a:lnSpc>
          <a:spcPct val="100000"/>
        </a:lnSpc>
        <a:spcBef>
          <a:spcPts val="1200"/>
        </a:spcBef>
        <a:buClr>
          <a:schemeClr val="accent2"/>
        </a:buClr>
        <a:buFont typeface="Arial" panose="020B0604020202020204" pitchFamily="34" charset="0"/>
        <a:buChar char="•"/>
        <a:defRPr sz="192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KIET Ghaziabad: Fees, Admission 2025 &amp; Average Package">
            <a:extLst>
              <a:ext uri="{FF2B5EF4-FFF2-40B4-BE49-F238E27FC236}">
                <a16:creationId xmlns:a16="http://schemas.microsoft.com/office/drawing/2014/main" id="{15704E48-26FD-A5C1-FAE6-D3B70FA679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64468" y="1584405"/>
            <a:ext cx="13701463" cy="641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b="1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Placement Bridge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 err="1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Devanshi</a:t>
            </a:r>
            <a:r>
              <a:rPr lang="en-IN" sz="2000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Singhal</a:t>
            </a:r>
            <a:r>
              <a:rPr lang="en-IN" sz="2000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(202410116100060)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Dhwani Panchal (202410116100063)</a:t>
            </a:r>
            <a:endParaRPr lang="en-IN" sz="2000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 err="1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Deepanshu</a:t>
            </a:r>
            <a:r>
              <a:rPr lang="en-US" sz="2000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dirty="0" err="1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Ruhela</a:t>
            </a:r>
            <a:r>
              <a:rPr lang="en-US" sz="2000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000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(202410116100056)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000" dirty="0" smtClean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Bishop </a:t>
            </a:r>
            <a:r>
              <a:rPr lang="en-US" sz="2000" dirty="0" err="1" smtClean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Tyagi</a:t>
            </a:r>
            <a:r>
              <a:rPr lang="en-US" sz="2000" dirty="0" smtClean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000" dirty="0" smtClean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(202410116100050)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(IV Semester</a:t>
            </a:r>
            <a:r>
              <a:rPr lang="en-IN" sz="2000" b="1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Ms. </a:t>
            </a:r>
            <a:r>
              <a:rPr lang="en-US" sz="2000" b="1" dirty="0" err="1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Sonam</a:t>
            </a:r>
            <a:r>
              <a:rPr lang="en-US" sz="2000" b="1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Jain </a:t>
            </a:r>
            <a:r>
              <a:rPr lang="en-IN" sz="2000" b="1" dirty="0" smtClean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(Assistant Professor) </a:t>
            </a:r>
            <a:endParaRPr lang="en-IN" sz="2000" b="1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10" name="Picture 9" descr="A close-up of a logo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6" y="427512"/>
            <a:ext cx="4182258" cy="115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0103"/>
            <a:ext cx="48503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Project Overview</a:t>
            </a:r>
            <a:endParaRPr lang="en-US"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0070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Placement_Bridge is a centralized platform that brings placement guidance, authentic resources, and structured mentorship into one place. It addresses fragmented channels of information, inconsistent mentorship, and confusion among juniors preparing for placements.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63186"/>
            <a:ext cx="914876" cy="11435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92154" y="41445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Purpose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92154" y="4634984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centralized placement guidance and curated interview materials to improve preparedness.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4144566"/>
            <a:ext cx="914876" cy="11435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4257" y="41445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Problem Solved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34257" y="4634984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Eliminates scattered information, reduces junior confusion, and standardizes mentorship.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4144566"/>
            <a:ext cx="914876" cy="11435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76359" y="41445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Impact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876359" y="4634984"/>
            <a:ext cx="29602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Improves placement outcomes by focusing preparation, enabling peer learning, and streamlining company-specific guidance.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910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Objectives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3310" y="3276243"/>
            <a:ext cx="3108960" cy="609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564017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Bridge Communication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408765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Facilitate structured senior→junior knowledge transfer and Q&amp;A channels.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94798" y="3276243"/>
            <a:ext cx="3109079" cy="609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7" name="Text 5"/>
          <p:cNvSpPr/>
          <p:nvPr/>
        </p:nvSpPr>
        <p:spPr>
          <a:xfrm>
            <a:off x="4125278" y="35640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Authentic Resources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25278" y="440876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Host verified interview experiences, company-wise question banks, and senior video walkthroughs.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6404" y="3276243"/>
            <a:ext cx="3109079" cy="609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7456884" y="35640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Company-wise Guidance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56884" y="440876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Organize material by company profile, role, and difficulty to focus preparation.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58011" y="3276243"/>
            <a:ext cx="3109079" cy="609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8491" y="35640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Peer Learning &amp; Mentorship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8491" y="440876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Encourage mentorship loops, peer reviews, and collaborative problem-solving.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600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Project Scope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33142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videos &amp; verified interview walkthroughs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Company-wise question banks and curated quizzes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Programming Q&amp;A, threaded discussions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user authentication and role-based access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1777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features visually prioritized: Videos, Q&amp;A, Company filters, Secure login — each designed for easy discoverability and trust.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203" y="2448401"/>
            <a:ext cx="2474238" cy="24742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6238" y="826294"/>
            <a:ext cx="4195643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Methodology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336238" y="1618059"/>
            <a:ext cx="209669" cy="1258610"/>
          </a:xfrm>
          <a:prstGeom prst="roundRect">
            <a:avLst>
              <a:gd name="adj" fmla="val 42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24144" y="1827728"/>
            <a:ext cx="3637002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Modular Development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24144" y="2262307"/>
            <a:ext cx="11569898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independent modules (Auth, Videos, Q&amp;A, Quizzes) to allow parallel development and easier maintenance.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650802" y="3054906"/>
            <a:ext cx="209669" cy="1258610"/>
          </a:xfrm>
          <a:prstGeom prst="roundRect">
            <a:avLst>
              <a:gd name="adj" fmla="val 42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8707" y="3264575"/>
            <a:ext cx="438804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Client–Server Architecture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38707" y="3699153"/>
            <a:ext cx="11255335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consumes REST APIs from backend services; ensures separation of concerns and scalability.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965484" y="4491752"/>
            <a:ext cx="209669" cy="1474708"/>
          </a:xfrm>
          <a:prstGeom prst="roundRect">
            <a:avLst>
              <a:gd name="adj" fmla="val 42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3389" y="4701421"/>
            <a:ext cx="339709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Tools &amp; Technologies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53389" y="5135999"/>
            <a:ext cx="10940653" cy="62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 HTML, CSS, JavaScript • Backend: Node.js, Express.js • DB: MySQL • Dev: VS Code, GitHub • Media: Cloudinary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2280166" y="6144697"/>
            <a:ext cx="209669" cy="1258610"/>
          </a:xfrm>
          <a:prstGeom prst="roundRect">
            <a:avLst>
              <a:gd name="adj" fmla="val 4202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8072" y="6354366"/>
            <a:ext cx="322611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Workflow Overview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68072" y="6788944"/>
            <a:ext cx="10625971" cy="31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Agile iterations with weekly sprints: requirement → design → implementation → test → demo.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722"/>
            <a:ext cx="103491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Hardware &amp; Software Requirements</a:t>
            </a:r>
            <a:endParaRPr lang="en-US" sz="3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68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Hardware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362914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Processor: Intel i5 or equivalent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Memory: 8 GB RAM (recommended 16 GB for development)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Storage: SSD (at least 256 GB)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Peripherals: Modern browser, stable internet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92573"/>
            <a:ext cx="28430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Software Stack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087064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 HTML5, CSS3, JavaScript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Backend: Node.js, Express.js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Database: MySQL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 Tools: VS Code, GitHub, Postman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Media: Cloudinary for video and asset hosting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991"/>
            <a:ext cx="51001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System Workflow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613" y="1900595"/>
            <a:ext cx="5957054" cy="4105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5867" y="4454969"/>
            <a:ext cx="1627870" cy="21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User Login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873044" y="2731087"/>
            <a:ext cx="1680756" cy="216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Dashboard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7001337" y="4959846"/>
            <a:ext cx="1627870" cy="21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Modules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8446338" y="2968045"/>
            <a:ext cx="1627871" cy="433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Backend &amp; Media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93790" y="6260902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diagram shows the user journey: authentication → personalized dashboard → module navigation. Backend services handle API requests, session management, and persistent storage; media assets are served via Cloudinary for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631031"/>
            <a:ext cx="8431530" cy="516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 smtClean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Timeline </a:t>
            </a:r>
            <a:endParaRPr lang="en-US" sz="3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770" y="1523524"/>
            <a:ext cx="22860" cy="6074926"/>
          </a:xfrm>
          <a:prstGeom prst="roundRect">
            <a:avLst>
              <a:gd name="adj" fmla="val 379497"/>
            </a:avLst>
          </a:prstGeom>
          <a:solidFill>
            <a:srgbClr val="BCDBD4"/>
          </a:solidFill>
          <a:ln/>
        </p:spPr>
      </p:sp>
      <p:sp>
        <p:nvSpPr>
          <p:cNvPr id="4" name="Shape 2"/>
          <p:cNvSpPr/>
          <p:nvPr/>
        </p:nvSpPr>
        <p:spPr>
          <a:xfrm>
            <a:off x="6486108" y="1744385"/>
            <a:ext cx="619601" cy="22860"/>
          </a:xfrm>
          <a:prstGeom prst="roundRect">
            <a:avLst>
              <a:gd name="adj" fmla="val 379497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7082850" y="1523524"/>
            <a:ext cx="464701" cy="464701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0240" y="1562219"/>
            <a:ext cx="30980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00582" y="1594485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Weeks 1–2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2828" y="2030016"/>
            <a:ext cx="555962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gathering, stakeholder interviews, and finalizing scope.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4690" y="2946678"/>
            <a:ext cx="619601" cy="22860"/>
          </a:xfrm>
          <a:prstGeom prst="roundRect">
            <a:avLst>
              <a:gd name="adj" fmla="val 379497"/>
            </a:avLst>
          </a:prstGeom>
          <a:solidFill>
            <a:srgbClr val="BCDBD4"/>
          </a:solidFill>
          <a:ln/>
        </p:spPr>
      </p:sp>
      <p:sp>
        <p:nvSpPr>
          <p:cNvPr id="10" name="Shape 8"/>
          <p:cNvSpPr/>
          <p:nvPr/>
        </p:nvSpPr>
        <p:spPr>
          <a:xfrm>
            <a:off x="7082850" y="2725817"/>
            <a:ext cx="464701" cy="464701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0240" y="2764512"/>
            <a:ext cx="30980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47948" y="2796778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Weeks 3–4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47948" y="3232309"/>
            <a:ext cx="555962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&amp; UI design, database schema, API contracts.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86108" y="3996333"/>
            <a:ext cx="619601" cy="22860"/>
          </a:xfrm>
          <a:prstGeom prst="roundRect">
            <a:avLst>
              <a:gd name="adj" fmla="val 379497"/>
            </a:avLst>
          </a:prstGeom>
          <a:solidFill>
            <a:srgbClr val="BCDBD4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2850" y="3775472"/>
            <a:ext cx="464701" cy="464701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0240" y="3814167"/>
            <a:ext cx="30980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00582" y="3846433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Weeks 5–10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2828" y="4281964"/>
            <a:ext cx="555962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development (Auth, Videos, Q&amp;A, Quizzes, Company Modules) in parallel sprints.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4690" y="5046107"/>
            <a:ext cx="619601" cy="22860"/>
          </a:xfrm>
          <a:prstGeom prst="roundRect">
            <a:avLst>
              <a:gd name="adj" fmla="val 379497"/>
            </a:avLst>
          </a:prstGeom>
          <a:solidFill>
            <a:srgbClr val="BCDB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2850" y="4825246"/>
            <a:ext cx="464701" cy="464701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0240" y="4863941"/>
            <a:ext cx="30980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47948" y="4896207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Weeks 11–12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47948" y="5331738"/>
            <a:ext cx="555962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across modules and end-to-end testing.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86108" y="6095881"/>
            <a:ext cx="619601" cy="22860"/>
          </a:xfrm>
          <a:prstGeom prst="roundRect">
            <a:avLst>
              <a:gd name="adj" fmla="val 379497"/>
            </a:avLst>
          </a:prstGeom>
          <a:solidFill>
            <a:srgbClr val="BCDBD4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2850" y="5875020"/>
            <a:ext cx="464701" cy="464701"/>
          </a:xfrm>
          <a:prstGeom prst="roundRect">
            <a:avLst>
              <a:gd name="adj" fmla="val 18669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0240" y="5913715"/>
            <a:ext cx="309801" cy="387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00582" y="5945981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Weeks 13–15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2828" y="6381512"/>
            <a:ext cx="555962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testing, user acceptance testing, deployment preparation and launch.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230"/>
            <a:ext cx="51527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Project Outcomes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79834"/>
            <a:ext cx="1767840" cy="1092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855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Authentication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346258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login/register screens with role-based access for seniors, juniors, and admins.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479834"/>
            <a:ext cx="1767840" cy="1092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3855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Video Module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125278" y="4346258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Curated senior walkthroughs with tagging by company and topic; Cloudinary-hosted media.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479834"/>
            <a:ext cx="1767840" cy="1092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3855839"/>
            <a:ext cx="3048119" cy="49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Q&amp;A &amp; Discussions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456883" y="4364487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Threaded questions, answer voting, and mentor highlights to surface trusted guidance.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479834"/>
            <a:ext cx="1767840" cy="1092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3855839"/>
            <a:ext cx="3048119" cy="49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Quizzes &amp; Practice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788488" y="4346258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Company-based quizzes and practice sets to measure readiness and track improvement.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4073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Deliverables: functioning modules, tested workflows, and UI screens ready for pilot with the department.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1181"/>
            <a:ext cx="76113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Conclusion &amp; Future Scope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3831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Placement_Bridge centralizes mentorship and placement resources to improve student outcomes and streamline preparation. Initial deployment focuses on pilot within KIET Department of Computer Applications.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456390"/>
            <a:ext cx="3342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Short-Term Impact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494680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confusion, faster access to vetted resources, stronger senior–junior engagement.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235893" y="4456390"/>
            <a:ext cx="39581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smtClean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Future Enhancements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35893" y="4946809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AI-based personalized recommendations, analytics dashboard for performance insights, and multi-institution support.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7995" y="4456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Times New Roman" panose="02020603050405020304" pitchFamily="18" charset="0"/>
                <a:ea typeface="Unbounded Bold" pitchFamily="34" charset="-122"/>
                <a:cs typeface="Times New Roman" panose="02020603050405020304" pitchFamily="18" charset="0"/>
              </a:rPr>
              <a:t>Next Steps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77995" y="494680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 launch, collect user feedback, iterate UI/UX, and plan phased rollout across sessions.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16</TotalTime>
  <Words>648</Words>
  <Application>Microsoft Office PowerPoint</Application>
  <PresentationFormat>Custom</PresentationFormat>
  <Paragraphs>106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</vt:lpstr>
      <vt:lpstr>Open Sans</vt:lpstr>
      <vt:lpstr>Gill Sans MT</vt:lpstr>
      <vt:lpstr>Unbounded Bold</vt:lpstr>
      <vt:lpstr>Times New Roman</vt:lpstr>
      <vt:lpstr>Arial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8</cp:revision>
  <dcterms:created xsi:type="dcterms:W3CDTF">2026-02-26T16:34:47Z</dcterms:created>
  <dcterms:modified xsi:type="dcterms:W3CDTF">2026-02-26T17:20:09Z</dcterms:modified>
</cp:coreProperties>
</file>