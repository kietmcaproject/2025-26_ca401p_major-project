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66" r:id="rId2"/>
    <p:sldId id="256" r:id="rId3"/>
    <p:sldId id="257" r:id="rId4"/>
    <p:sldId id="258" r:id="rId5"/>
    <p:sldId id="259" r:id="rId6"/>
    <p:sldId id="260" r:id="rId7"/>
    <p:sldId id="261" r:id="rId8"/>
    <p:sldId id="262" r:id="rId9"/>
    <p:sldId id="263" r:id="rId10"/>
    <p:sldId id="264" r:id="rId11"/>
  </p:sldIdLst>
  <p:sldSz cx="14630400" cy="8229600"/>
  <p:notesSz cx="8229600" cy="14630400"/>
  <p:embeddedFontLst>
    <p:embeddedFont>
      <p:font typeface="Patrick Hand" panose="00000500000000000000" pitchFamily="2"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3" d="100"/>
          <a:sy n="53" d="100"/>
        </p:scale>
        <p:origin x="74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89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txBody>
          <a:bodyPr/>
          <a:lstStyle/>
          <a:p>
            <a:endParaRPr lang="en-IN"/>
          </a:p>
        </p:txBody>
      </p:sp>
      <p:sp>
        <p:nvSpPr>
          <p:cNvPr id="3" name="Shape 1"/>
          <p:cNvSpPr/>
          <p:nvPr/>
        </p:nvSpPr>
        <p:spPr>
          <a:xfrm>
            <a:off x="0" y="0"/>
            <a:ext cx="14630400" cy="8229600"/>
          </a:xfrm>
          <a:prstGeom prst="rect">
            <a:avLst/>
          </a:prstGeom>
          <a:solidFill>
            <a:srgbClr val="F7F7F7"/>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9D9D9"/>
          </a:solidFill>
          <a:ln/>
        </p:spPr>
      </p:sp>
      <p:sp>
        <p:nvSpPr>
          <p:cNvPr id="3" name="Shape 1"/>
          <p:cNvSpPr/>
          <p:nvPr/>
        </p:nvSpPr>
        <p:spPr>
          <a:xfrm>
            <a:off x="0" y="0"/>
            <a:ext cx="14630400" cy="8229600"/>
          </a:xfrm>
          <a:prstGeom prst="rect">
            <a:avLst/>
          </a:prstGeom>
          <a:solidFill>
            <a:srgbClr val="F7F7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135796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 y="0"/>
            <a:ext cx="14569440" cy="7944226"/>
          </a:xfrm>
          <a:prstGeom prst="rect">
            <a:avLst/>
          </a:prstGeom>
        </p:spPr>
        <p:txBody>
          <a:bodyPr wrap="square">
            <a:spAutoFit/>
          </a:bodyPr>
          <a:lstStyle/>
          <a:p>
            <a:pPr algn="ctr">
              <a:lnSpc>
                <a:spcPct val="115000"/>
              </a:lnSpc>
              <a:spcAft>
                <a:spcPts val="800"/>
              </a:spcAft>
            </a:pPr>
            <a:endParaRPr lang="en-IN" sz="2880" b="1" dirty="0">
              <a:solidFill>
                <a:srgbClr val="1F497D"/>
              </a:solidFill>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800"/>
              </a:spcAft>
            </a:pPr>
            <a:r>
              <a:rPr lang="en-IN" sz="2880" b="1"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SYNOPSIS Presentation </a:t>
            </a:r>
            <a:endParaRPr lang="en-IN" sz="288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800"/>
              </a:spcAft>
            </a:pPr>
            <a:r>
              <a:rPr lang="en-IN" sz="2880" b="1"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on</a:t>
            </a:r>
            <a:endParaRPr lang="en-IN" sz="288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800"/>
              </a:spcAft>
            </a:pPr>
            <a:r>
              <a:rPr lang="en-IN" sz="2880" b="1"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Personal finance Tracker</a:t>
            </a:r>
            <a:endParaRPr lang="en-IN" sz="288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800"/>
              </a:spcAft>
            </a:pPr>
            <a:r>
              <a:rPr lang="en-IN" sz="2880" b="1"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by</a:t>
            </a:r>
            <a:endParaRPr lang="en-IN" sz="288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800"/>
              </a:spcAft>
            </a:pPr>
            <a:r>
              <a:rPr lang="en-IN" sz="2240"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Aanchal Choudhary 202410116100002</a:t>
            </a:r>
            <a:endParaRPr lang="en-IN" sz="224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800"/>
              </a:spcAft>
            </a:pPr>
            <a:r>
              <a:rPr lang="en-IN" sz="2240"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Brijesh Sharma  202410116100052</a:t>
            </a:r>
          </a:p>
          <a:p>
            <a:pPr algn="ctr">
              <a:lnSpc>
                <a:spcPct val="115000"/>
              </a:lnSpc>
              <a:spcAft>
                <a:spcPts val="800"/>
              </a:spcAft>
            </a:pPr>
            <a:r>
              <a:rPr lang="en-IN" sz="2240"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Devesh Alan 202410116100061</a:t>
            </a:r>
            <a:endParaRPr lang="en-IN" sz="224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800"/>
              </a:spcAft>
            </a:pPr>
            <a:r>
              <a:rPr lang="en-IN" sz="2240"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Bobby Karnik 202410116100051</a:t>
            </a:r>
            <a:endParaRPr lang="en-IN" sz="224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800"/>
              </a:spcAft>
            </a:pPr>
            <a:r>
              <a:rPr lang="en-IN" sz="2560" b="1"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Session:2025-2026 (IV Semester)</a:t>
            </a:r>
            <a:endParaRPr lang="en-IN" sz="288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800"/>
              </a:spcAft>
            </a:pPr>
            <a:r>
              <a:rPr lang="en-IN" sz="2560"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Under the supervision of </a:t>
            </a:r>
            <a:endParaRPr lang="en-IN" sz="256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800"/>
              </a:spcAft>
            </a:pPr>
            <a:r>
              <a:rPr lang="en-IN" sz="2560" b="1"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 Ms./ Sonam Jain</a:t>
            </a:r>
          </a:p>
          <a:p>
            <a:pPr algn="ctr">
              <a:lnSpc>
                <a:spcPct val="115000"/>
              </a:lnSpc>
              <a:spcAft>
                <a:spcPts val="800"/>
              </a:spcAft>
            </a:pPr>
            <a:r>
              <a:rPr lang="en-IN" sz="2560" b="1"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Department Of Computer Applications</a:t>
            </a:r>
          </a:p>
          <a:p>
            <a:pPr algn="ctr">
              <a:lnSpc>
                <a:spcPct val="115000"/>
              </a:lnSpc>
              <a:spcAft>
                <a:spcPts val="800"/>
              </a:spcAft>
            </a:pPr>
            <a:r>
              <a:rPr lang="en-IN" sz="2560" b="1" dirty="0">
                <a:solidFill>
                  <a:srgbClr val="1F497D"/>
                </a:solidFill>
                <a:latin typeface="Times New Roman" panose="02020603050405020304" pitchFamily="18" charset="0"/>
                <a:cs typeface="Times New Roman" panose="02020603050405020304" pitchFamily="18" charset="0"/>
              </a:rPr>
              <a:t>KIET GROUP OF INSTITUTIONS, DELHI-NCR, GHAZIABAD-201206</a:t>
            </a:r>
          </a:p>
        </p:txBody>
      </p:sp>
      <p:pic>
        <p:nvPicPr>
          <p:cNvPr id="4" name="Picture 3" descr="A close-up of a logo&#10;&#10;AI-generated content may be incorrect.">
            <a:extLst>
              <a:ext uri="{FF2B5EF4-FFF2-40B4-BE49-F238E27FC236}">
                <a16:creationId xmlns:a16="http://schemas.microsoft.com/office/drawing/2014/main" id="{48DC02B4-1A9E-669F-DEA5-5FBC82F838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173" y="342010"/>
            <a:ext cx="4162798" cy="11515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3423523"/>
            <a:ext cx="6620828" cy="617101"/>
          </a:xfrm>
          <a:prstGeom prst="rect">
            <a:avLst/>
          </a:prstGeom>
          <a:noFill/>
          <a:ln/>
        </p:spPr>
        <p:txBody>
          <a:bodyPr wrap="none" lIns="0" tIns="0" rIns="0" bIns="0" rtlCol="0" anchor="t"/>
          <a:lstStyle/>
          <a:p>
            <a:pPr marL="0" indent="0" algn="l">
              <a:lnSpc>
                <a:spcPts val="4850"/>
              </a:lnSpc>
              <a:buNone/>
            </a:pPr>
            <a:r>
              <a:rPr lang="en-US" sz="3850" dirty="0">
                <a:solidFill>
                  <a:srgbClr val="383838"/>
                </a:solidFill>
                <a:latin typeface="Patrick Hand" pitchFamily="34" charset="0"/>
                <a:ea typeface="Patrick Hand" pitchFamily="34" charset="-122"/>
                <a:cs typeface="Patrick Hand" pitchFamily="34" charset="-120"/>
              </a:rPr>
              <a:t>AI-Powered Personal Finance Tracker</a:t>
            </a:r>
            <a:endParaRPr lang="en-US" sz="3850" dirty="0"/>
          </a:p>
        </p:txBody>
      </p:sp>
      <p:sp>
        <p:nvSpPr>
          <p:cNvPr id="4" name="Text 1"/>
          <p:cNvSpPr/>
          <p:nvPr/>
        </p:nvSpPr>
        <p:spPr>
          <a:xfrm>
            <a:off x="864037" y="4410908"/>
            <a:ext cx="7415927" cy="395049"/>
          </a:xfrm>
          <a:prstGeom prst="rect">
            <a:avLst/>
          </a:prstGeom>
          <a:noFill/>
          <a:ln/>
        </p:spPr>
        <p:txBody>
          <a:bodyPr wrap="none" lIns="0" tIns="0" rIns="0" bIns="0" rtlCol="0" anchor="t"/>
          <a:lstStyle/>
          <a:p>
            <a:pPr marL="0" indent="0" algn="l">
              <a:lnSpc>
                <a:spcPts val="3100"/>
              </a:lnSpc>
              <a:buNone/>
            </a:pPr>
            <a:r>
              <a:rPr lang="en-US" sz="1900" dirty="0">
                <a:solidFill>
                  <a:srgbClr val="383838"/>
                </a:solidFill>
                <a:latin typeface="Patrick Hand" pitchFamily="34" charset="0"/>
                <a:ea typeface="Patrick Hand" pitchFamily="34" charset="-122"/>
                <a:cs typeface="Patrick Hand" pitchFamily="34" charset="-120"/>
              </a:rPr>
              <a:t>Smart Expense Prediction &amp; Automated Entry</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4037" y="917496"/>
            <a:ext cx="4937760" cy="617101"/>
          </a:xfrm>
          <a:prstGeom prst="rect">
            <a:avLst/>
          </a:prstGeom>
          <a:noFill/>
          <a:ln/>
        </p:spPr>
        <p:txBody>
          <a:bodyPr wrap="none" lIns="0" tIns="0" rIns="0" bIns="0" rtlCol="0" anchor="t"/>
          <a:lstStyle/>
          <a:p>
            <a:pPr marL="0" indent="0" algn="l">
              <a:lnSpc>
                <a:spcPts val="4850"/>
              </a:lnSpc>
              <a:buNone/>
            </a:pPr>
            <a:r>
              <a:rPr lang="en-US" sz="3850" dirty="0">
                <a:solidFill>
                  <a:srgbClr val="383838"/>
                </a:solidFill>
                <a:latin typeface="Patrick Hand" pitchFamily="34" charset="0"/>
                <a:ea typeface="Patrick Hand" pitchFamily="34" charset="-122"/>
                <a:cs typeface="Patrick Hand" pitchFamily="34" charset="-120"/>
              </a:rPr>
              <a:t>Project Overview</a:t>
            </a:r>
            <a:endParaRPr lang="en-US" sz="3850" dirty="0"/>
          </a:p>
        </p:txBody>
      </p:sp>
      <p:sp>
        <p:nvSpPr>
          <p:cNvPr id="3" name="Text 1"/>
          <p:cNvSpPr/>
          <p:nvPr/>
        </p:nvSpPr>
        <p:spPr>
          <a:xfrm>
            <a:off x="864037" y="2127052"/>
            <a:ext cx="4124325" cy="2370296"/>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Patrick Hand" pitchFamily="34" charset="0"/>
                <a:ea typeface="Patrick Hand" pitchFamily="34" charset="-122"/>
                <a:cs typeface="Patrick Hand" pitchFamily="34" charset="-120"/>
              </a:rPr>
              <a:t>A mobile and web application designed to revolutionize personal finance management. This innovative tool empowers users to track income and expenses, visualize spending patterns, and set savings goals with unprecedented ease.</a:t>
            </a:r>
            <a:endParaRPr lang="en-US" sz="1900" dirty="0"/>
          </a:p>
        </p:txBody>
      </p:sp>
      <p:sp>
        <p:nvSpPr>
          <p:cNvPr id="4" name="Text 2"/>
          <p:cNvSpPr/>
          <p:nvPr/>
        </p:nvSpPr>
        <p:spPr>
          <a:xfrm>
            <a:off x="864037" y="4719518"/>
            <a:ext cx="4124325" cy="2370296"/>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Patrick Hand" pitchFamily="34" charset="0"/>
                <a:ea typeface="Patrick Hand" pitchFamily="34" charset="-122"/>
                <a:cs typeface="Patrick Hand" pitchFamily="34" charset="-120"/>
              </a:rPr>
              <a:t>Our key differentiator is the integration of advanced AI-based prediction models that not only forecast future expenses but also analyze the underlying reasons for month-over-month spending increases, providing actionable improvement suggestions.</a:t>
            </a:r>
            <a:endParaRPr lang="en-US" sz="1900" dirty="0"/>
          </a:p>
        </p:txBody>
      </p:sp>
      <p:pic>
        <p:nvPicPr>
          <p:cNvPr id="5" name="Image 0" descr="preencoded.png"/>
          <p:cNvPicPr>
            <a:picLocks noChangeAspect="1"/>
          </p:cNvPicPr>
          <p:nvPr/>
        </p:nvPicPr>
        <p:blipFill>
          <a:blip r:embed="rId3"/>
          <a:stretch>
            <a:fillRect/>
          </a:stretch>
        </p:blipFill>
        <p:spPr>
          <a:xfrm>
            <a:off x="5598200" y="2326838"/>
            <a:ext cx="8175665" cy="4563070"/>
          </a:xfrm>
          <a:prstGeom prst="rect">
            <a:avLst/>
          </a:prstGeom>
        </p:spPr>
      </p:pic>
      <p:sp>
        <p:nvSpPr>
          <p:cNvPr id="6" name="Rectangle 5">
            <a:extLst>
              <a:ext uri="{FF2B5EF4-FFF2-40B4-BE49-F238E27FC236}">
                <a16:creationId xmlns:a16="http://schemas.microsoft.com/office/drawing/2014/main" id="{A6D14076-FD73-3696-3603-F456FC48EE40}"/>
              </a:ext>
            </a:extLst>
          </p:cNvPr>
          <p:cNvSpPr/>
          <p:nvPr/>
        </p:nvSpPr>
        <p:spPr>
          <a:xfrm>
            <a:off x="12633158" y="7543800"/>
            <a:ext cx="1997242" cy="685800"/>
          </a:xfrm>
          <a:prstGeom prst="rect">
            <a:avLst/>
          </a:prstGeom>
          <a:solidFill>
            <a:srgbClr val="F5F5FD"/>
          </a:solidFill>
          <a:ln>
            <a:solidFill>
              <a:srgbClr val="F5F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046678" y="875109"/>
            <a:ext cx="4542353" cy="567690"/>
          </a:xfrm>
          <a:prstGeom prst="rect">
            <a:avLst/>
          </a:prstGeom>
          <a:noFill/>
          <a:ln/>
        </p:spPr>
        <p:txBody>
          <a:bodyPr wrap="none" lIns="0" tIns="0" rIns="0" bIns="0" rtlCol="0" anchor="t"/>
          <a:lstStyle/>
          <a:p>
            <a:pPr marL="0" indent="0" algn="l">
              <a:lnSpc>
                <a:spcPts val="4450"/>
              </a:lnSpc>
              <a:buNone/>
            </a:pPr>
            <a:r>
              <a:rPr lang="en-US" sz="3550" dirty="0">
                <a:solidFill>
                  <a:srgbClr val="383838"/>
                </a:solidFill>
                <a:latin typeface="Patrick Hand" pitchFamily="34" charset="0"/>
                <a:ea typeface="Patrick Hand" pitchFamily="34" charset="-122"/>
                <a:cs typeface="Patrick Hand" pitchFamily="34" charset="-120"/>
              </a:rPr>
              <a:t>Automated Expense Entry</a:t>
            </a:r>
            <a:endParaRPr lang="en-US" sz="3550" dirty="0"/>
          </a:p>
        </p:txBody>
      </p:sp>
      <p:sp>
        <p:nvSpPr>
          <p:cNvPr id="3" name="Text 1"/>
          <p:cNvSpPr/>
          <p:nvPr/>
        </p:nvSpPr>
        <p:spPr>
          <a:xfrm>
            <a:off x="1046678" y="1860590"/>
            <a:ext cx="12536924" cy="348853"/>
          </a:xfrm>
          <a:prstGeom prst="rect">
            <a:avLst/>
          </a:prstGeom>
          <a:noFill/>
          <a:ln/>
        </p:spPr>
        <p:txBody>
          <a:bodyPr wrap="none" lIns="0" tIns="0" rIns="0" bIns="0" rtlCol="0" anchor="t"/>
          <a:lstStyle/>
          <a:p>
            <a:pPr marL="0" indent="0" algn="l">
              <a:lnSpc>
                <a:spcPts val="2700"/>
              </a:lnSpc>
              <a:buNone/>
            </a:pPr>
            <a:r>
              <a:rPr lang="en-US" sz="1750" dirty="0">
                <a:solidFill>
                  <a:srgbClr val="383838"/>
                </a:solidFill>
                <a:latin typeface="Patrick Hand" pitchFamily="34" charset="0"/>
                <a:ea typeface="Patrick Hand" pitchFamily="34" charset="-122"/>
                <a:cs typeface="Patrick Hand" pitchFamily="34" charset="-120"/>
              </a:rPr>
              <a:t>Simplify record-keeping with intelligent bill processing.</a:t>
            </a:r>
            <a:endParaRPr lang="en-US" sz="1750" dirty="0"/>
          </a:p>
        </p:txBody>
      </p:sp>
      <p:pic>
        <p:nvPicPr>
          <p:cNvPr id="4" name="Image 0" descr="preencoded.png"/>
          <p:cNvPicPr>
            <a:picLocks noChangeAspect="1"/>
          </p:cNvPicPr>
          <p:nvPr/>
        </p:nvPicPr>
        <p:blipFill>
          <a:blip r:embed="rId3"/>
          <a:stretch>
            <a:fillRect/>
          </a:stretch>
        </p:blipFill>
        <p:spPr>
          <a:xfrm>
            <a:off x="1046678" y="2679502"/>
            <a:ext cx="7955042" cy="4439960"/>
          </a:xfrm>
          <a:prstGeom prst="rect">
            <a:avLst/>
          </a:prstGeom>
        </p:spPr>
      </p:pic>
      <p:sp>
        <p:nvSpPr>
          <p:cNvPr id="5" name="Text 2"/>
          <p:cNvSpPr/>
          <p:nvPr/>
        </p:nvSpPr>
        <p:spPr>
          <a:xfrm>
            <a:off x="9563457" y="2886789"/>
            <a:ext cx="4027646" cy="2093119"/>
          </a:xfrm>
          <a:prstGeom prst="rect">
            <a:avLst/>
          </a:prstGeom>
          <a:noFill/>
          <a:ln/>
        </p:spPr>
        <p:txBody>
          <a:bodyPr wrap="square" lIns="0" tIns="0" rIns="0" bIns="0" rtlCol="0" anchor="t"/>
          <a:lstStyle/>
          <a:p>
            <a:pPr marL="0" indent="0" algn="l">
              <a:lnSpc>
                <a:spcPts val="2700"/>
              </a:lnSpc>
              <a:buNone/>
            </a:pPr>
            <a:r>
              <a:rPr lang="en-US" sz="1750" dirty="0">
                <a:solidFill>
                  <a:srgbClr val="383838"/>
                </a:solidFill>
                <a:latin typeface="Patrick Hand" pitchFamily="34" charset="0"/>
                <a:ea typeface="Patrick Hand" pitchFamily="34" charset="-122"/>
                <a:cs typeface="Patrick Hand" pitchFamily="34" charset="-120"/>
              </a:rPr>
              <a:t>The system streamlines expense entry by allowing users to upload restaurant bills. Utilizing AI and Optical Character Recognition (OCR) technology, the application automatically extracts critical expense details such as total amount, date, and individual items.</a:t>
            </a:r>
            <a:endParaRPr lang="en-US" sz="1750" dirty="0"/>
          </a:p>
        </p:txBody>
      </p:sp>
      <p:sp>
        <p:nvSpPr>
          <p:cNvPr id="6" name="Text 3"/>
          <p:cNvSpPr/>
          <p:nvPr/>
        </p:nvSpPr>
        <p:spPr>
          <a:xfrm>
            <a:off x="9563457" y="5167908"/>
            <a:ext cx="4027646" cy="1744266"/>
          </a:xfrm>
          <a:prstGeom prst="rect">
            <a:avLst/>
          </a:prstGeom>
          <a:noFill/>
          <a:ln/>
        </p:spPr>
        <p:txBody>
          <a:bodyPr wrap="square" lIns="0" tIns="0" rIns="0" bIns="0" rtlCol="0" anchor="t"/>
          <a:lstStyle/>
          <a:p>
            <a:pPr marL="0" indent="0" algn="l">
              <a:lnSpc>
                <a:spcPts val="2700"/>
              </a:lnSpc>
              <a:buNone/>
            </a:pPr>
            <a:r>
              <a:rPr lang="en-US" sz="1750" dirty="0">
                <a:solidFill>
                  <a:srgbClr val="383838"/>
                </a:solidFill>
                <a:latin typeface="Patrick Hand" pitchFamily="34" charset="0"/>
                <a:ea typeface="Patrick Hand" pitchFamily="34" charset="-122"/>
                <a:cs typeface="Patrick Hand" pitchFamily="34" charset="-120"/>
              </a:rPr>
              <a:t>Once extracted, AI intelligently categorizes the expense (e.g., Food &amp; Dining), updating financial records instantly. This feature dramatically reduces the need for manual data entry, saving users time and ensuring accuracy.</a:t>
            </a:r>
            <a:endParaRPr lang="en-US" sz="1750" dirty="0"/>
          </a:p>
        </p:txBody>
      </p:sp>
      <p:sp>
        <p:nvSpPr>
          <p:cNvPr id="7" name="Rectangle 6">
            <a:extLst>
              <a:ext uri="{FF2B5EF4-FFF2-40B4-BE49-F238E27FC236}">
                <a16:creationId xmlns:a16="http://schemas.microsoft.com/office/drawing/2014/main" id="{E9EA5FBE-7E99-1E8F-8796-279D89BDC05A}"/>
              </a:ext>
            </a:extLst>
          </p:cNvPr>
          <p:cNvSpPr/>
          <p:nvPr/>
        </p:nvSpPr>
        <p:spPr>
          <a:xfrm>
            <a:off x="12633158" y="7555832"/>
            <a:ext cx="1997242" cy="685800"/>
          </a:xfrm>
          <a:prstGeom prst="rect">
            <a:avLst/>
          </a:prstGeom>
          <a:solidFill>
            <a:srgbClr val="F5F5FD"/>
          </a:solidFill>
          <a:ln>
            <a:solidFill>
              <a:srgbClr val="F5F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864037" y="1509593"/>
            <a:ext cx="1227653" cy="464106"/>
          </a:xfrm>
          <a:prstGeom prst="roundRect">
            <a:avLst>
              <a:gd name="adj" fmla="val 17874"/>
            </a:avLst>
          </a:prstGeom>
          <a:solidFill>
            <a:srgbClr val="E6E6E6"/>
          </a:solidFill>
          <a:ln/>
        </p:spPr>
        <p:txBody>
          <a:bodyPr/>
          <a:lstStyle/>
          <a:p>
            <a:endParaRPr lang="en-IN"/>
          </a:p>
        </p:txBody>
      </p:sp>
      <p:sp>
        <p:nvSpPr>
          <p:cNvPr id="3" name="Text 1"/>
          <p:cNvSpPr/>
          <p:nvPr/>
        </p:nvSpPr>
        <p:spPr>
          <a:xfrm>
            <a:off x="1012150" y="1583650"/>
            <a:ext cx="931426" cy="315992"/>
          </a:xfrm>
          <a:prstGeom prst="rect">
            <a:avLst/>
          </a:prstGeom>
          <a:noFill/>
          <a:ln/>
        </p:spPr>
        <p:txBody>
          <a:bodyPr wrap="none" lIns="0" tIns="0" rIns="0" bIns="0" rtlCol="0" anchor="t"/>
          <a:lstStyle/>
          <a:p>
            <a:pPr marL="0" indent="0" algn="l">
              <a:lnSpc>
                <a:spcPts val="2450"/>
              </a:lnSpc>
              <a:buNone/>
            </a:pPr>
            <a:r>
              <a:rPr lang="en-US" sz="1550" dirty="0">
                <a:solidFill>
                  <a:srgbClr val="383838"/>
                </a:solidFill>
                <a:latin typeface="Patrick Hand" pitchFamily="34" charset="0"/>
                <a:ea typeface="Patrick Hand" pitchFamily="34" charset="-122"/>
                <a:cs typeface="Patrick Hand" pitchFamily="34" charset="-120"/>
              </a:rPr>
              <a:t>CORE FOCUS</a:t>
            </a:r>
            <a:endParaRPr lang="en-US" sz="1550" dirty="0"/>
          </a:p>
        </p:txBody>
      </p:sp>
      <p:sp>
        <p:nvSpPr>
          <p:cNvPr id="4" name="Text 2"/>
          <p:cNvSpPr/>
          <p:nvPr/>
        </p:nvSpPr>
        <p:spPr>
          <a:xfrm>
            <a:off x="864037" y="2072402"/>
            <a:ext cx="4937760" cy="617101"/>
          </a:xfrm>
          <a:prstGeom prst="rect">
            <a:avLst/>
          </a:prstGeom>
          <a:noFill/>
          <a:ln/>
        </p:spPr>
        <p:txBody>
          <a:bodyPr wrap="none" lIns="0" tIns="0" rIns="0" bIns="0" rtlCol="0" anchor="t"/>
          <a:lstStyle/>
          <a:p>
            <a:pPr marL="0" indent="0" algn="l">
              <a:lnSpc>
                <a:spcPts val="4850"/>
              </a:lnSpc>
              <a:buNone/>
            </a:pPr>
            <a:r>
              <a:rPr lang="en-US" sz="3850" dirty="0">
                <a:solidFill>
                  <a:srgbClr val="383838"/>
                </a:solidFill>
                <a:latin typeface="Patrick Hand" pitchFamily="34" charset="0"/>
                <a:ea typeface="Patrick Hand" pitchFamily="34" charset="-122"/>
                <a:cs typeface="Patrick Hand" pitchFamily="34" charset="-120"/>
              </a:rPr>
              <a:t>Key Objectives</a:t>
            </a:r>
            <a:endParaRPr lang="en-US" sz="3850" dirty="0"/>
          </a:p>
        </p:txBody>
      </p:sp>
      <p:sp>
        <p:nvSpPr>
          <p:cNvPr id="5" name="Text 3"/>
          <p:cNvSpPr/>
          <p:nvPr/>
        </p:nvSpPr>
        <p:spPr>
          <a:xfrm>
            <a:off x="864037" y="3059787"/>
            <a:ext cx="12902327" cy="395049"/>
          </a:xfrm>
          <a:prstGeom prst="rect">
            <a:avLst/>
          </a:prstGeom>
          <a:noFill/>
          <a:ln/>
        </p:spPr>
        <p:txBody>
          <a:bodyPr wrap="none" lIns="0" tIns="0" rIns="0" bIns="0" rtlCol="0" anchor="t"/>
          <a:lstStyle/>
          <a:p>
            <a:pPr marL="0" indent="0" algn="l">
              <a:lnSpc>
                <a:spcPts val="3100"/>
              </a:lnSpc>
              <a:buNone/>
            </a:pPr>
            <a:r>
              <a:rPr lang="en-US" sz="1900" dirty="0">
                <a:solidFill>
                  <a:srgbClr val="383838"/>
                </a:solidFill>
                <a:latin typeface="Patrick Hand" pitchFamily="34" charset="0"/>
                <a:ea typeface="Patrick Hand" pitchFamily="34" charset="-122"/>
                <a:cs typeface="Patrick Hand" pitchFamily="34" charset="-120"/>
              </a:rPr>
              <a:t>Our primary goals are to empower users with financial intelligence.</a:t>
            </a:r>
            <a:endParaRPr lang="en-US" sz="1900" dirty="0"/>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4037" y="3732490"/>
            <a:ext cx="617220" cy="617220"/>
          </a:xfrm>
          <a:prstGeom prst="rect">
            <a:avLst/>
          </a:prstGeom>
        </p:spPr>
      </p:pic>
      <p:sp>
        <p:nvSpPr>
          <p:cNvPr id="7" name="Text 4"/>
          <p:cNvSpPr/>
          <p:nvPr/>
        </p:nvSpPr>
        <p:spPr>
          <a:xfrm>
            <a:off x="1789867" y="3732490"/>
            <a:ext cx="2936915" cy="308610"/>
          </a:xfrm>
          <a:prstGeom prst="rect">
            <a:avLst/>
          </a:prstGeom>
          <a:noFill/>
          <a:ln/>
        </p:spPr>
        <p:txBody>
          <a:bodyPr wrap="none" lIns="0" tIns="0" rIns="0" bIns="0" rtlCol="0" anchor="t"/>
          <a:lstStyle/>
          <a:p>
            <a:pPr marL="0" indent="0" algn="l">
              <a:lnSpc>
                <a:spcPts val="2400"/>
              </a:lnSpc>
              <a:buNone/>
            </a:pPr>
            <a:r>
              <a:rPr lang="en-US" sz="1900" dirty="0">
                <a:solidFill>
                  <a:srgbClr val="383838"/>
                </a:solidFill>
                <a:latin typeface="Patrick Hand" pitchFamily="34" charset="0"/>
                <a:ea typeface="Patrick Hand" pitchFamily="34" charset="-122"/>
                <a:cs typeface="Patrick Hand" pitchFamily="34" charset="-120"/>
              </a:rPr>
              <a:t>Effortless Financial Management</a:t>
            </a:r>
            <a:endParaRPr lang="en-US" sz="1900" dirty="0"/>
          </a:p>
        </p:txBody>
      </p:sp>
      <p:sp>
        <p:nvSpPr>
          <p:cNvPr id="8" name="Text 5"/>
          <p:cNvSpPr/>
          <p:nvPr/>
        </p:nvSpPr>
        <p:spPr>
          <a:xfrm>
            <a:off x="1789867" y="4189214"/>
            <a:ext cx="5371028" cy="395049"/>
          </a:xfrm>
          <a:prstGeom prst="rect">
            <a:avLst/>
          </a:prstGeom>
          <a:noFill/>
          <a:ln/>
        </p:spPr>
        <p:txBody>
          <a:bodyPr wrap="none" lIns="0" tIns="0" rIns="0" bIns="0" rtlCol="0" anchor="t"/>
          <a:lstStyle/>
          <a:p>
            <a:pPr marL="0" indent="0" algn="l">
              <a:lnSpc>
                <a:spcPts val="3100"/>
              </a:lnSpc>
              <a:buNone/>
            </a:pPr>
            <a:r>
              <a:rPr lang="en-US" sz="1900" dirty="0">
                <a:solidFill>
                  <a:srgbClr val="383838"/>
                </a:solidFill>
                <a:latin typeface="Patrick Hand" pitchFamily="34" charset="0"/>
                <a:ea typeface="Patrick Hand" pitchFamily="34" charset="-122"/>
                <a:cs typeface="Patrick Hand" pitchFamily="34" charset="-120"/>
              </a:rPr>
              <a:t>Simplify daily income and expense tracking for all users.</a:t>
            </a:r>
            <a:endParaRPr lang="en-US" sz="1900" dirty="0"/>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69505" y="3732490"/>
            <a:ext cx="617220" cy="617220"/>
          </a:xfrm>
          <a:prstGeom prst="rect">
            <a:avLst/>
          </a:prstGeom>
        </p:spPr>
      </p:pic>
      <p:sp>
        <p:nvSpPr>
          <p:cNvPr id="10" name="Text 6"/>
          <p:cNvSpPr/>
          <p:nvPr/>
        </p:nvSpPr>
        <p:spPr>
          <a:xfrm>
            <a:off x="8395335" y="3732490"/>
            <a:ext cx="2468880" cy="308610"/>
          </a:xfrm>
          <a:prstGeom prst="rect">
            <a:avLst/>
          </a:prstGeom>
          <a:noFill/>
          <a:ln/>
        </p:spPr>
        <p:txBody>
          <a:bodyPr wrap="none" lIns="0" tIns="0" rIns="0" bIns="0" rtlCol="0" anchor="t"/>
          <a:lstStyle/>
          <a:p>
            <a:pPr marL="0" indent="0" algn="l">
              <a:lnSpc>
                <a:spcPts val="2400"/>
              </a:lnSpc>
              <a:buNone/>
            </a:pPr>
            <a:r>
              <a:rPr lang="en-US" sz="1900" dirty="0">
                <a:solidFill>
                  <a:srgbClr val="383838"/>
                </a:solidFill>
                <a:latin typeface="Patrick Hand" pitchFamily="34" charset="0"/>
                <a:ea typeface="Patrick Hand" pitchFamily="34" charset="-122"/>
                <a:cs typeface="Patrick Hand" pitchFamily="34" charset="-120"/>
              </a:rPr>
              <a:t>Predictive Insights</a:t>
            </a:r>
            <a:endParaRPr lang="en-US" sz="1900" dirty="0"/>
          </a:p>
        </p:txBody>
      </p:sp>
      <p:sp>
        <p:nvSpPr>
          <p:cNvPr id="11" name="Text 7"/>
          <p:cNvSpPr/>
          <p:nvPr/>
        </p:nvSpPr>
        <p:spPr>
          <a:xfrm>
            <a:off x="8395335" y="4189214"/>
            <a:ext cx="5371028" cy="790099"/>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Patrick Hand" pitchFamily="34" charset="0"/>
                <a:ea typeface="Patrick Hand" pitchFamily="34" charset="-122"/>
                <a:cs typeface="Patrick Hand" pitchFamily="34" charset="-120"/>
              </a:rPr>
              <a:t>Leverage machine learning to forecast future spending patterns.</a:t>
            </a:r>
            <a:endParaRPr lang="en-US" sz="1900" dirty="0"/>
          </a:p>
        </p:txBody>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4037" y="5473065"/>
            <a:ext cx="617220" cy="617220"/>
          </a:xfrm>
          <a:prstGeom prst="rect">
            <a:avLst/>
          </a:prstGeom>
        </p:spPr>
      </p:pic>
      <p:sp>
        <p:nvSpPr>
          <p:cNvPr id="13" name="Text 8"/>
          <p:cNvSpPr/>
          <p:nvPr/>
        </p:nvSpPr>
        <p:spPr>
          <a:xfrm>
            <a:off x="1789867" y="5473065"/>
            <a:ext cx="2522815" cy="308610"/>
          </a:xfrm>
          <a:prstGeom prst="rect">
            <a:avLst/>
          </a:prstGeom>
          <a:noFill/>
          <a:ln/>
        </p:spPr>
        <p:txBody>
          <a:bodyPr wrap="none" lIns="0" tIns="0" rIns="0" bIns="0" rtlCol="0" anchor="t"/>
          <a:lstStyle/>
          <a:p>
            <a:pPr marL="0" indent="0" algn="l">
              <a:lnSpc>
                <a:spcPts val="2400"/>
              </a:lnSpc>
              <a:buNone/>
            </a:pPr>
            <a:r>
              <a:rPr lang="en-US" sz="1900" dirty="0">
                <a:solidFill>
                  <a:srgbClr val="383838"/>
                </a:solidFill>
                <a:latin typeface="Patrick Hand" pitchFamily="34" charset="0"/>
                <a:ea typeface="Patrick Hand" pitchFamily="34" charset="-122"/>
                <a:cs typeface="Patrick Hand" pitchFamily="34" charset="-120"/>
              </a:rPr>
              <a:t>Identify Spending Anomalies</a:t>
            </a:r>
            <a:endParaRPr lang="en-US" sz="1900" dirty="0"/>
          </a:p>
        </p:txBody>
      </p:sp>
      <p:sp>
        <p:nvSpPr>
          <p:cNvPr id="14" name="Text 9"/>
          <p:cNvSpPr/>
          <p:nvPr/>
        </p:nvSpPr>
        <p:spPr>
          <a:xfrm>
            <a:off x="1789867" y="5929789"/>
            <a:ext cx="5371028" cy="395049"/>
          </a:xfrm>
          <a:prstGeom prst="rect">
            <a:avLst/>
          </a:prstGeom>
          <a:noFill/>
          <a:ln/>
        </p:spPr>
        <p:txBody>
          <a:bodyPr wrap="none" lIns="0" tIns="0" rIns="0" bIns="0" rtlCol="0" anchor="t"/>
          <a:lstStyle/>
          <a:p>
            <a:pPr marL="0" indent="0" algn="l">
              <a:lnSpc>
                <a:spcPts val="3100"/>
              </a:lnSpc>
              <a:buNone/>
            </a:pPr>
            <a:r>
              <a:rPr lang="en-US" sz="1900" dirty="0">
                <a:solidFill>
                  <a:srgbClr val="383838"/>
                </a:solidFill>
                <a:latin typeface="Patrick Hand" pitchFamily="34" charset="0"/>
                <a:ea typeface="Patrick Hand" pitchFamily="34" charset="-122"/>
                <a:cs typeface="Patrick Hand" pitchFamily="34" charset="-120"/>
              </a:rPr>
              <a:t>Pinpoint the root causes of monthly expense increases.</a:t>
            </a:r>
            <a:endParaRPr lang="en-US" sz="1900" dirty="0"/>
          </a:p>
        </p:txBody>
      </p:sp>
      <p:pic>
        <p:nvPicPr>
          <p:cNvPr id="15"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69505" y="5473065"/>
            <a:ext cx="617220" cy="617220"/>
          </a:xfrm>
          <a:prstGeom prst="rect">
            <a:avLst/>
          </a:prstGeom>
        </p:spPr>
      </p:pic>
      <p:sp>
        <p:nvSpPr>
          <p:cNvPr id="16" name="Text 10"/>
          <p:cNvSpPr/>
          <p:nvPr/>
        </p:nvSpPr>
        <p:spPr>
          <a:xfrm>
            <a:off x="8395335" y="5473065"/>
            <a:ext cx="2468880" cy="308610"/>
          </a:xfrm>
          <a:prstGeom prst="rect">
            <a:avLst/>
          </a:prstGeom>
          <a:noFill/>
          <a:ln/>
        </p:spPr>
        <p:txBody>
          <a:bodyPr wrap="none" lIns="0" tIns="0" rIns="0" bIns="0" rtlCol="0" anchor="t"/>
          <a:lstStyle/>
          <a:p>
            <a:pPr marL="0" indent="0" algn="l">
              <a:lnSpc>
                <a:spcPts val="2400"/>
              </a:lnSpc>
              <a:buNone/>
            </a:pPr>
            <a:r>
              <a:rPr lang="en-US" sz="1900" dirty="0">
                <a:solidFill>
                  <a:srgbClr val="383838"/>
                </a:solidFill>
                <a:latin typeface="Patrick Hand" pitchFamily="34" charset="0"/>
                <a:ea typeface="Patrick Hand" pitchFamily="34" charset="-122"/>
                <a:cs typeface="Patrick Hand" pitchFamily="34" charset="-120"/>
              </a:rPr>
              <a:t>Actionable Advice</a:t>
            </a:r>
            <a:endParaRPr lang="en-US" sz="1900" dirty="0"/>
          </a:p>
        </p:txBody>
      </p:sp>
      <p:sp>
        <p:nvSpPr>
          <p:cNvPr id="17" name="Text 11"/>
          <p:cNvSpPr/>
          <p:nvPr/>
        </p:nvSpPr>
        <p:spPr>
          <a:xfrm>
            <a:off x="8395335" y="5929789"/>
            <a:ext cx="5371028" cy="790099"/>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Patrick Hand" pitchFamily="34" charset="0"/>
                <a:ea typeface="Patrick Hand" pitchFamily="34" charset="-122"/>
                <a:cs typeface="Patrick Hand" pitchFamily="34" charset="-120"/>
              </a:rPr>
              <a:t>Provide AI-driven suggestions for cultivating better financial habits.</a:t>
            </a:r>
            <a:endParaRPr lang="en-US" sz="1900" dirty="0"/>
          </a:p>
        </p:txBody>
      </p:sp>
      <p:sp>
        <p:nvSpPr>
          <p:cNvPr id="18" name="Rectangle 17">
            <a:extLst>
              <a:ext uri="{FF2B5EF4-FFF2-40B4-BE49-F238E27FC236}">
                <a16:creationId xmlns:a16="http://schemas.microsoft.com/office/drawing/2014/main" id="{05B1F358-C31D-5AE2-23EF-40F75C8083DC}"/>
              </a:ext>
            </a:extLst>
          </p:cNvPr>
          <p:cNvSpPr/>
          <p:nvPr/>
        </p:nvSpPr>
        <p:spPr>
          <a:xfrm>
            <a:off x="12633158" y="7543800"/>
            <a:ext cx="1997242" cy="685800"/>
          </a:xfrm>
          <a:prstGeom prst="rect">
            <a:avLst/>
          </a:prstGeom>
          <a:solidFill>
            <a:srgbClr val="F5F5FD"/>
          </a:solidFill>
          <a:ln>
            <a:solidFill>
              <a:srgbClr val="F5F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177409" y="611505"/>
            <a:ext cx="4447580" cy="556022"/>
          </a:xfrm>
          <a:prstGeom prst="rect">
            <a:avLst/>
          </a:prstGeom>
          <a:noFill/>
          <a:ln/>
        </p:spPr>
        <p:txBody>
          <a:bodyPr wrap="none" lIns="0" tIns="0" rIns="0" bIns="0" rtlCol="0" anchor="t"/>
          <a:lstStyle/>
          <a:p>
            <a:pPr marL="0" indent="0" algn="l">
              <a:lnSpc>
                <a:spcPts val="4350"/>
              </a:lnSpc>
              <a:buNone/>
            </a:pPr>
            <a:r>
              <a:rPr lang="en-US" sz="3500" dirty="0">
                <a:solidFill>
                  <a:srgbClr val="383838"/>
                </a:solidFill>
                <a:latin typeface="Patrick Hand" pitchFamily="34" charset="0"/>
                <a:ea typeface="Patrick Hand" pitchFamily="34" charset="-122"/>
                <a:cs typeface="Patrick Hand" pitchFamily="34" charset="-120"/>
              </a:rPr>
              <a:t>Core Functionality</a:t>
            </a:r>
            <a:endParaRPr lang="en-US" sz="3500" dirty="0"/>
          </a:p>
        </p:txBody>
      </p:sp>
      <p:sp>
        <p:nvSpPr>
          <p:cNvPr id="3" name="Text 1"/>
          <p:cNvSpPr/>
          <p:nvPr/>
        </p:nvSpPr>
        <p:spPr>
          <a:xfrm>
            <a:off x="1177409" y="1568053"/>
            <a:ext cx="12275582" cy="338138"/>
          </a:xfrm>
          <a:prstGeom prst="rect">
            <a:avLst/>
          </a:prstGeom>
          <a:noFill/>
          <a:ln/>
        </p:spPr>
        <p:txBody>
          <a:bodyPr wrap="none" lIns="0" tIns="0" rIns="0" bIns="0" rtlCol="0" anchor="t"/>
          <a:lstStyle/>
          <a:p>
            <a:pPr marL="0" indent="0" algn="l">
              <a:lnSpc>
                <a:spcPts val="2650"/>
              </a:lnSpc>
              <a:buNone/>
            </a:pPr>
            <a:r>
              <a:rPr lang="en-US" sz="1750" dirty="0">
                <a:solidFill>
                  <a:srgbClr val="383838"/>
                </a:solidFill>
                <a:latin typeface="Patrick Hand" pitchFamily="34" charset="0"/>
                <a:ea typeface="Patrick Hand" pitchFamily="34" charset="-122"/>
                <a:cs typeface="Patrick Hand" pitchFamily="34" charset="-120"/>
              </a:rPr>
              <a:t>Essential features for comprehensive financial control.</a:t>
            </a:r>
            <a:endParaRPr lang="en-US" sz="1750" dirty="0"/>
          </a:p>
        </p:txBody>
      </p:sp>
      <p:pic>
        <p:nvPicPr>
          <p:cNvPr id="4" name="Image 0" descr="preencoded.png"/>
          <p:cNvPicPr>
            <a:picLocks noChangeAspect="1"/>
          </p:cNvPicPr>
          <p:nvPr/>
        </p:nvPicPr>
        <p:blipFill>
          <a:blip r:embed="rId3"/>
          <a:stretch>
            <a:fillRect/>
          </a:stretch>
        </p:blipFill>
        <p:spPr>
          <a:xfrm>
            <a:off x="1177409" y="2131457"/>
            <a:ext cx="3487222" cy="3487222"/>
          </a:xfrm>
          <a:prstGeom prst="rect">
            <a:avLst/>
          </a:prstGeom>
        </p:spPr>
      </p:pic>
      <p:sp>
        <p:nvSpPr>
          <p:cNvPr id="5" name="Text 2"/>
          <p:cNvSpPr/>
          <p:nvPr/>
        </p:nvSpPr>
        <p:spPr>
          <a:xfrm>
            <a:off x="1177409" y="5869067"/>
            <a:ext cx="2223730" cy="278011"/>
          </a:xfrm>
          <a:prstGeom prst="rect">
            <a:avLst/>
          </a:prstGeom>
          <a:noFill/>
          <a:ln/>
        </p:spPr>
        <p:txBody>
          <a:bodyPr wrap="none" lIns="0" tIns="0" rIns="0" bIns="0" rtlCol="0" anchor="t"/>
          <a:lstStyle/>
          <a:p>
            <a:pPr marL="0" indent="0" algn="l">
              <a:lnSpc>
                <a:spcPts val="2150"/>
              </a:lnSpc>
              <a:buNone/>
            </a:pPr>
            <a:r>
              <a:rPr lang="en-US" sz="1750" dirty="0">
                <a:solidFill>
                  <a:srgbClr val="383838"/>
                </a:solidFill>
                <a:latin typeface="Patrick Hand" pitchFamily="34" charset="0"/>
                <a:ea typeface="Patrick Hand" pitchFamily="34" charset="-122"/>
                <a:cs typeface="Patrick Hand" pitchFamily="34" charset="-120"/>
              </a:rPr>
              <a:t>Income &amp; Expense Tracking</a:t>
            </a:r>
            <a:endParaRPr lang="en-US" sz="1750" dirty="0"/>
          </a:p>
        </p:txBody>
      </p:sp>
      <p:sp>
        <p:nvSpPr>
          <p:cNvPr id="6" name="Text 3"/>
          <p:cNvSpPr/>
          <p:nvPr/>
        </p:nvSpPr>
        <p:spPr>
          <a:xfrm>
            <a:off x="1177409" y="6267212"/>
            <a:ext cx="6012537" cy="1352550"/>
          </a:xfrm>
          <a:prstGeom prst="rect">
            <a:avLst/>
          </a:prstGeom>
          <a:noFill/>
          <a:ln/>
        </p:spPr>
        <p:txBody>
          <a:bodyPr wrap="square" lIns="0" tIns="0" rIns="0" bIns="0" rtlCol="0" anchor="t"/>
          <a:lstStyle/>
          <a:p>
            <a:pPr marL="0" indent="0" algn="l">
              <a:lnSpc>
                <a:spcPts val="2650"/>
              </a:lnSpc>
              <a:buNone/>
            </a:pPr>
            <a:r>
              <a:rPr lang="en-US" sz="1750" dirty="0">
                <a:solidFill>
                  <a:srgbClr val="383838"/>
                </a:solidFill>
                <a:latin typeface="Patrick Hand" pitchFamily="34" charset="0"/>
                <a:ea typeface="Patrick Hand" pitchFamily="34" charset="-122"/>
                <a:cs typeface="Patrick Hand" pitchFamily="34" charset="-120"/>
              </a:rPr>
              <a:t>Seamlessly add, edit, and delete all financial transactions. Utilize intuitive categorization (Food, Rent, Travel, Shopping, etc.) for detailed record-keeping. Generate monthly and yearly reports for a clear overview of financial health.</a:t>
            </a:r>
            <a:endParaRPr lang="en-US" sz="1750" dirty="0"/>
          </a:p>
        </p:txBody>
      </p:sp>
      <p:pic>
        <p:nvPicPr>
          <p:cNvPr id="7" name="Image 1" descr="preencoded.png"/>
          <p:cNvPicPr>
            <a:picLocks noChangeAspect="1"/>
          </p:cNvPicPr>
          <p:nvPr/>
        </p:nvPicPr>
        <p:blipFill>
          <a:blip r:embed="rId4"/>
          <a:stretch>
            <a:fillRect/>
          </a:stretch>
        </p:blipFill>
        <p:spPr>
          <a:xfrm>
            <a:off x="7440335" y="2131457"/>
            <a:ext cx="3487341" cy="3487341"/>
          </a:xfrm>
          <a:prstGeom prst="rect">
            <a:avLst/>
          </a:prstGeom>
        </p:spPr>
      </p:pic>
      <p:sp>
        <p:nvSpPr>
          <p:cNvPr id="8" name="Text 4"/>
          <p:cNvSpPr/>
          <p:nvPr/>
        </p:nvSpPr>
        <p:spPr>
          <a:xfrm>
            <a:off x="7440335" y="5869186"/>
            <a:ext cx="2729389" cy="278011"/>
          </a:xfrm>
          <a:prstGeom prst="rect">
            <a:avLst/>
          </a:prstGeom>
          <a:noFill/>
          <a:ln/>
        </p:spPr>
        <p:txBody>
          <a:bodyPr wrap="none" lIns="0" tIns="0" rIns="0" bIns="0" rtlCol="0" anchor="t"/>
          <a:lstStyle/>
          <a:p>
            <a:pPr marL="0" indent="0" algn="l">
              <a:lnSpc>
                <a:spcPts val="2150"/>
              </a:lnSpc>
              <a:buNone/>
            </a:pPr>
            <a:r>
              <a:rPr lang="en-US" sz="1750" dirty="0">
                <a:solidFill>
                  <a:srgbClr val="383838"/>
                </a:solidFill>
                <a:latin typeface="Patrick Hand" pitchFamily="34" charset="0"/>
                <a:ea typeface="Patrick Hand" pitchFamily="34" charset="-122"/>
                <a:cs typeface="Patrick Hand" pitchFamily="34" charset="-120"/>
              </a:rPr>
              <a:t>Comprehensive Data Visualization</a:t>
            </a:r>
            <a:endParaRPr lang="en-US" sz="1750" dirty="0"/>
          </a:p>
        </p:txBody>
      </p:sp>
      <p:sp>
        <p:nvSpPr>
          <p:cNvPr id="9" name="Text 5"/>
          <p:cNvSpPr/>
          <p:nvPr/>
        </p:nvSpPr>
        <p:spPr>
          <a:xfrm>
            <a:off x="7440335" y="6267331"/>
            <a:ext cx="6012656" cy="1352550"/>
          </a:xfrm>
          <a:prstGeom prst="rect">
            <a:avLst/>
          </a:prstGeom>
          <a:noFill/>
          <a:ln/>
        </p:spPr>
        <p:txBody>
          <a:bodyPr wrap="square" lIns="0" tIns="0" rIns="0" bIns="0" rtlCol="0" anchor="t"/>
          <a:lstStyle/>
          <a:p>
            <a:pPr marL="0" indent="0" algn="l">
              <a:lnSpc>
                <a:spcPts val="2650"/>
              </a:lnSpc>
              <a:buNone/>
            </a:pPr>
            <a:r>
              <a:rPr lang="en-US" sz="1750" dirty="0">
                <a:solidFill>
                  <a:srgbClr val="383838"/>
                </a:solidFill>
                <a:latin typeface="Patrick Hand" pitchFamily="34" charset="0"/>
                <a:ea typeface="Patrick Hand" pitchFamily="34" charset="-122"/>
                <a:cs typeface="Patrick Hand" pitchFamily="34" charset="-120"/>
              </a:rPr>
              <a:t>Gain insights into spending habits with dynamic visual reports. Explore category-wise spending via interactive pie charts, compare monthly expenditures with clear bar graphs, and identify trends through insightful line charts.</a:t>
            </a:r>
            <a:endParaRPr lang="en-US" sz="1750" dirty="0"/>
          </a:p>
        </p:txBody>
      </p:sp>
      <p:sp>
        <p:nvSpPr>
          <p:cNvPr id="10" name="Rectangle 9">
            <a:extLst>
              <a:ext uri="{FF2B5EF4-FFF2-40B4-BE49-F238E27FC236}">
                <a16:creationId xmlns:a16="http://schemas.microsoft.com/office/drawing/2014/main" id="{713C6B36-F181-FE8B-5AA6-C451F27D000C}"/>
              </a:ext>
            </a:extLst>
          </p:cNvPr>
          <p:cNvSpPr/>
          <p:nvPr/>
        </p:nvSpPr>
        <p:spPr>
          <a:xfrm>
            <a:off x="12633158" y="7543800"/>
            <a:ext cx="1997242" cy="685800"/>
          </a:xfrm>
          <a:prstGeom prst="rect">
            <a:avLst/>
          </a:prstGeom>
          <a:solidFill>
            <a:srgbClr val="F5F5FD"/>
          </a:solidFill>
          <a:ln>
            <a:solidFill>
              <a:srgbClr val="F5F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578888" y="1158597"/>
            <a:ext cx="4280773" cy="519470"/>
          </a:xfrm>
          <a:prstGeom prst="rect">
            <a:avLst/>
          </a:prstGeom>
          <a:noFill/>
          <a:ln/>
        </p:spPr>
        <p:txBody>
          <a:bodyPr wrap="none" lIns="0" tIns="0" rIns="0" bIns="0" rtlCol="0" anchor="t"/>
          <a:lstStyle/>
          <a:p>
            <a:pPr marL="0" indent="0" algn="l">
              <a:lnSpc>
                <a:spcPts val="4050"/>
              </a:lnSpc>
              <a:buNone/>
            </a:pPr>
            <a:r>
              <a:rPr lang="en-US" sz="3250" dirty="0">
                <a:solidFill>
                  <a:srgbClr val="383838"/>
                </a:solidFill>
                <a:latin typeface="Patrick Hand" pitchFamily="34" charset="0"/>
                <a:ea typeface="Patrick Hand" pitchFamily="34" charset="-122"/>
                <a:cs typeface="Patrick Hand" pitchFamily="34" charset="-120"/>
              </a:rPr>
              <a:t>AI-Based Expense Prediction</a:t>
            </a:r>
            <a:endParaRPr lang="en-US" sz="3250" dirty="0"/>
          </a:p>
        </p:txBody>
      </p:sp>
      <p:sp>
        <p:nvSpPr>
          <p:cNvPr id="3" name="Text 1"/>
          <p:cNvSpPr/>
          <p:nvPr/>
        </p:nvSpPr>
        <p:spPr>
          <a:xfrm>
            <a:off x="1578888" y="2027872"/>
            <a:ext cx="11472505" cy="306229"/>
          </a:xfrm>
          <a:prstGeom prst="rect">
            <a:avLst/>
          </a:prstGeom>
          <a:noFill/>
          <a:ln/>
        </p:spPr>
        <p:txBody>
          <a:bodyPr wrap="none" lIns="0" tIns="0" rIns="0" bIns="0" rtlCol="0" anchor="t"/>
          <a:lstStyle/>
          <a:p>
            <a:pPr marL="0" indent="0" algn="l">
              <a:lnSpc>
                <a:spcPts val="2400"/>
              </a:lnSpc>
              <a:buNone/>
            </a:pPr>
            <a:r>
              <a:rPr lang="en-US" sz="1600" dirty="0">
                <a:solidFill>
                  <a:srgbClr val="383838"/>
                </a:solidFill>
                <a:latin typeface="Patrick Hand" pitchFamily="34" charset="0"/>
                <a:ea typeface="Patrick Hand" pitchFamily="34" charset="-122"/>
                <a:cs typeface="Patrick Hand" pitchFamily="34" charset="-120"/>
              </a:rPr>
              <a:t>Forecasting future spending to aid proactive financial planning.</a:t>
            </a:r>
            <a:endParaRPr lang="en-US" sz="1600" dirty="0"/>
          </a:p>
        </p:txBody>
      </p:sp>
      <p:sp>
        <p:nvSpPr>
          <p:cNvPr id="4" name="Shape 2"/>
          <p:cNvSpPr/>
          <p:nvPr/>
        </p:nvSpPr>
        <p:spPr>
          <a:xfrm>
            <a:off x="1578888" y="2727722"/>
            <a:ext cx="965083" cy="173255"/>
          </a:xfrm>
          <a:prstGeom prst="roundRect">
            <a:avLst>
              <a:gd name="adj" fmla="val 73889"/>
            </a:avLst>
          </a:prstGeom>
          <a:solidFill>
            <a:srgbClr val="FFFFFF">
              <a:alpha val="20000"/>
            </a:srgbClr>
          </a:solidFill>
          <a:ln w="7620">
            <a:solidFill>
              <a:srgbClr val="000000"/>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1629420" y="2771036"/>
            <a:ext cx="86627" cy="86628"/>
          </a:xfrm>
          <a:prstGeom prst="rect">
            <a:avLst/>
          </a:prstGeom>
        </p:spPr>
      </p:pic>
      <p:sp>
        <p:nvSpPr>
          <p:cNvPr id="6" name="Text 3"/>
          <p:cNvSpPr/>
          <p:nvPr/>
        </p:nvSpPr>
        <p:spPr>
          <a:xfrm>
            <a:off x="1744924" y="2749379"/>
            <a:ext cx="748515" cy="129941"/>
          </a:xfrm>
          <a:prstGeom prst="rect">
            <a:avLst/>
          </a:prstGeom>
          <a:noFill/>
          <a:ln/>
        </p:spPr>
        <p:txBody>
          <a:bodyPr wrap="none" lIns="0" tIns="0" rIns="0" bIns="0" rtlCol="0" anchor="t"/>
          <a:lstStyle/>
          <a:p>
            <a:pPr marL="0" indent="0" algn="l">
              <a:lnSpc>
                <a:spcPts val="1050"/>
              </a:lnSpc>
              <a:buNone/>
            </a:pPr>
            <a:r>
              <a:rPr lang="en-US" sz="700" dirty="0">
                <a:solidFill>
                  <a:srgbClr val="383838"/>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Predicted Expense</a:t>
            </a:r>
            <a:endParaRPr lang="en-US" sz="700" dirty="0"/>
          </a:p>
        </p:txBody>
      </p:sp>
      <p:sp>
        <p:nvSpPr>
          <p:cNvPr id="7" name="Shape 4"/>
          <p:cNvSpPr/>
          <p:nvPr/>
        </p:nvSpPr>
        <p:spPr>
          <a:xfrm>
            <a:off x="2601723" y="2727722"/>
            <a:ext cx="831871" cy="173255"/>
          </a:xfrm>
          <a:prstGeom prst="roundRect">
            <a:avLst>
              <a:gd name="adj" fmla="val 73889"/>
            </a:avLst>
          </a:prstGeom>
          <a:solidFill>
            <a:srgbClr val="FFFFFF">
              <a:alpha val="20000"/>
            </a:srgbClr>
          </a:solidFill>
          <a:ln w="7620">
            <a:solidFill>
              <a:srgbClr val="000000"/>
            </a:solidFill>
            <a:prstDash val="solid"/>
          </a:ln>
        </p:spPr>
        <p:txBody>
          <a:bodyPr/>
          <a:lstStyle/>
          <a:p>
            <a:endParaRPr lang="en-IN"/>
          </a:p>
        </p:txBody>
      </p:sp>
      <p:pic>
        <p:nvPicPr>
          <p:cNvPr id="8" name="Image 1" descr="preencoded.png"/>
          <p:cNvPicPr>
            <a:picLocks noChangeAspect="1"/>
          </p:cNvPicPr>
          <p:nvPr/>
        </p:nvPicPr>
        <p:blipFill>
          <a:blip r:embed="rId4"/>
          <a:stretch>
            <a:fillRect/>
          </a:stretch>
        </p:blipFill>
        <p:spPr>
          <a:xfrm>
            <a:off x="2652255" y="2771036"/>
            <a:ext cx="86628" cy="86628"/>
          </a:xfrm>
          <a:prstGeom prst="rect">
            <a:avLst/>
          </a:prstGeom>
        </p:spPr>
      </p:pic>
      <p:sp>
        <p:nvSpPr>
          <p:cNvPr id="9" name="Text 5"/>
          <p:cNvSpPr/>
          <p:nvPr/>
        </p:nvSpPr>
        <p:spPr>
          <a:xfrm>
            <a:off x="2767758" y="2749379"/>
            <a:ext cx="615302" cy="129941"/>
          </a:xfrm>
          <a:prstGeom prst="rect">
            <a:avLst/>
          </a:prstGeom>
          <a:noFill/>
          <a:ln/>
        </p:spPr>
        <p:txBody>
          <a:bodyPr wrap="none" lIns="0" tIns="0" rIns="0" bIns="0" rtlCol="0" anchor="t"/>
          <a:lstStyle/>
          <a:p>
            <a:pPr marL="0" indent="0" algn="l">
              <a:lnSpc>
                <a:spcPts val="1050"/>
              </a:lnSpc>
              <a:buNone/>
            </a:pPr>
            <a:r>
              <a:rPr lang="en-US" sz="700" dirty="0">
                <a:solidFill>
                  <a:srgbClr val="383838"/>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Actual Expense</a:t>
            </a:r>
            <a:endParaRPr lang="en-US" sz="700" dirty="0"/>
          </a:p>
        </p:txBody>
      </p:sp>
      <p:pic>
        <p:nvPicPr>
          <p:cNvPr id="10" name="Image 2" descr="preencoded.png"/>
          <p:cNvPicPr>
            <a:picLocks noChangeAspect="1"/>
          </p:cNvPicPr>
          <p:nvPr/>
        </p:nvPicPr>
        <p:blipFill>
          <a:blip r:embed="rId5"/>
          <a:stretch>
            <a:fillRect/>
          </a:stretch>
        </p:blipFill>
        <p:spPr>
          <a:xfrm>
            <a:off x="1578888" y="2973166"/>
            <a:ext cx="5486400" cy="2829828"/>
          </a:xfrm>
          <a:prstGeom prst="rect">
            <a:avLst/>
          </a:prstGeom>
        </p:spPr>
      </p:pic>
      <p:sp>
        <p:nvSpPr>
          <p:cNvPr id="11" name="Text 6"/>
          <p:cNvSpPr/>
          <p:nvPr/>
        </p:nvSpPr>
        <p:spPr>
          <a:xfrm>
            <a:off x="1578888" y="5994797"/>
            <a:ext cx="5482709" cy="918686"/>
          </a:xfrm>
          <a:prstGeom prst="rect">
            <a:avLst/>
          </a:prstGeom>
          <a:noFill/>
          <a:ln/>
        </p:spPr>
        <p:txBody>
          <a:bodyPr wrap="square" lIns="0" tIns="0" rIns="0" bIns="0" rtlCol="0" anchor="t"/>
          <a:lstStyle/>
          <a:p>
            <a:pPr marL="0" indent="0" algn="l">
              <a:lnSpc>
                <a:spcPts val="2400"/>
              </a:lnSpc>
              <a:buNone/>
            </a:pPr>
            <a:r>
              <a:rPr lang="en-US" sz="1600" b="1" dirty="0">
                <a:solidFill>
                  <a:srgbClr val="383838"/>
                </a:solidFill>
                <a:latin typeface="Patrick Hand" pitchFamily="34" charset="0"/>
                <a:ea typeface="Patrick Hand" pitchFamily="34" charset="-122"/>
                <a:cs typeface="Patrick Hand" pitchFamily="34" charset="-120"/>
              </a:rPr>
              <a:t>Example Insight:</a:t>
            </a:r>
            <a:r>
              <a:rPr lang="en-US" sz="1600" dirty="0">
                <a:solidFill>
                  <a:srgbClr val="383838"/>
                </a:solidFill>
                <a:latin typeface="Patrick Hand" pitchFamily="34" charset="0"/>
                <a:ea typeface="Patrick Hand" pitchFamily="34" charset="-122"/>
                <a:cs typeface="Patrick Hand" pitchFamily="34" charset="-120"/>
              </a:rPr>
              <a:t> "Your expenses increased by 18% this month mainly due to higher restaurant spending and online shopping. Reducing dining out by 25% can help you save approximately ₹3,000 next month."</a:t>
            </a:r>
            <a:endParaRPr lang="en-US" sz="1600" dirty="0"/>
          </a:p>
        </p:txBody>
      </p:sp>
      <p:sp>
        <p:nvSpPr>
          <p:cNvPr id="12" name="Text 7"/>
          <p:cNvSpPr/>
          <p:nvPr/>
        </p:nvSpPr>
        <p:spPr>
          <a:xfrm>
            <a:off x="7576185" y="2688312"/>
            <a:ext cx="5482709" cy="918686"/>
          </a:xfrm>
          <a:prstGeom prst="rect">
            <a:avLst/>
          </a:prstGeom>
          <a:noFill/>
          <a:ln/>
        </p:spPr>
        <p:txBody>
          <a:bodyPr wrap="square" lIns="0" tIns="0" rIns="0" bIns="0" rtlCol="0" anchor="t"/>
          <a:lstStyle/>
          <a:p>
            <a:pPr marL="0" indent="0" algn="l">
              <a:lnSpc>
                <a:spcPts val="2400"/>
              </a:lnSpc>
              <a:buNone/>
            </a:pPr>
            <a:r>
              <a:rPr lang="en-US" sz="1600" dirty="0">
                <a:solidFill>
                  <a:srgbClr val="383838"/>
                </a:solidFill>
                <a:latin typeface="Patrick Hand" pitchFamily="34" charset="0"/>
                <a:ea typeface="Patrick Hand" pitchFamily="34" charset="-122"/>
                <a:cs typeface="Patrick Hand" pitchFamily="34" charset="-120"/>
              </a:rPr>
              <a:t>Our AI engine leverages historical financial data to accurately predict next month's expenses. This foresight enables users to anticipate upcoming financial needs and adjust their spending accordingly.</a:t>
            </a:r>
            <a:endParaRPr lang="en-US" sz="1600" dirty="0"/>
          </a:p>
        </p:txBody>
      </p:sp>
      <p:sp>
        <p:nvSpPr>
          <p:cNvPr id="13" name="Text 8"/>
          <p:cNvSpPr/>
          <p:nvPr/>
        </p:nvSpPr>
        <p:spPr>
          <a:xfrm>
            <a:off x="7576185" y="3781901"/>
            <a:ext cx="2529007" cy="259794"/>
          </a:xfrm>
          <a:prstGeom prst="rect">
            <a:avLst/>
          </a:prstGeom>
          <a:noFill/>
          <a:ln/>
        </p:spPr>
        <p:txBody>
          <a:bodyPr wrap="none" lIns="0" tIns="0" rIns="0" bIns="0" rtlCol="0" anchor="t"/>
          <a:lstStyle/>
          <a:p>
            <a:pPr marL="0" indent="0" algn="l">
              <a:lnSpc>
                <a:spcPts val="2000"/>
              </a:lnSpc>
              <a:buNone/>
            </a:pPr>
            <a:r>
              <a:rPr lang="en-US" sz="1600" dirty="0">
                <a:solidFill>
                  <a:srgbClr val="383838"/>
                </a:solidFill>
                <a:latin typeface="Patrick Hand" pitchFamily="34" charset="0"/>
                <a:ea typeface="Patrick Hand" pitchFamily="34" charset="-122"/>
                <a:cs typeface="Patrick Hand" pitchFamily="34" charset="-120"/>
              </a:rPr>
              <a:t>Machine Learning Models Utilized:</a:t>
            </a:r>
            <a:endParaRPr lang="en-US" sz="1600" dirty="0"/>
          </a:p>
        </p:txBody>
      </p:sp>
      <p:sp>
        <p:nvSpPr>
          <p:cNvPr id="14" name="Text 9"/>
          <p:cNvSpPr/>
          <p:nvPr/>
        </p:nvSpPr>
        <p:spPr>
          <a:xfrm>
            <a:off x="7576185" y="4216598"/>
            <a:ext cx="5482709" cy="1286113"/>
          </a:xfrm>
          <a:prstGeom prst="rect">
            <a:avLst/>
          </a:prstGeom>
          <a:noFill/>
          <a:ln/>
        </p:spPr>
        <p:txBody>
          <a:bodyPr wrap="square" lIns="0" tIns="0" rIns="0" bIns="0" rtlCol="0" anchor="t"/>
          <a:lstStyle/>
          <a:p>
            <a:pPr marL="342900" indent="-342900" algn="l">
              <a:lnSpc>
                <a:spcPts val="2400"/>
              </a:lnSpc>
              <a:buSzPct val="100000"/>
              <a:buChar char="•"/>
            </a:pPr>
            <a:r>
              <a:rPr lang="en-US" sz="1600" b="1" dirty="0">
                <a:solidFill>
                  <a:srgbClr val="383838"/>
                </a:solidFill>
                <a:latin typeface="Patrick Hand" pitchFamily="34" charset="0"/>
                <a:ea typeface="Patrick Hand" pitchFamily="34" charset="-122"/>
                <a:cs typeface="Patrick Hand" pitchFamily="34" charset="-120"/>
              </a:rPr>
              <a:t>Linear Regression:</a:t>
            </a:r>
            <a:r>
              <a:rPr lang="en-US" sz="1600" dirty="0">
                <a:solidFill>
                  <a:srgbClr val="383838"/>
                </a:solidFill>
                <a:latin typeface="Patrick Hand" pitchFamily="34" charset="0"/>
                <a:ea typeface="Patrick Hand" pitchFamily="34" charset="-122"/>
                <a:cs typeface="Patrick Hand" pitchFamily="34" charset="-120"/>
              </a:rPr>
              <a:t> For baseline predictions based on historical trends.</a:t>
            </a:r>
            <a:endParaRPr lang="en-US" sz="1600" dirty="0"/>
          </a:p>
          <a:p>
            <a:pPr marL="342900" indent="-342900" algn="l">
              <a:lnSpc>
                <a:spcPts val="2400"/>
              </a:lnSpc>
              <a:buSzPct val="100000"/>
              <a:buChar char="•"/>
            </a:pPr>
            <a:r>
              <a:rPr lang="en-US" sz="1600" b="1" dirty="0">
                <a:solidFill>
                  <a:srgbClr val="383838"/>
                </a:solidFill>
                <a:latin typeface="Patrick Hand" pitchFamily="34" charset="0"/>
                <a:ea typeface="Patrick Hand" pitchFamily="34" charset="-122"/>
                <a:cs typeface="Patrick Hand" pitchFamily="34" charset="-120"/>
              </a:rPr>
              <a:t>Time Series Forecasting:</a:t>
            </a:r>
            <a:r>
              <a:rPr lang="en-US" sz="1600" dirty="0">
                <a:solidFill>
                  <a:srgbClr val="383838"/>
                </a:solidFill>
                <a:latin typeface="Patrick Hand" pitchFamily="34" charset="0"/>
                <a:ea typeface="Patrick Hand" pitchFamily="34" charset="-122"/>
                <a:cs typeface="Patrick Hand" pitchFamily="34" charset="-120"/>
              </a:rPr>
              <a:t> (ARIMA / LSTM) for more advanced, nuanced predictions, considering seasonal and cyclical patterns.</a:t>
            </a:r>
            <a:endParaRPr lang="en-US" sz="1600" dirty="0"/>
          </a:p>
        </p:txBody>
      </p:sp>
      <p:sp>
        <p:nvSpPr>
          <p:cNvPr id="15" name="Rectangle 14">
            <a:extLst>
              <a:ext uri="{FF2B5EF4-FFF2-40B4-BE49-F238E27FC236}">
                <a16:creationId xmlns:a16="http://schemas.microsoft.com/office/drawing/2014/main" id="{611FD010-69DE-47BE-AA12-104FECAFFCA9}"/>
              </a:ext>
            </a:extLst>
          </p:cNvPr>
          <p:cNvSpPr/>
          <p:nvPr/>
        </p:nvSpPr>
        <p:spPr>
          <a:xfrm>
            <a:off x="12633158" y="7543800"/>
            <a:ext cx="1997242" cy="685800"/>
          </a:xfrm>
          <a:prstGeom prst="rect">
            <a:avLst/>
          </a:prstGeom>
          <a:solidFill>
            <a:srgbClr val="F5F5FD"/>
          </a:solidFill>
          <a:ln>
            <a:solidFill>
              <a:srgbClr val="F5F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4037" y="764262"/>
            <a:ext cx="7337703" cy="617101"/>
          </a:xfrm>
          <a:prstGeom prst="rect">
            <a:avLst/>
          </a:prstGeom>
          <a:noFill/>
          <a:ln/>
        </p:spPr>
        <p:txBody>
          <a:bodyPr wrap="none" lIns="0" tIns="0" rIns="0" bIns="0" rtlCol="0" anchor="t"/>
          <a:lstStyle/>
          <a:p>
            <a:pPr marL="0" indent="0" algn="l">
              <a:lnSpc>
                <a:spcPts val="4850"/>
              </a:lnSpc>
              <a:buNone/>
            </a:pPr>
            <a:r>
              <a:rPr lang="en-US" sz="3850" dirty="0">
                <a:solidFill>
                  <a:srgbClr val="383838"/>
                </a:solidFill>
                <a:latin typeface="Patrick Hand" pitchFamily="34" charset="0"/>
                <a:ea typeface="Patrick Hand" pitchFamily="34" charset="-122"/>
                <a:cs typeface="Patrick Hand" pitchFamily="34" charset="-120"/>
              </a:rPr>
              <a:t>Expense Rise Detection: AI Insight Engine</a:t>
            </a:r>
            <a:endParaRPr lang="en-US" sz="3850" dirty="0"/>
          </a:p>
        </p:txBody>
      </p:sp>
      <p:sp>
        <p:nvSpPr>
          <p:cNvPr id="3" name="Text 1"/>
          <p:cNvSpPr/>
          <p:nvPr/>
        </p:nvSpPr>
        <p:spPr>
          <a:xfrm>
            <a:off x="864037" y="1875115"/>
            <a:ext cx="12902327" cy="395049"/>
          </a:xfrm>
          <a:prstGeom prst="rect">
            <a:avLst/>
          </a:prstGeom>
          <a:noFill/>
          <a:ln/>
        </p:spPr>
        <p:txBody>
          <a:bodyPr wrap="none" lIns="0" tIns="0" rIns="0" bIns="0" rtlCol="0" anchor="t"/>
          <a:lstStyle/>
          <a:p>
            <a:pPr marL="0" indent="0" algn="l">
              <a:lnSpc>
                <a:spcPts val="3100"/>
              </a:lnSpc>
              <a:buNone/>
            </a:pPr>
            <a:r>
              <a:rPr lang="en-US" sz="1900" dirty="0">
                <a:solidFill>
                  <a:srgbClr val="383838"/>
                </a:solidFill>
                <a:latin typeface="Patrick Hand" pitchFamily="34" charset="0"/>
                <a:ea typeface="Patrick Hand" pitchFamily="34" charset="-122"/>
                <a:cs typeface="Patrick Hand" pitchFamily="34" charset="-120"/>
              </a:rPr>
              <a:t>Proactive alerts and personalized recommendations.</a:t>
            </a:r>
            <a:endParaRPr lang="en-US" sz="1900" dirty="0"/>
          </a:p>
        </p:txBody>
      </p:sp>
      <p:sp>
        <p:nvSpPr>
          <p:cNvPr id="4" name="Shape 2"/>
          <p:cNvSpPr/>
          <p:nvPr/>
        </p:nvSpPr>
        <p:spPr>
          <a:xfrm>
            <a:off x="864037" y="2547818"/>
            <a:ext cx="6327696" cy="1801416"/>
          </a:xfrm>
          <a:prstGeom prst="roundRect">
            <a:avLst>
              <a:gd name="adj" fmla="val 8122"/>
            </a:avLst>
          </a:prstGeom>
          <a:solidFill>
            <a:srgbClr val="F7F7F7"/>
          </a:solidFill>
          <a:ln w="30480">
            <a:solidFill>
              <a:srgbClr val="CCCCCC"/>
            </a:solidFill>
            <a:prstDash val="solid"/>
          </a:ln>
        </p:spPr>
        <p:txBody>
          <a:bodyPr/>
          <a:lstStyle/>
          <a:p>
            <a:endParaRPr lang="en-IN"/>
          </a:p>
        </p:txBody>
      </p:sp>
      <p:sp>
        <p:nvSpPr>
          <p:cNvPr id="5" name="Shape 3"/>
          <p:cNvSpPr/>
          <p:nvPr/>
        </p:nvSpPr>
        <p:spPr>
          <a:xfrm>
            <a:off x="833557" y="2547818"/>
            <a:ext cx="121920" cy="1801416"/>
          </a:xfrm>
          <a:prstGeom prst="roundRect">
            <a:avLst>
              <a:gd name="adj" fmla="val 85050"/>
            </a:avLst>
          </a:prstGeom>
          <a:solidFill>
            <a:srgbClr val="CCCCCC"/>
          </a:solidFill>
          <a:ln/>
        </p:spPr>
        <p:txBody>
          <a:bodyPr/>
          <a:lstStyle/>
          <a:p>
            <a:endParaRPr lang="en-IN"/>
          </a:p>
        </p:txBody>
      </p:sp>
      <p:sp>
        <p:nvSpPr>
          <p:cNvPr id="6" name="Text 4"/>
          <p:cNvSpPr/>
          <p:nvPr/>
        </p:nvSpPr>
        <p:spPr>
          <a:xfrm>
            <a:off x="1232773" y="2825115"/>
            <a:ext cx="2759988" cy="308610"/>
          </a:xfrm>
          <a:prstGeom prst="rect">
            <a:avLst/>
          </a:prstGeom>
          <a:noFill/>
          <a:ln/>
        </p:spPr>
        <p:txBody>
          <a:bodyPr wrap="none" lIns="0" tIns="0" rIns="0" bIns="0" rtlCol="0" anchor="t"/>
          <a:lstStyle/>
          <a:p>
            <a:pPr marL="0" indent="0" algn="l">
              <a:lnSpc>
                <a:spcPts val="2400"/>
              </a:lnSpc>
              <a:buNone/>
            </a:pPr>
            <a:r>
              <a:rPr lang="en-US" sz="1900" dirty="0">
                <a:solidFill>
                  <a:srgbClr val="383838"/>
                </a:solidFill>
                <a:latin typeface="Patrick Hand" pitchFamily="34" charset="0"/>
                <a:ea typeface="Patrick Hand" pitchFamily="34" charset="-122"/>
                <a:cs typeface="Patrick Hand" pitchFamily="34" charset="-120"/>
              </a:rPr>
              <a:t>Category-wise Growth Analysis</a:t>
            </a:r>
            <a:endParaRPr lang="en-US" sz="1900" dirty="0"/>
          </a:p>
        </p:txBody>
      </p:sp>
      <p:sp>
        <p:nvSpPr>
          <p:cNvPr id="7" name="Text 5"/>
          <p:cNvSpPr/>
          <p:nvPr/>
        </p:nvSpPr>
        <p:spPr>
          <a:xfrm>
            <a:off x="1232773" y="3281839"/>
            <a:ext cx="5681662" cy="790099"/>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Patrick Hand" pitchFamily="34" charset="0"/>
                <a:ea typeface="Patrick Hand" pitchFamily="34" charset="-122"/>
                <a:cs typeface="Patrick Hand" pitchFamily="34" charset="-120"/>
              </a:rPr>
              <a:t>Identifies specific spending categories experiencing significant increases.</a:t>
            </a:r>
            <a:endParaRPr lang="en-US" sz="1900" dirty="0"/>
          </a:p>
        </p:txBody>
      </p:sp>
      <p:sp>
        <p:nvSpPr>
          <p:cNvPr id="8" name="Shape 6"/>
          <p:cNvSpPr/>
          <p:nvPr/>
        </p:nvSpPr>
        <p:spPr>
          <a:xfrm>
            <a:off x="7438549" y="2547818"/>
            <a:ext cx="6327815" cy="1801416"/>
          </a:xfrm>
          <a:prstGeom prst="roundRect">
            <a:avLst>
              <a:gd name="adj" fmla="val 8122"/>
            </a:avLst>
          </a:prstGeom>
          <a:solidFill>
            <a:srgbClr val="F7F7F7"/>
          </a:solidFill>
          <a:ln w="30480">
            <a:solidFill>
              <a:srgbClr val="CCCCCC"/>
            </a:solidFill>
            <a:prstDash val="solid"/>
          </a:ln>
        </p:spPr>
        <p:txBody>
          <a:bodyPr/>
          <a:lstStyle/>
          <a:p>
            <a:endParaRPr lang="en-IN"/>
          </a:p>
        </p:txBody>
      </p:sp>
      <p:sp>
        <p:nvSpPr>
          <p:cNvPr id="9" name="Shape 7"/>
          <p:cNvSpPr/>
          <p:nvPr/>
        </p:nvSpPr>
        <p:spPr>
          <a:xfrm>
            <a:off x="7408069" y="2547818"/>
            <a:ext cx="121920" cy="1801416"/>
          </a:xfrm>
          <a:prstGeom prst="roundRect">
            <a:avLst>
              <a:gd name="adj" fmla="val 85050"/>
            </a:avLst>
          </a:prstGeom>
          <a:solidFill>
            <a:srgbClr val="CCCCCC"/>
          </a:solidFill>
          <a:ln/>
        </p:spPr>
        <p:txBody>
          <a:bodyPr/>
          <a:lstStyle/>
          <a:p>
            <a:endParaRPr lang="en-IN"/>
          </a:p>
        </p:txBody>
      </p:sp>
      <p:sp>
        <p:nvSpPr>
          <p:cNvPr id="10" name="Text 8"/>
          <p:cNvSpPr/>
          <p:nvPr/>
        </p:nvSpPr>
        <p:spPr>
          <a:xfrm>
            <a:off x="7807285" y="2825115"/>
            <a:ext cx="2468880" cy="308610"/>
          </a:xfrm>
          <a:prstGeom prst="rect">
            <a:avLst/>
          </a:prstGeom>
          <a:noFill/>
          <a:ln/>
        </p:spPr>
        <p:txBody>
          <a:bodyPr wrap="none" lIns="0" tIns="0" rIns="0" bIns="0" rtlCol="0" anchor="t"/>
          <a:lstStyle/>
          <a:p>
            <a:pPr marL="0" indent="0" algn="l">
              <a:lnSpc>
                <a:spcPts val="2400"/>
              </a:lnSpc>
              <a:buNone/>
            </a:pPr>
            <a:r>
              <a:rPr lang="en-US" sz="1900" dirty="0">
                <a:solidFill>
                  <a:srgbClr val="383838"/>
                </a:solidFill>
                <a:latin typeface="Patrick Hand" pitchFamily="34" charset="0"/>
                <a:ea typeface="Patrick Hand" pitchFamily="34" charset="-122"/>
                <a:cs typeface="Patrick Hand" pitchFamily="34" charset="-120"/>
              </a:rPr>
              <a:t>Unusual Spending Patterns</a:t>
            </a:r>
            <a:endParaRPr lang="en-US" sz="1900" dirty="0"/>
          </a:p>
        </p:txBody>
      </p:sp>
      <p:sp>
        <p:nvSpPr>
          <p:cNvPr id="11" name="Text 9"/>
          <p:cNvSpPr/>
          <p:nvPr/>
        </p:nvSpPr>
        <p:spPr>
          <a:xfrm>
            <a:off x="7807285" y="3281839"/>
            <a:ext cx="5681782" cy="395049"/>
          </a:xfrm>
          <a:prstGeom prst="rect">
            <a:avLst/>
          </a:prstGeom>
          <a:noFill/>
          <a:ln/>
        </p:spPr>
        <p:txBody>
          <a:bodyPr wrap="none" lIns="0" tIns="0" rIns="0" bIns="0" rtlCol="0" anchor="t"/>
          <a:lstStyle/>
          <a:p>
            <a:pPr marL="0" indent="0" algn="l">
              <a:lnSpc>
                <a:spcPts val="3100"/>
              </a:lnSpc>
              <a:buNone/>
            </a:pPr>
            <a:r>
              <a:rPr lang="en-US" sz="1900" dirty="0">
                <a:solidFill>
                  <a:srgbClr val="383838"/>
                </a:solidFill>
                <a:latin typeface="Patrick Hand" pitchFamily="34" charset="0"/>
                <a:ea typeface="Patrick Hand" pitchFamily="34" charset="-122"/>
                <a:cs typeface="Patrick Hand" pitchFamily="34" charset="-120"/>
              </a:rPr>
              <a:t>Detects atypical transactions or sudden spikes in expenditure.</a:t>
            </a:r>
            <a:endParaRPr lang="en-US" sz="1900" dirty="0"/>
          </a:p>
        </p:txBody>
      </p:sp>
      <p:sp>
        <p:nvSpPr>
          <p:cNvPr id="12" name="Shape 10"/>
          <p:cNvSpPr/>
          <p:nvPr/>
        </p:nvSpPr>
        <p:spPr>
          <a:xfrm>
            <a:off x="864037" y="4596051"/>
            <a:ext cx="6327696" cy="1801416"/>
          </a:xfrm>
          <a:prstGeom prst="roundRect">
            <a:avLst>
              <a:gd name="adj" fmla="val 8122"/>
            </a:avLst>
          </a:prstGeom>
          <a:solidFill>
            <a:srgbClr val="F7F7F7"/>
          </a:solidFill>
          <a:ln w="30480">
            <a:solidFill>
              <a:srgbClr val="CCCCCC"/>
            </a:solidFill>
            <a:prstDash val="solid"/>
          </a:ln>
        </p:spPr>
        <p:txBody>
          <a:bodyPr/>
          <a:lstStyle/>
          <a:p>
            <a:endParaRPr lang="en-IN"/>
          </a:p>
        </p:txBody>
      </p:sp>
      <p:sp>
        <p:nvSpPr>
          <p:cNvPr id="13" name="Shape 11"/>
          <p:cNvSpPr/>
          <p:nvPr/>
        </p:nvSpPr>
        <p:spPr>
          <a:xfrm>
            <a:off x="833557" y="4596051"/>
            <a:ext cx="121920" cy="1801416"/>
          </a:xfrm>
          <a:prstGeom prst="roundRect">
            <a:avLst>
              <a:gd name="adj" fmla="val 85050"/>
            </a:avLst>
          </a:prstGeom>
          <a:solidFill>
            <a:srgbClr val="CCCCCC"/>
          </a:solidFill>
          <a:ln/>
        </p:spPr>
        <p:txBody>
          <a:bodyPr/>
          <a:lstStyle/>
          <a:p>
            <a:endParaRPr lang="en-IN"/>
          </a:p>
        </p:txBody>
      </p:sp>
      <p:sp>
        <p:nvSpPr>
          <p:cNvPr id="14" name="Text 12"/>
          <p:cNvSpPr/>
          <p:nvPr/>
        </p:nvSpPr>
        <p:spPr>
          <a:xfrm>
            <a:off x="1232773" y="4873347"/>
            <a:ext cx="2468880" cy="308610"/>
          </a:xfrm>
          <a:prstGeom prst="rect">
            <a:avLst/>
          </a:prstGeom>
          <a:noFill/>
          <a:ln/>
        </p:spPr>
        <p:txBody>
          <a:bodyPr wrap="none" lIns="0" tIns="0" rIns="0" bIns="0" rtlCol="0" anchor="t"/>
          <a:lstStyle/>
          <a:p>
            <a:pPr marL="0" indent="0" algn="l">
              <a:lnSpc>
                <a:spcPts val="2400"/>
              </a:lnSpc>
              <a:buNone/>
            </a:pPr>
            <a:r>
              <a:rPr lang="en-US" sz="1900" dirty="0">
                <a:solidFill>
                  <a:srgbClr val="383838"/>
                </a:solidFill>
                <a:latin typeface="Patrick Hand" pitchFamily="34" charset="0"/>
                <a:ea typeface="Patrick Hand" pitchFamily="34" charset="-122"/>
                <a:cs typeface="Patrick Hand" pitchFamily="34" charset="-120"/>
              </a:rPr>
              <a:t>Recurring Subscriptions</a:t>
            </a:r>
            <a:endParaRPr lang="en-US" sz="1900" dirty="0"/>
          </a:p>
        </p:txBody>
      </p:sp>
      <p:sp>
        <p:nvSpPr>
          <p:cNvPr id="15" name="Text 13"/>
          <p:cNvSpPr/>
          <p:nvPr/>
        </p:nvSpPr>
        <p:spPr>
          <a:xfrm>
            <a:off x="1232773" y="5330071"/>
            <a:ext cx="5681662" cy="790099"/>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Patrick Hand" pitchFamily="34" charset="0"/>
                <a:ea typeface="Patrick Hand" pitchFamily="34" charset="-122"/>
                <a:cs typeface="Patrick Hand" pitchFamily="34" charset="-120"/>
              </a:rPr>
              <a:t>Monitors and flags active subscriptions to prevent overlooked costs.</a:t>
            </a:r>
            <a:endParaRPr lang="en-US" sz="1900" dirty="0"/>
          </a:p>
        </p:txBody>
      </p:sp>
      <p:sp>
        <p:nvSpPr>
          <p:cNvPr id="16" name="Shape 14"/>
          <p:cNvSpPr/>
          <p:nvPr/>
        </p:nvSpPr>
        <p:spPr>
          <a:xfrm>
            <a:off x="7438549" y="4596051"/>
            <a:ext cx="6327815" cy="1801416"/>
          </a:xfrm>
          <a:prstGeom prst="roundRect">
            <a:avLst>
              <a:gd name="adj" fmla="val 8122"/>
            </a:avLst>
          </a:prstGeom>
          <a:solidFill>
            <a:srgbClr val="F7F7F7"/>
          </a:solidFill>
          <a:ln w="30480">
            <a:solidFill>
              <a:srgbClr val="CCCCCC"/>
            </a:solidFill>
            <a:prstDash val="solid"/>
          </a:ln>
        </p:spPr>
        <p:txBody>
          <a:bodyPr/>
          <a:lstStyle/>
          <a:p>
            <a:endParaRPr lang="en-IN"/>
          </a:p>
        </p:txBody>
      </p:sp>
      <p:sp>
        <p:nvSpPr>
          <p:cNvPr id="17" name="Shape 15"/>
          <p:cNvSpPr/>
          <p:nvPr/>
        </p:nvSpPr>
        <p:spPr>
          <a:xfrm>
            <a:off x="7408069" y="4596051"/>
            <a:ext cx="121920" cy="1801416"/>
          </a:xfrm>
          <a:prstGeom prst="roundRect">
            <a:avLst>
              <a:gd name="adj" fmla="val 85050"/>
            </a:avLst>
          </a:prstGeom>
          <a:solidFill>
            <a:srgbClr val="CCCCCC"/>
          </a:solidFill>
          <a:ln/>
        </p:spPr>
        <p:txBody>
          <a:bodyPr/>
          <a:lstStyle/>
          <a:p>
            <a:endParaRPr lang="en-IN"/>
          </a:p>
        </p:txBody>
      </p:sp>
      <p:sp>
        <p:nvSpPr>
          <p:cNvPr id="18" name="Text 16"/>
          <p:cNvSpPr/>
          <p:nvPr/>
        </p:nvSpPr>
        <p:spPr>
          <a:xfrm>
            <a:off x="7807285" y="4873347"/>
            <a:ext cx="2468880" cy="308610"/>
          </a:xfrm>
          <a:prstGeom prst="rect">
            <a:avLst/>
          </a:prstGeom>
          <a:noFill/>
          <a:ln/>
        </p:spPr>
        <p:txBody>
          <a:bodyPr wrap="none" lIns="0" tIns="0" rIns="0" bIns="0" rtlCol="0" anchor="t"/>
          <a:lstStyle/>
          <a:p>
            <a:pPr marL="0" indent="0" algn="l">
              <a:lnSpc>
                <a:spcPts val="2400"/>
              </a:lnSpc>
              <a:buNone/>
            </a:pPr>
            <a:r>
              <a:rPr lang="en-US" sz="1900" dirty="0">
                <a:solidFill>
                  <a:srgbClr val="383838"/>
                </a:solidFill>
                <a:latin typeface="Patrick Hand" pitchFamily="34" charset="0"/>
                <a:ea typeface="Patrick Hand" pitchFamily="34" charset="-122"/>
                <a:cs typeface="Patrick Hand" pitchFamily="34" charset="-120"/>
              </a:rPr>
              <a:t>Comparative Analysis</a:t>
            </a:r>
            <a:endParaRPr lang="en-US" sz="1900" dirty="0"/>
          </a:p>
        </p:txBody>
      </p:sp>
      <p:sp>
        <p:nvSpPr>
          <p:cNvPr id="19" name="Text 17"/>
          <p:cNvSpPr/>
          <p:nvPr/>
        </p:nvSpPr>
        <p:spPr>
          <a:xfrm>
            <a:off x="7807285" y="5330071"/>
            <a:ext cx="5681782" cy="790099"/>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Patrick Hand" pitchFamily="34" charset="0"/>
                <a:ea typeface="Patrick Hand" pitchFamily="34" charset="-122"/>
                <a:cs typeface="Patrick Hand" pitchFamily="34" charset="-120"/>
              </a:rPr>
              <a:t>Compares current spending against the previous three months for context.</a:t>
            </a:r>
            <a:endParaRPr lang="en-US" sz="1900" dirty="0"/>
          </a:p>
        </p:txBody>
      </p:sp>
      <p:sp>
        <p:nvSpPr>
          <p:cNvPr id="20" name="Text 18"/>
          <p:cNvSpPr/>
          <p:nvPr/>
        </p:nvSpPr>
        <p:spPr>
          <a:xfrm>
            <a:off x="864037" y="6675120"/>
            <a:ext cx="12902327" cy="790099"/>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Patrick Hand" pitchFamily="34" charset="0"/>
                <a:ea typeface="Patrick Hand" pitchFamily="34" charset="-122"/>
                <a:cs typeface="Patrick Hand" pitchFamily="34" charset="-120"/>
              </a:rPr>
              <a:t>The AI Insight Engine provides a concise summary of spending changes, coupled with actionable improvement suggestions and timely budget alerts to help users stay on track.</a:t>
            </a:r>
            <a:endParaRPr lang="en-US" sz="1900" dirty="0"/>
          </a:p>
        </p:txBody>
      </p:sp>
      <p:sp>
        <p:nvSpPr>
          <p:cNvPr id="21" name="Rectangle 20">
            <a:extLst>
              <a:ext uri="{FF2B5EF4-FFF2-40B4-BE49-F238E27FC236}">
                <a16:creationId xmlns:a16="http://schemas.microsoft.com/office/drawing/2014/main" id="{762C755D-7540-B205-B1E0-2E84F251E620}"/>
              </a:ext>
            </a:extLst>
          </p:cNvPr>
          <p:cNvSpPr/>
          <p:nvPr/>
        </p:nvSpPr>
        <p:spPr>
          <a:xfrm>
            <a:off x="12633158" y="7543800"/>
            <a:ext cx="1997242" cy="685800"/>
          </a:xfrm>
          <a:prstGeom prst="rect">
            <a:avLst/>
          </a:prstGeom>
          <a:solidFill>
            <a:srgbClr val="F5F5FD"/>
          </a:solidFill>
          <a:ln>
            <a:solidFill>
              <a:srgbClr val="F5F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851422" y="546378"/>
            <a:ext cx="3959185" cy="494824"/>
          </a:xfrm>
          <a:prstGeom prst="rect">
            <a:avLst/>
          </a:prstGeom>
          <a:noFill/>
          <a:ln/>
        </p:spPr>
        <p:txBody>
          <a:bodyPr wrap="none" lIns="0" tIns="0" rIns="0" bIns="0" rtlCol="0" anchor="t"/>
          <a:lstStyle/>
          <a:p>
            <a:pPr marL="0" indent="0" algn="l">
              <a:lnSpc>
                <a:spcPts val="3850"/>
              </a:lnSpc>
              <a:buNone/>
            </a:pPr>
            <a:r>
              <a:rPr lang="en-US" sz="3100" dirty="0">
                <a:solidFill>
                  <a:srgbClr val="383838"/>
                </a:solidFill>
                <a:latin typeface="Patrick Hand" pitchFamily="34" charset="0"/>
                <a:ea typeface="Patrick Hand" pitchFamily="34" charset="-122"/>
                <a:cs typeface="Patrick Hand" pitchFamily="34" charset="-120"/>
              </a:rPr>
              <a:t>System Architecture</a:t>
            </a:r>
            <a:endParaRPr lang="en-US" sz="3100" dirty="0"/>
          </a:p>
        </p:txBody>
      </p:sp>
      <p:sp>
        <p:nvSpPr>
          <p:cNvPr id="3" name="Text 1"/>
          <p:cNvSpPr/>
          <p:nvPr/>
        </p:nvSpPr>
        <p:spPr>
          <a:xfrm>
            <a:off x="1851422" y="1358622"/>
            <a:ext cx="10927556" cy="285393"/>
          </a:xfrm>
          <a:prstGeom prst="rect">
            <a:avLst/>
          </a:prstGeom>
          <a:noFill/>
          <a:ln/>
        </p:spPr>
        <p:txBody>
          <a:bodyPr wrap="none" lIns="0" tIns="0" rIns="0" bIns="0" rtlCol="0" anchor="t"/>
          <a:lstStyle/>
          <a:p>
            <a:pPr marL="0" indent="0" algn="l">
              <a:lnSpc>
                <a:spcPts val="2200"/>
              </a:lnSpc>
              <a:buNone/>
            </a:pPr>
            <a:r>
              <a:rPr lang="en-US" sz="1550" dirty="0">
                <a:solidFill>
                  <a:srgbClr val="383838"/>
                </a:solidFill>
                <a:latin typeface="Patrick Hand" pitchFamily="34" charset="0"/>
                <a:ea typeface="Patrick Hand" pitchFamily="34" charset="-122"/>
                <a:cs typeface="Patrick Hand" pitchFamily="34" charset="-120"/>
              </a:rPr>
              <a:t>Built on the robust and flexible MERN Stack.</a:t>
            </a:r>
            <a:endParaRPr lang="en-US" sz="1550" dirty="0"/>
          </a:p>
        </p:txBody>
      </p:sp>
      <p:pic>
        <p:nvPicPr>
          <p:cNvPr id="4" name="Image 0" descr="preencoded.png"/>
          <p:cNvPicPr>
            <a:picLocks noChangeAspect="1"/>
          </p:cNvPicPr>
          <p:nvPr/>
        </p:nvPicPr>
        <p:blipFill>
          <a:blip r:embed="rId3"/>
          <a:stretch>
            <a:fillRect/>
          </a:stretch>
        </p:blipFill>
        <p:spPr>
          <a:xfrm>
            <a:off x="1882854" y="1822490"/>
            <a:ext cx="10864572" cy="5396865"/>
          </a:xfrm>
          <a:prstGeom prst="rect">
            <a:avLst/>
          </a:prstGeom>
        </p:spPr>
      </p:pic>
      <p:sp>
        <p:nvSpPr>
          <p:cNvPr id="5" name="Text 2"/>
          <p:cNvSpPr/>
          <p:nvPr/>
        </p:nvSpPr>
        <p:spPr>
          <a:xfrm>
            <a:off x="9899425" y="3374629"/>
            <a:ext cx="1966921" cy="245865"/>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atrick Hand" pitchFamily="34" charset="0"/>
                <a:ea typeface="Patrick Hand" pitchFamily="34" charset="-122"/>
                <a:cs typeface="Patrick Hand" pitchFamily="34" charset="-120"/>
              </a:rPr>
              <a:t>AI/ML</a:t>
            </a:r>
            <a:endParaRPr lang="en-US" sz="1500" dirty="0"/>
          </a:p>
        </p:txBody>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83331" y="3207987"/>
            <a:ext cx="546367" cy="546367"/>
          </a:xfrm>
          <a:prstGeom prst="rect">
            <a:avLst/>
          </a:prstGeom>
        </p:spPr>
      </p:pic>
      <p:sp>
        <p:nvSpPr>
          <p:cNvPr id="7" name="Text 3"/>
          <p:cNvSpPr/>
          <p:nvPr/>
        </p:nvSpPr>
        <p:spPr>
          <a:xfrm>
            <a:off x="9899425" y="5407285"/>
            <a:ext cx="1966921" cy="245865"/>
          </a:xfrm>
          <a:prstGeom prst="rect">
            <a:avLst/>
          </a:prstGeom>
          <a:noFill/>
          <a:ln/>
        </p:spPr>
        <p:txBody>
          <a:bodyPr wrap="none" lIns="0" tIns="0" rIns="0" bIns="0" rtlCol="0" anchor="t"/>
          <a:lstStyle/>
          <a:p>
            <a:pPr marL="0" indent="0" algn="l">
              <a:lnSpc>
                <a:spcPts val="1900"/>
              </a:lnSpc>
              <a:buNone/>
            </a:pPr>
            <a:r>
              <a:rPr lang="en-US" sz="1500" dirty="0">
                <a:solidFill>
                  <a:srgbClr val="383838"/>
                </a:solidFill>
                <a:latin typeface="Patrick Hand" pitchFamily="34" charset="0"/>
                <a:ea typeface="Patrick Hand" pitchFamily="34" charset="-122"/>
                <a:cs typeface="Patrick Hand" pitchFamily="34" charset="-120"/>
              </a:rPr>
              <a:t>Database</a:t>
            </a:r>
            <a:endParaRPr lang="en-US" sz="1500" dirty="0"/>
          </a:p>
        </p:txBody>
      </p:sp>
      <p:pic>
        <p:nvPicPr>
          <p:cNvPr id="8"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83331" y="5240643"/>
            <a:ext cx="546367" cy="546367"/>
          </a:xfrm>
          <a:prstGeom prst="rect">
            <a:avLst/>
          </a:prstGeom>
        </p:spPr>
      </p:pic>
      <p:sp>
        <p:nvSpPr>
          <p:cNvPr id="9" name="Text 4"/>
          <p:cNvSpPr/>
          <p:nvPr/>
        </p:nvSpPr>
        <p:spPr>
          <a:xfrm>
            <a:off x="2763873" y="5407285"/>
            <a:ext cx="1966921" cy="245865"/>
          </a:xfrm>
          <a:prstGeom prst="rect">
            <a:avLst/>
          </a:prstGeom>
          <a:noFill/>
          <a:ln/>
        </p:spPr>
        <p:txBody>
          <a:bodyPr wrap="none" lIns="0" tIns="0" rIns="0" bIns="0" rtlCol="0" anchor="t"/>
          <a:lstStyle/>
          <a:p>
            <a:pPr marL="0" indent="0" algn="r">
              <a:lnSpc>
                <a:spcPts val="1900"/>
              </a:lnSpc>
              <a:buNone/>
            </a:pPr>
            <a:r>
              <a:rPr lang="en-US" sz="1500" dirty="0">
                <a:solidFill>
                  <a:srgbClr val="383838"/>
                </a:solidFill>
                <a:latin typeface="Patrick Hand" pitchFamily="34" charset="0"/>
                <a:ea typeface="Patrick Hand" pitchFamily="34" charset="-122"/>
                <a:cs typeface="Patrick Hand" pitchFamily="34" charset="-120"/>
              </a:rPr>
              <a:t>Backend</a:t>
            </a:r>
            <a:endParaRPr lang="en-US" sz="1500" dirty="0"/>
          </a:p>
        </p:txBody>
      </p:sp>
      <p:pic>
        <p:nvPicPr>
          <p:cNvPr id="10"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28991" y="5371771"/>
            <a:ext cx="546367" cy="546367"/>
          </a:xfrm>
          <a:prstGeom prst="rect">
            <a:avLst/>
          </a:prstGeom>
        </p:spPr>
      </p:pic>
      <p:pic>
        <p:nvPicPr>
          <p:cNvPr id="11"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830016" y="3339286"/>
            <a:ext cx="546367" cy="546367"/>
          </a:xfrm>
          <a:prstGeom prst="rect">
            <a:avLst/>
          </a:prstGeom>
        </p:spPr>
      </p:pic>
      <p:sp>
        <p:nvSpPr>
          <p:cNvPr id="12" name="Text 5"/>
          <p:cNvSpPr/>
          <p:nvPr/>
        </p:nvSpPr>
        <p:spPr>
          <a:xfrm>
            <a:off x="2764897" y="3369336"/>
            <a:ext cx="1966921" cy="245865"/>
          </a:xfrm>
          <a:prstGeom prst="rect">
            <a:avLst/>
          </a:prstGeom>
          <a:noFill/>
          <a:ln/>
        </p:spPr>
        <p:txBody>
          <a:bodyPr wrap="none" lIns="0" tIns="0" rIns="0" bIns="0" rtlCol="0" anchor="t"/>
          <a:lstStyle/>
          <a:p>
            <a:pPr marL="0" indent="0" algn="r">
              <a:lnSpc>
                <a:spcPts val="1900"/>
              </a:lnSpc>
              <a:buNone/>
            </a:pPr>
            <a:r>
              <a:rPr lang="en-US" sz="1500" dirty="0">
                <a:solidFill>
                  <a:srgbClr val="383838"/>
                </a:solidFill>
                <a:latin typeface="Patrick Hand" pitchFamily="34" charset="0"/>
                <a:ea typeface="Patrick Hand" pitchFamily="34" charset="-122"/>
                <a:cs typeface="Patrick Hand" pitchFamily="34" charset="-120"/>
              </a:rPr>
              <a:t>Frontend</a:t>
            </a:r>
            <a:endParaRPr lang="en-US" sz="1500" dirty="0"/>
          </a:p>
        </p:txBody>
      </p:sp>
      <p:sp>
        <p:nvSpPr>
          <p:cNvPr id="13" name="Text 6"/>
          <p:cNvSpPr/>
          <p:nvPr/>
        </p:nvSpPr>
        <p:spPr>
          <a:xfrm>
            <a:off x="1851422" y="7397829"/>
            <a:ext cx="10927556" cy="285393"/>
          </a:xfrm>
          <a:prstGeom prst="rect">
            <a:avLst/>
          </a:prstGeom>
          <a:noFill/>
          <a:ln/>
        </p:spPr>
        <p:txBody>
          <a:bodyPr wrap="none" lIns="0" tIns="0" rIns="0" bIns="0" rtlCol="0" anchor="t"/>
          <a:lstStyle/>
          <a:p>
            <a:pPr marL="0" indent="0" algn="l">
              <a:lnSpc>
                <a:spcPts val="2200"/>
              </a:lnSpc>
              <a:buNone/>
            </a:pPr>
            <a:r>
              <a:rPr lang="en-US" sz="1550" dirty="0">
                <a:solidFill>
                  <a:srgbClr val="383838"/>
                </a:solidFill>
                <a:latin typeface="Patrick Hand" pitchFamily="34" charset="0"/>
                <a:ea typeface="Patrick Hand" pitchFamily="34" charset="-122"/>
                <a:cs typeface="Patrick Hand" pitchFamily="34" charset="-120"/>
              </a:rPr>
              <a:t>This modular architecture ensures scalability, high performance, and a seamless user experience across both web and mobile platforms.</a:t>
            </a:r>
            <a:endParaRPr lang="en-US" sz="1550" dirty="0"/>
          </a:p>
        </p:txBody>
      </p:sp>
      <p:sp>
        <p:nvSpPr>
          <p:cNvPr id="14" name="Rectangle 13">
            <a:extLst>
              <a:ext uri="{FF2B5EF4-FFF2-40B4-BE49-F238E27FC236}">
                <a16:creationId xmlns:a16="http://schemas.microsoft.com/office/drawing/2014/main" id="{4BCE5A01-0341-C35F-4866-9868C3EC60E8}"/>
              </a:ext>
            </a:extLst>
          </p:cNvPr>
          <p:cNvSpPr/>
          <p:nvPr/>
        </p:nvSpPr>
        <p:spPr>
          <a:xfrm>
            <a:off x="12633158" y="7543800"/>
            <a:ext cx="1997242" cy="685800"/>
          </a:xfrm>
          <a:prstGeom prst="rect">
            <a:avLst/>
          </a:prstGeom>
          <a:solidFill>
            <a:srgbClr val="F5F5FD"/>
          </a:solidFill>
          <a:ln>
            <a:solidFill>
              <a:srgbClr val="F5F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64037" y="2189083"/>
            <a:ext cx="4937760" cy="617101"/>
          </a:xfrm>
          <a:prstGeom prst="rect">
            <a:avLst/>
          </a:prstGeom>
          <a:noFill/>
          <a:ln/>
        </p:spPr>
        <p:txBody>
          <a:bodyPr wrap="none" lIns="0" tIns="0" rIns="0" bIns="0" rtlCol="0" anchor="t"/>
          <a:lstStyle/>
          <a:p>
            <a:pPr marL="0" indent="0" algn="l">
              <a:lnSpc>
                <a:spcPts val="4850"/>
              </a:lnSpc>
              <a:buNone/>
            </a:pPr>
            <a:r>
              <a:rPr lang="en-US" sz="3850" dirty="0">
                <a:solidFill>
                  <a:srgbClr val="383838"/>
                </a:solidFill>
                <a:latin typeface="Patrick Hand" pitchFamily="34" charset="0"/>
                <a:ea typeface="Patrick Hand" pitchFamily="34" charset="-122"/>
                <a:cs typeface="Patrick Hand" pitchFamily="34" charset="-120"/>
              </a:rPr>
              <a:t>Technology Stack Deep Dive</a:t>
            </a:r>
            <a:endParaRPr lang="en-US" sz="3850" dirty="0"/>
          </a:p>
        </p:txBody>
      </p:sp>
      <p:pic>
        <p:nvPicPr>
          <p:cNvPr id="3" name="Image 0" descr="preencoded.png"/>
          <p:cNvPicPr>
            <a:picLocks noChangeAspect="1"/>
          </p:cNvPicPr>
          <p:nvPr/>
        </p:nvPicPr>
        <p:blipFill>
          <a:blip r:embed="rId3"/>
          <a:stretch>
            <a:fillRect/>
          </a:stretch>
        </p:blipFill>
        <p:spPr>
          <a:xfrm>
            <a:off x="864037" y="3299936"/>
            <a:ext cx="1187529" cy="1187529"/>
          </a:xfrm>
          <a:prstGeom prst="rect">
            <a:avLst/>
          </a:prstGeom>
        </p:spPr>
      </p:pic>
      <p:sp>
        <p:nvSpPr>
          <p:cNvPr id="4" name="Text 1"/>
          <p:cNvSpPr/>
          <p:nvPr/>
        </p:nvSpPr>
        <p:spPr>
          <a:xfrm>
            <a:off x="2360176" y="3299936"/>
            <a:ext cx="2468880" cy="308610"/>
          </a:xfrm>
          <a:prstGeom prst="rect">
            <a:avLst/>
          </a:prstGeom>
          <a:noFill/>
          <a:ln/>
        </p:spPr>
        <p:txBody>
          <a:bodyPr wrap="none" lIns="0" tIns="0" rIns="0" bIns="0" rtlCol="0" anchor="t"/>
          <a:lstStyle/>
          <a:p>
            <a:pPr marL="0" indent="0" algn="l">
              <a:lnSpc>
                <a:spcPts val="2400"/>
              </a:lnSpc>
              <a:buNone/>
            </a:pPr>
            <a:r>
              <a:rPr lang="en-US" sz="1900" dirty="0">
                <a:solidFill>
                  <a:srgbClr val="383838"/>
                </a:solidFill>
                <a:latin typeface="Patrick Hand" pitchFamily="34" charset="0"/>
                <a:ea typeface="Patrick Hand" pitchFamily="34" charset="-122"/>
                <a:cs typeface="Patrick Hand" pitchFamily="34" charset="-120"/>
              </a:rPr>
              <a:t>Frontend (React.js)</a:t>
            </a:r>
            <a:endParaRPr lang="en-US" sz="1900" dirty="0"/>
          </a:p>
        </p:txBody>
      </p:sp>
      <p:sp>
        <p:nvSpPr>
          <p:cNvPr id="5" name="Text 2"/>
          <p:cNvSpPr/>
          <p:nvPr/>
        </p:nvSpPr>
        <p:spPr>
          <a:xfrm>
            <a:off x="2360176" y="3756660"/>
            <a:ext cx="2598896" cy="1975247"/>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Patrick Hand" pitchFamily="34" charset="0"/>
                <a:ea typeface="Patrick Hand" pitchFamily="34" charset="-122"/>
                <a:cs typeface="Patrick Hand" pitchFamily="34" charset="-120"/>
              </a:rPr>
              <a:t>Powers the intuitive User Dashboard, dynamic Charts &amp; Analytics, the efficient Bill Upload Interface, and the clear AI Insight Display.</a:t>
            </a:r>
            <a:endParaRPr lang="en-US" sz="1900" dirty="0"/>
          </a:p>
        </p:txBody>
      </p:sp>
      <p:pic>
        <p:nvPicPr>
          <p:cNvPr id="6" name="Image 1" descr="preencoded.png"/>
          <p:cNvPicPr>
            <a:picLocks noChangeAspect="1"/>
          </p:cNvPicPr>
          <p:nvPr/>
        </p:nvPicPr>
        <p:blipFill>
          <a:blip r:embed="rId4"/>
          <a:stretch>
            <a:fillRect/>
          </a:stretch>
        </p:blipFill>
        <p:spPr>
          <a:xfrm>
            <a:off x="5267682" y="3299936"/>
            <a:ext cx="1187529" cy="1187529"/>
          </a:xfrm>
          <a:prstGeom prst="rect">
            <a:avLst/>
          </a:prstGeom>
        </p:spPr>
      </p:pic>
      <p:sp>
        <p:nvSpPr>
          <p:cNvPr id="7" name="Text 3"/>
          <p:cNvSpPr/>
          <p:nvPr/>
        </p:nvSpPr>
        <p:spPr>
          <a:xfrm>
            <a:off x="6763822" y="3299936"/>
            <a:ext cx="2598896" cy="617220"/>
          </a:xfrm>
          <a:prstGeom prst="rect">
            <a:avLst/>
          </a:prstGeom>
          <a:noFill/>
          <a:ln/>
        </p:spPr>
        <p:txBody>
          <a:bodyPr wrap="square" lIns="0" tIns="0" rIns="0" bIns="0" rtlCol="0" anchor="t"/>
          <a:lstStyle/>
          <a:p>
            <a:pPr marL="0" indent="0" algn="l">
              <a:lnSpc>
                <a:spcPts val="2400"/>
              </a:lnSpc>
              <a:buNone/>
            </a:pPr>
            <a:r>
              <a:rPr lang="en-US" sz="1900" dirty="0">
                <a:solidFill>
                  <a:srgbClr val="383838"/>
                </a:solidFill>
                <a:latin typeface="Patrick Hand" pitchFamily="34" charset="0"/>
                <a:ea typeface="Patrick Hand" pitchFamily="34" charset="-122"/>
                <a:cs typeface="Patrick Hand" pitchFamily="34" charset="-120"/>
              </a:rPr>
              <a:t>Backend (Node.js + Express.js)</a:t>
            </a:r>
            <a:endParaRPr lang="en-US" sz="1900" dirty="0"/>
          </a:p>
        </p:txBody>
      </p:sp>
      <p:sp>
        <p:nvSpPr>
          <p:cNvPr id="8" name="Text 4"/>
          <p:cNvSpPr/>
          <p:nvPr/>
        </p:nvSpPr>
        <p:spPr>
          <a:xfrm>
            <a:off x="6763822" y="4065270"/>
            <a:ext cx="2598896" cy="1975247"/>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Patrick Hand" pitchFamily="34" charset="0"/>
                <a:ea typeface="Patrick Hand" pitchFamily="34" charset="-122"/>
                <a:cs typeface="Patrick Hand" pitchFamily="34" charset="-120"/>
              </a:rPr>
              <a:t>Manages REST APIs, secure Authentication (JWT), robust Expense Processing, and seamless AI Logic Integration.</a:t>
            </a:r>
            <a:endParaRPr lang="en-US" sz="1900" dirty="0"/>
          </a:p>
        </p:txBody>
      </p:sp>
      <p:pic>
        <p:nvPicPr>
          <p:cNvPr id="9" name="Image 2" descr="preencoded.png"/>
          <p:cNvPicPr>
            <a:picLocks noChangeAspect="1"/>
          </p:cNvPicPr>
          <p:nvPr/>
        </p:nvPicPr>
        <p:blipFill>
          <a:blip r:embed="rId5"/>
          <a:stretch>
            <a:fillRect/>
          </a:stretch>
        </p:blipFill>
        <p:spPr>
          <a:xfrm>
            <a:off x="9671328" y="3299936"/>
            <a:ext cx="1187529" cy="1187529"/>
          </a:xfrm>
          <a:prstGeom prst="rect">
            <a:avLst/>
          </a:prstGeom>
        </p:spPr>
      </p:pic>
      <p:sp>
        <p:nvSpPr>
          <p:cNvPr id="10" name="Text 5"/>
          <p:cNvSpPr/>
          <p:nvPr/>
        </p:nvSpPr>
        <p:spPr>
          <a:xfrm>
            <a:off x="11167467" y="3299936"/>
            <a:ext cx="2468880" cy="308610"/>
          </a:xfrm>
          <a:prstGeom prst="rect">
            <a:avLst/>
          </a:prstGeom>
          <a:noFill/>
          <a:ln/>
        </p:spPr>
        <p:txBody>
          <a:bodyPr wrap="none" lIns="0" tIns="0" rIns="0" bIns="0" rtlCol="0" anchor="t"/>
          <a:lstStyle/>
          <a:p>
            <a:pPr marL="0" indent="0" algn="l">
              <a:lnSpc>
                <a:spcPts val="2400"/>
              </a:lnSpc>
              <a:buNone/>
            </a:pPr>
            <a:r>
              <a:rPr lang="en-US" sz="1900" dirty="0">
                <a:solidFill>
                  <a:srgbClr val="383838"/>
                </a:solidFill>
                <a:latin typeface="Patrick Hand" pitchFamily="34" charset="0"/>
                <a:ea typeface="Patrick Hand" pitchFamily="34" charset="-122"/>
                <a:cs typeface="Patrick Hand" pitchFamily="34" charset="-120"/>
              </a:rPr>
              <a:t>Database (MongoDB)</a:t>
            </a:r>
            <a:endParaRPr lang="en-US" sz="1900" dirty="0"/>
          </a:p>
        </p:txBody>
      </p:sp>
      <p:sp>
        <p:nvSpPr>
          <p:cNvPr id="11" name="Text 6"/>
          <p:cNvSpPr/>
          <p:nvPr/>
        </p:nvSpPr>
        <p:spPr>
          <a:xfrm>
            <a:off x="11167467" y="3756660"/>
            <a:ext cx="2598896" cy="1975247"/>
          </a:xfrm>
          <a:prstGeom prst="rect">
            <a:avLst/>
          </a:prstGeom>
          <a:noFill/>
          <a:ln/>
        </p:spPr>
        <p:txBody>
          <a:bodyPr wrap="square" lIns="0" tIns="0" rIns="0" bIns="0" rtlCol="0" anchor="t"/>
          <a:lstStyle/>
          <a:p>
            <a:pPr marL="0" indent="0" algn="l">
              <a:lnSpc>
                <a:spcPts val="3100"/>
              </a:lnSpc>
              <a:buNone/>
            </a:pPr>
            <a:r>
              <a:rPr lang="en-US" sz="1900" dirty="0">
                <a:solidFill>
                  <a:srgbClr val="383838"/>
                </a:solidFill>
                <a:latin typeface="Patrick Hand" pitchFamily="34" charset="0"/>
                <a:ea typeface="Patrick Hand" pitchFamily="34" charset="-122"/>
                <a:cs typeface="Patrick Hand" pitchFamily="34" charset="-120"/>
              </a:rPr>
              <a:t>Stores critical data in collections: Users, Transactions, Categories, Predictions, and Uploaded Bills.</a:t>
            </a:r>
            <a:endParaRPr lang="en-US" sz="1900" dirty="0"/>
          </a:p>
        </p:txBody>
      </p:sp>
      <p:sp>
        <p:nvSpPr>
          <p:cNvPr id="12" name="Rectangle 11">
            <a:extLst>
              <a:ext uri="{FF2B5EF4-FFF2-40B4-BE49-F238E27FC236}">
                <a16:creationId xmlns:a16="http://schemas.microsoft.com/office/drawing/2014/main" id="{682EE5A4-EACF-E5F6-FB19-2FD072A780DD}"/>
              </a:ext>
            </a:extLst>
          </p:cNvPr>
          <p:cNvSpPr/>
          <p:nvPr/>
        </p:nvSpPr>
        <p:spPr>
          <a:xfrm>
            <a:off x="12633158" y="7543800"/>
            <a:ext cx="1997242" cy="685800"/>
          </a:xfrm>
          <a:prstGeom prst="rect">
            <a:avLst/>
          </a:prstGeom>
          <a:solidFill>
            <a:srgbClr val="F5F5FD"/>
          </a:solidFill>
          <a:ln>
            <a:solidFill>
              <a:srgbClr val="F5F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715</Words>
  <Application>Microsoft Office PowerPoint</Application>
  <PresentationFormat>Custom</PresentationFormat>
  <Paragraphs>83</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Patrick Hand</vt:lpstr>
      <vt:lpstr>Times New Roman</vt:lpstr>
      <vt:lpstr>-apple-system, BlinkMacSystemFont, Segoe UI, Roboto, Helvetica Neue, Arial, sans-serif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Sachin Sharma</cp:lastModifiedBy>
  <cp:revision>2</cp:revision>
  <dcterms:created xsi:type="dcterms:W3CDTF">2026-02-25T05:31:30Z</dcterms:created>
  <dcterms:modified xsi:type="dcterms:W3CDTF">2026-02-25T06:12:35Z</dcterms:modified>
</cp:coreProperties>
</file>