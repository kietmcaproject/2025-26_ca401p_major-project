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Montserrat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4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FEACC-4E13-7796-D187-F4641D70058B}"/>
              </a:ext>
            </a:extLst>
          </p:cNvPr>
          <p:cNvSpPr txBox="1"/>
          <p:nvPr/>
        </p:nvSpPr>
        <p:spPr>
          <a:xfrm>
            <a:off x="1287379" y="1027970"/>
            <a:ext cx="12127831" cy="672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PLATFORM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Mishra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202410116100008</a:t>
            </a:r>
            <a:b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Abhijeet Singh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202410116100007</a:t>
            </a:r>
            <a:b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Alok Kumar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202410116100018</a:t>
            </a:r>
            <a:b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Anand Patel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202410116100023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(IV Semester)</a:t>
            </a:r>
            <a:endParaRPr lang="en-IN" sz="20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chemeClr val="tx2"/>
                </a:solidFill>
              </a:rPr>
              <a:t>Dr. Shashank Bhardwaj</a:t>
            </a:r>
            <a:br>
              <a:rPr lang="en-IN" sz="2000" dirty="0">
                <a:solidFill>
                  <a:schemeClr val="tx2"/>
                </a:solidFill>
              </a:rPr>
            </a:br>
            <a:r>
              <a:rPr lang="en-IN" sz="2000" dirty="0">
                <a:solidFill>
                  <a:schemeClr val="tx2"/>
                </a:solidFill>
              </a:rPr>
              <a:t>Associate Professor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3D65AFE0-D67D-DED8-4073-5B908610D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6" y="427512"/>
            <a:ext cx="3309483" cy="9154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4036D3-0BDE-3305-653B-EFF7B803FA3E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0134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33466" y="2773980"/>
            <a:ext cx="7627382" cy="883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Personalized Learning Platform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533466" y="3913569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AI-driven, adaptive learning system built on the MERN stack and Google Gemini API, delivering a unique, data-informed learning path to every student.</a:t>
            </a:r>
            <a:endParaRPr lang="en-US" sz="17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0C68BD5-44C1-3EBD-2F0C-C506B69ED2B5}"/>
              </a:ext>
            </a:extLst>
          </p:cNvPr>
          <p:cNvSpPr/>
          <p:nvPr/>
        </p:nvSpPr>
        <p:spPr>
          <a:xfrm>
            <a:off x="6015789" y="2117562"/>
            <a:ext cx="8373979" cy="3946358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C276B-44D4-96E8-9050-6B1C9488A5A8}"/>
              </a:ext>
            </a:extLst>
          </p:cNvPr>
          <p:cNvSpPr/>
          <p:nvPr/>
        </p:nvSpPr>
        <p:spPr>
          <a:xfrm>
            <a:off x="12777536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775D3-4056-106A-8BA1-32EDC5669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3" y="84219"/>
            <a:ext cx="5776988" cy="809725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828913"/>
            <a:ext cx="2111573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5826" y="901422"/>
            <a:ext cx="1836539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337786"/>
            <a:ext cx="112498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 with One-Size-Fits-All Learning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25919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Core Gap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3164800"/>
            <a:ext cx="6292572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Platforms like Coursera, Udemy, and Google Classroom deliver identical content, assessments, and learning paths to every student - regardless of comprehension speed, prior knowledge, or cognitive strengths. The global e-learning market is projected to exceed $400 billion by 2027, yet personalization remains largely unsolved.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39966"/>
            <a:ext cx="6292572" cy="1884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Students fall behind or remain under-challenged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Teachers cannot track 50+ students individually in real time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Institutions lack predictive, AI-assisted intelligence in their LMS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587139" y="2619137"/>
            <a:ext cx="3037999" cy="3493889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659" y="2619137"/>
            <a:ext cx="121920" cy="34938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25633" y="2866192"/>
            <a:ext cx="245244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PLP Answer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25633" y="3439001"/>
            <a:ext cx="2452449" cy="242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an internal analytics engine with Google Gemini AI to create adaptive, data-driven learning paths for every individual student.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0841712" y="2619137"/>
            <a:ext cx="3037999" cy="3493889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232" y="2619137"/>
            <a:ext cx="121920" cy="34938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80207" y="2866192"/>
            <a:ext cx="245244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Who Benefits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11180207" y="3439001"/>
            <a:ext cx="245244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Schools, colleges, coaching centers, and self-directed learners are accessible through any modern web browser.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3CE05B-0979-8F4B-F891-768313689684}"/>
              </a:ext>
            </a:extLst>
          </p:cNvPr>
          <p:cNvSpPr/>
          <p:nvPr/>
        </p:nvSpPr>
        <p:spPr>
          <a:xfrm>
            <a:off x="12765504" y="7591925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2007" y="786527"/>
            <a:ext cx="1553885" cy="258008"/>
          </a:xfrm>
          <a:prstGeom prst="roundRect">
            <a:avLst>
              <a:gd name="adj" fmla="val 70992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1863566" y="832247"/>
            <a:ext cx="1370767" cy="166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772007" y="1087517"/>
            <a:ext cx="5663803" cy="5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PLP Is Built to Achieve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772007" y="1750814"/>
            <a:ext cx="5489377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265" y="1911072"/>
            <a:ext cx="457914" cy="45791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8233" y="2036921"/>
            <a:ext cx="205978" cy="2059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32265" y="2476500"/>
            <a:ext cx="205787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Adaptive Classification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932265" y="2791897"/>
            <a:ext cx="516886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Classify each learner into Beginner, Developing, Proficient, or Advanced using a weighted quiz-score algorithm updated after every submission.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368897" y="1750814"/>
            <a:ext cx="5489496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9155" y="1911072"/>
            <a:ext cx="457914" cy="45791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5123" y="2036921"/>
            <a:ext cx="205978" cy="205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29155" y="2476500"/>
            <a:ext cx="2693551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Composite Engagement Score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7529155" y="2791897"/>
            <a:ext cx="5168979" cy="4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0–100 real-time score weighing quiz attempts (30%), course breadth (20%), streak consistency (30%), and materials viewed (20%).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1772007" y="3684032"/>
            <a:ext cx="5489377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2265" y="3844290"/>
            <a:ext cx="457914" cy="45791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58233" y="3970139"/>
            <a:ext cx="205978" cy="20597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932265" y="4409718"/>
            <a:ext cx="213312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AI-Powered Study Plans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1932265" y="4725114"/>
            <a:ext cx="516886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Gemini generates personalized weekly plans with daily tasks, focus areas, and duration calibrated to the student's level and goals.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7368897" y="3684032"/>
            <a:ext cx="5489496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9155" y="3844290"/>
            <a:ext cx="457914" cy="457914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55123" y="3970139"/>
            <a:ext cx="205978" cy="20597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29155" y="4409718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Adaptive Quiz Engine</a:t>
            </a:r>
            <a:endParaRPr lang="en-US" sz="1550" dirty="0"/>
          </a:p>
        </p:txBody>
      </p:sp>
      <p:sp>
        <p:nvSpPr>
          <p:cNvPr id="24" name="Text 14"/>
          <p:cNvSpPr/>
          <p:nvPr/>
        </p:nvSpPr>
        <p:spPr>
          <a:xfrm>
            <a:off x="7529155" y="4725114"/>
            <a:ext cx="5168979" cy="4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difficulty auto-adjusts based on the student's last 3 attempts: below 40% → Easy, 40–70% → Medium, above 70% → Hard.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1772007" y="5617250"/>
            <a:ext cx="5489377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32265" y="5777508"/>
            <a:ext cx="457914" cy="45791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058233" y="5903357"/>
            <a:ext cx="205978" cy="20597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1932265" y="6342936"/>
            <a:ext cx="20083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At-Risk Detection</a:t>
            </a:r>
            <a:endParaRPr lang="en-US" sz="1550" dirty="0"/>
          </a:p>
        </p:txBody>
      </p:sp>
      <p:sp>
        <p:nvSpPr>
          <p:cNvPr id="29" name="Text 17"/>
          <p:cNvSpPr/>
          <p:nvPr/>
        </p:nvSpPr>
        <p:spPr>
          <a:xfrm>
            <a:off x="1932265" y="6658332"/>
            <a:ext cx="516886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Automatically flags students with engagement below 40 or scores below 40, surfacing them prominently on the teacher dashboard with risk badges.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7368897" y="5617250"/>
            <a:ext cx="5489496" cy="1825704"/>
          </a:xfrm>
          <a:prstGeom prst="roundRect">
            <a:avLst>
              <a:gd name="adj" fmla="val 125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29155" y="5777508"/>
            <a:ext cx="457914" cy="457914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55123" y="5903357"/>
            <a:ext cx="205978" cy="20597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7529155" y="6342936"/>
            <a:ext cx="239148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Secure Role-Based Access</a:t>
            </a:r>
            <a:endParaRPr lang="en-US" sz="1550" dirty="0"/>
          </a:p>
        </p:txBody>
      </p:sp>
      <p:sp>
        <p:nvSpPr>
          <p:cNvPr id="34" name="Text 20"/>
          <p:cNvSpPr/>
          <p:nvPr/>
        </p:nvSpPr>
        <p:spPr>
          <a:xfrm>
            <a:off x="7529155" y="6658332"/>
            <a:ext cx="5168979" cy="416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JWT authentication with bcrypt hashing, rate limiting, and strict role-based middleware separating student and teacher workflows.</a:t>
            </a:r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7D8126-3BD5-EDFC-816A-E8964C9804C2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791885"/>
            <a:ext cx="1740337" cy="422315"/>
          </a:xfrm>
          <a:prstGeom prst="roundRect">
            <a:avLst>
              <a:gd name="adj" fmla="val 61564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5826" y="864394"/>
            <a:ext cx="146530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300758"/>
            <a:ext cx="738473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Features, Roles &amp; Boundaries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58309" y="210002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Student Experience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2781181"/>
            <a:ext cx="13113782" cy="203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dashboard: AI level badge, streak, performance trend chart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Adaptive quizzes with AI-generated explanations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On-demand AI feedback and weekly study plan generator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Multi-format materials: YouTube, PDF, PowerPoint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 topic visualization with accuracy bars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14254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Teacher Experience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5823704"/>
            <a:ext cx="13113782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Class-wide analytics: course performance chart, AI level distribution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At-risk student detection with last-active date and risk badges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quiz generation by topic, difficulty, and count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Course creation, material upload, and quiz bank management</a:t>
            </a: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3E593-FE74-BD90-FB8D-5E93CAA3FCFE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3C3829-119B-1F6C-A222-727FD8740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24" y="96250"/>
            <a:ext cx="5457692" cy="804912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8" y="534286"/>
            <a:ext cx="1704142" cy="447783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888206" y="617690"/>
            <a:ext cx="1444347" cy="30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8309" y="1024207"/>
            <a:ext cx="1059989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System Architecture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806437" y="1823474"/>
            <a:ext cx="302740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Three-Tier Architecture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2619704"/>
            <a:ext cx="108228" cy="1082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3112" y="25046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Client Layer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83112" y="2990762"/>
            <a:ext cx="60967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React.js with Recharts visualizations, Axios interceptors, and React Router v6 protected routes.</a:t>
            </a:r>
            <a:endParaRPr lang="en-US" sz="17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7" y="5495247"/>
            <a:ext cx="108228" cy="1082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09870" y="538017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1109870" y="5866305"/>
            <a:ext cx="609671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/ Express.js backend with modular services, centralized error handling, and standardized API responses.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09" y="4122025"/>
            <a:ext cx="108228" cy="1082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83112" y="400695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Layer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83112" y="4493083"/>
            <a:ext cx="609671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with six indexed collections: Users, Courses, Materials, Quizzes, Progress, AIInteractionLogs.</a:t>
            </a:r>
            <a:endParaRPr lang="en-US" sz="17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574" y="5469585"/>
            <a:ext cx="108228" cy="1082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5377" y="53545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Service Layer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775377" y="5840643"/>
            <a:ext cx="609671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Abstracted Gemini 1.5 Flash module exposing generateStudyPlan(), generateQuiz(), and generateFeedback().</a:t>
            </a:r>
            <a:endParaRPr lang="en-US" sz="17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5E0BED-3FCE-E93F-3656-720405049BB9}"/>
              </a:ext>
            </a:extLst>
          </p:cNvPr>
          <p:cNvSpPr/>
          <p:nvPr/>
        </p:nvSpPr>
        <p:spPr>
          <a:xfrm>
            <a:off x="12777536" y="7603957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A30D55E-3AB5-A4F0-2C08-558C19118F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48" t="4507" b="5621"/>
          <a:stretch>
            <a:fillRect/>
          </a:stretch>
        </p:blipFill>
        <p:spPr>
          <a:xfrm>
            <a:off x="7196533" y="1130965"/>
            <a:ext cx="6398883" cy="38782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6992" y="848439"/>
            <a:ext cx="1580198" cy="379095"/>
          </a:xfrm>
          <a:prstGeom prst="roundRect">
            <a:avLst>
              <a:gd name="adj" fmla="val 63038"/>
            </a:avLst>
          </a:prstGeom>
          <a:noFill/>
          <a:ln w="7620">
            <a:solidFill>
              <a:srgbClr val="75BA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4032" y="915710"/>
            <a:ext cx="1326118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6992" y="1300639"/>
            <a:ext cx="8355687" cy="655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Hardware &amp; Software Requirements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6992" y="2413278"/>
            <a:ext cx="2862262" cy="32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Hardware Specifications</a:t>
            </a:r>
            <a:endParaRPr lang="en-US" sz="2050" dirty="0"/>
          </a:p>
        </p:txBody>
      </p:sp>
      <p:sp>
        <p:nvSpPr>
          <p:cNvPr id="6" name="Shape 4"/>
          <p:cNvSpPr/>
          <p:nvPr/>
        </p:nvSpPr>
        <p:spPr>
          <a:xfrm>
            <a:off x="696992" y="2946678"/>
            <a:ext cx="6375321" cy="3564255"/>
          </a:xfrm>
          <a:prstGeom prst="roundRect">
            <a:avLst>
              <a:gd name="adj" fmla="val 83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612" y="2954298"/>
            <a:ext cx="6360081" cy="540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03803" y="3071693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769638" y="3071693"/>
            <a:ext cx="309598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04612" y="3494842"/>
            <a:ext cx="6360081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03803" y="3612237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69638" y="3612237"/>
            <a:ext cx="309598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Quad-core 2.5 GHz+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04612" y="4035385"/>
            <a:ext cx="6360081" cy="540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03803" y="4152781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769638" y="4152781"/>
            <a:ext cx="309598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GB+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04612" y="4575929"/>
            <a:ext cx="6360081" cy="5405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03803" y="4693325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769638" y="4693325"/>
            <a:ext cx="309598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50–100 GB SSD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04612" y="5116473"/>
            <a:ext cx="6360081" cy="5405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03803" y="5233868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769638" y="5233868"/>
            <a:ext cx="3095982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Mbps+ broadband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04612" y="5657017"/>
            <a:ext cx="6360081" cy="8462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3803" y="5774412"/>
            <a:ext cx="2460069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Device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769638" y="5774412"/>
            <a:ext cx="3095982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Desktop/laptop, Chrome or Firefox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65708" y="2413278"/>
            <a:ext cx="2620208" cy="32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Software Stack</a:t>
            </a:r>
            <a:endParaRPr lang="en-US" sz="2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5708" y="2981444"/>
            <a:ext cx="298609" cy="29860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047315" y="2990136"/>
            <a:ext cx="2620208" cy="32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2050" dirty="0"/>
          </a:p>
        </p:txBody>
      </p:sp>
      <p:sp>
        <p:nvSpPr>
          <p:cNvPr id="28" name="Text 25"/>
          <p:cNvSpPr/>
          <p:nvPr/>
        </p:nvSpPr>
        <p:spPr>
          <a:xfrm>
            <a:off x="8047315" y="3500676"/>
            <a:ext cx="589371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React.js 18, Vite, Tailwind CSS 3, React Router v6, Recharts, Axios, Lucide React</a:t>
            </a:r>
            <a:endParaRPr lang="en-US" sz="15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5708" y="4512945"/>
            <a:ext cx="298609" cy="298609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047315" y="4521637"/>
            <a:ext cx="2620208" cy="32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2050" dirty="0"/>
          </a:p>
        </p:txBody>
      </p:sp>
      <p:sp>
        <p:nvSpPr>
          <p:cNvPr id="31" name="Text 27"/>
          <p:cNvSpPr/>
          <p:nvPr/>
        </p:nvSpPr>
        <p:spPr>
          <a:xfrm>
            <a:off x="8047315" y="5032177"/>
            <a:ext cx="589371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Node.js, Express.js 4, Mongoose 8, JWT, Bcrypt.js, Multer, Helmet.js, express-validator</a:t>
            </a:r>
            <a:endParaRPr lang="en-US" sz="15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5708" y="6044446"/>
            <a:ext cx="298609" cy="29860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47315" y="6053138"/>
            <a:ext cx="2620208" cy="327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&amp; AI</a:t>
            </a:r>
            <a:endParaRPr lang="en-US" sz="2050" dirty="0"/>
          </a:p>
        </p:txBody>
      </p:sp>
      <p:sp>
        <p:nvSpPr>
          <p:cNvPr id="34" name="Text 29"/>
          <p:cNvSpPr/>
          <p:nvPr/>
        </p:nvSpPr>
        <p:spPr>
          <a:xfrm>
            <a:off x="8047315" y="6563678"/>
            <a:ext cx="5893713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MongoDB Atlas, Google Gemini 1.5 Flash API - deployed on </a:t>
            </a:r>
            <a:r>
              <a:rPr lang="en-US" sz="155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</a:t>
            </a: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5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0D6A79-C2F9-E5D6-62F0-7EE617D80D94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31156" y="726877"/>
            <a:ext cx="797481" cy="266343"/>
          </a:xfrm>
          <a:prstGeom prst="roundRect">
            <a:avLst>
              <a:gd name="adj" fmla="val 7051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1724978" y="773787"/>
            <a:ext cx="609838" cy="172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631156" y="1038344"/>
            <a:ext cx="4593669" cy="514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8-Week Project Schedule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287380" y="6860445"/>
            <a:ext cx="12705346" cy="755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Agile sprint structure ensures each phase delivers a testable, functional increment — reducing integration risk and enabling continuous feedback throughout development.</a:t>
            </a:r>
            <a:endParaRPr lang="en-US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CA07A8-D1E0-C9FA-2D4B-60F7F68DF5DE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2E4D882-3C92-BF97-9071-4031BE761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691" y="1699875"/>
            <a:ext cx="11765017" cy="50137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9548A3D-A74C-D330-C7F1-69939D518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52" y="1180456"/>
            <a:ext cx="12152811" cy="531626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713303" y="808792"/>
            <a:ext cx="1917502" cy="375404"/>
          </a:xfrm>
          <a:prstGeom prst="roundRect">
            <a:avLst>
              <a:gd name="adj" fmla="val 65155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835581" y="869871"/>
            <a:ext cx="1672947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OUTCOME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303" y="1260872"/>
            <a:ext cx="11430953" cy="67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An Adaptive Learning Platform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450781" y="6494042"/>
            <a:ext cx="13203793" cy="1149787"/>
          </a:xfrm>
          <a:prstGeom prst="roundRect">
            <a:avLst>
              <a:gd name="adj" fmla="val 26591"/>
            </a:avLst>
          </a:prstGeom>
          <a:solidFill>
            <a:srgbClr val="BEDFF3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19" y="6816333"/>
            <a:ext cx="254675" cy="2037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75410" y="6764953"/>
            <a:ext cx="12337971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PLP demonstrates how deterministic analytics and generative AI can be unified into a single platform - making personalized, high-quality education accessible to every learner through a standard web browser.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6AC28C-7243-D13F-F509-92CA549267C2}"/>
              </a:ext>
            </a:extLst>
          </p:cNvPr>
          <p:cNvSpPr/>
          <p:nvPr/>
        </p:nvSpPr>
        <p:spPr>
          <a:xfrm>
            <a:off x="12789568" y="7615989"/>
            <a:ext cx="1840832" cy="613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732</Words>
  <Application>Microsoft Office PowerPoint</Application>
  <PresentationFormat>Custom</PresentationFormat>
  <Paragraphs>98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Abhishek Mishra</dc:creator>
  <cp:lastModifiedBy>Abhishek Mishra</cp:lastModifiedBy>
  <cp:revision>5</cp:revision>
  <dcterms:created xsi:type="dcterms:W3CDTF">2026-02-18T05:47:54Z</dcterms:created>
  <dcterms:modified xsi:type="dcterms:W3CDTF">2026-02-25T16:26:13Z</dcterms:modified>
</cp:coreProperties>
</file>