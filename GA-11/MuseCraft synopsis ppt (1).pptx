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74" r:id="rId2"/>
    <p:sldId id="256" r:id="rId3"/>
    <p:sldId id="257" r:id="rId4"/>
    <p:sldId id="258" r:id="rId5"/>
    <p:sldId id="259" r:id="rId6"/>
    <p:sldId id="260" r:id="rId7"/>
    <p:sldId id="261" r:id="rId8"/>
    <p:sldId id="262" r:id="rId9"/>
    <p:sldId id="263" r:id="rId10"/>
    <p:sldId id="264" r:id="rId11"/>
    <p:sldId id="265" r:id="rId12"/>
  </p:sldIdLst>
  <p:sldSz cx="9144000" cy="5143500" type="screen16x9"/>
  <p:notesSz cx="5143500" cy="9144000"/>
  <p:embeddedFontLst>
    <p:embeddedFont>
      <p:font typeface="Inter"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4326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065212"/>
            <a:ext cx="3886200" cy="735013"/>
          </a:xfrm>
        </p:spPr>
        <p:txBody>
          <a:bodyPr/>
          <a:lstStyle/>
          <a:p>
            <a:r>
              <a:rPr lang="en-US"/>
              <a:t>Click to edit Master title style</a:t>
            </a:r>
          </a:p>
        </p:txBody>
      </p:sp>
      <p:sp>
        <p:nvSpPr>
          <p:cNvPr id="3" name="Subtitle 2"/>
          <p:cNvSpPr>
            <a:spLocks noGrp="1"/>
          </p:cNvSpPr>
          <p:nvPr>
            <p:ph type="subTitle" idx="1"/>
          </p:nvPr>
        </p:nvSpPr>
        <p:spPr>
          <a:xfrm>
            <a:off x="685800" y="1943100"/>
            <a:ext cx="3200400" cy="876300"/>
          </a:xfrm>
        </p:spPr>
        <p:txBody>
          <a:bodyPr/>
          <a:lstStyle>
            <a:lvl1pPr marL="0" indent="0" algn="ctr">
              <a:buNone/>
              <a:defRPr>
                <a:solidFill>
                  <a:schemeClr val="tx1">
                    <a:tint val="75000"/>
                  </a:schemeClr>
                </a:solidFill>
              </a:defRPr>
            </a:lvl1pPr>
            <a:lvl2pPr marL="228600" indent="0" algn="ctr">
              <a:buNone/>
              <a:defRPr>
                <a:solidFill>
                  <a:schemeClr val="tx1">
                    <a:tint val="75000"/>
                  </a:schemeClr>
                </a:solidFill>
              </a:defRPr>
            </a:lvl2pPr>
            <a:lvl3pPr marL="457200" indent="0" algn="ctr">
              <a:buNone/>
              <a:defRPr>
                <a:solidFill>
                  <a:schemeClr val="tx1">
                    <a:tint val="75000"/>
                  </a:schemeClr>
                </a:solidFill>
              </a:defRPr>
            </a:lvl3pPr>
            <a:lvl4pPr marL="685800" indent="0" algn="ctr">
              <a:buNone/>
              <a:defRPr>
                <a:solidFill>
                  <a:schemeClr val="tx1">
                    <a:tint val="75000"/>
                  </a:schemeClr>
                </a:solidFill>
              </a:defRPr>
            </a:lvl4pPr>
            <a:lvl5pPr marL="914400" indent="0" algn="ctr">
              <a:buNone/>
              <a:defRPr>
                <a:solidFill>
                  <a:schemeClr val="tx1">
                    <a:tint val="75000"/>
                  </a:schemeClr>
                </a:solidFill>
              </a:defRPr>
            </a:lvl5pPr>
            <a:lvl6pPr marL="1143000" indent="0" algn="ctr">
              <a:buNone/>
              <a:defRPr>
                <a:solidFill>
                  <a:schemeClr val="tx1">
                    <a:tint val="75000"/>
                  </a:schemeClr>
                </a:solidFill>
              </a:defRPr>
            </a:lvl6pPr>
            <a:lvl7pPr marL="1371600" indent="0" algn="ctr">
              <a:buNone/>
              <a:defRPr>
                <a:solidFill>
                  <a:schemeClr val="tx1">
                    <a:tint val="75000"/>
                  </a:schemeClr>
                </a:solidFill>
              </a:defRPr>
            </a:lvl7pPr>
            <a:lvl8pPr marL="1600200" indent="0" algn="ctr">
              <a:buNone/>
              <a:defRPr>
                <a:solidFill>
                  <a:schemeClr val="tx1">
                    <a:tint val="75000"/>
                  </a:schemeClr>
                </a:solidFill>
              </a:defRPr>
            </a:lvl8pPr>
            <a:lvl9pPr marL="18288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extLst>
      <p:ext uri="{BB962C8B-B14F-4D97-AF65-F5344CB8AC3E}">
        <p14:creationId xmlns:p14="http://schemas.microsoft.com/office/powerpoint/2010/main" val="10165403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27.svg"/><Relationship Id="rId4" Type="http://schemas.openxmlformats.org/officeDocument/2006/relationships/image" Target="../media/image26.sv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357313"/>
            <a:ext cx="6821829" cy="2963785"/>
          </a:xfrm>
        </p:spPr>
        <p:txBody>
          <a:bodyPr>
            <a:normAutofit fontScale="90000"/>
          </a:bodyPr>
          <a:lstStyle/>
          <a:p>
            <a:r>
              <a:rPr lang="en-US" altLang="en-US" sz="2100" b="1" dirty="0">
                <a:latin typeface="Times New Roman" panose="02020603050405020304" pitchFamily="18" charset="0"/>
                <a:cs typeface="Times New Roman" panose="02020603050405020304" pitchFamily="18" charset="0"/>
                <a:sym typeface="+mn-ea"/>
              </a:rPr>
              <a:t>Major Project -II(CA401P)</a:t>
            </a:r>
            <a:br>
              <a:rPr lang="en-US" altLang="en-US" sz="2100" b="1" dirty="0">
                <a:latin typeface="Times New Roman" panose="02020603050405020304" pitchFamily="18" charset="0"/>
                <a:cs typeface="Times New Roman" panose="02020603050405020304" pitchFamily="18" charset="0"/>
              </a:rPr>
            </a:br>
            <a:r>
              <a:rPr lang="en-US" altLang="en-US" sz="2100" b="1" dirty="0">
                <a:latin typeface="Times New Roman" panose="02020603050405020304" pitchFamily="18" charset="0"/>
                <a:cs typeface="Times New Roman" panose="02020603050405020304" pitchFamily="18" charset="0"/>
              </a:rPr>
              <a:t>Even </a:t>
            </a:r>
            <a:r>
              <a:rPr lang="en-US" altLang="en-US" sz="2100" b="1" dirty="0">
                <a:latin typeface="Times New Roman" panose="02020603050405020304" pitchFamily="18" charset="0"/>
                <a:cs typeface="Times New Roman" panose="02020603050405020304" pitchFamily="18" charset="0"/>
                <a:sym typeface="+mn-ea"/>
              </a:rPr>
              <a:t>Semester</a:t>
            </a:r>
            <a:br>
              <a:rPr lang="en-US" altLang="en-US" sz="2100" b="1" dirty="0">
                <a:latin typeface="Times New Roman" panose="02020603050405020304" pitchFamily="18" charset="0"/>
                <a:cs typeface="Times New Roman" panose="02020603050405020304" pitchFamily="18" charset="0"/>
              </a:rPr>
            </a:br>
            <a:r>
              <a:rPr lang="en-US" altLang="en-US" sz="2100" b="1" dirty="0">
                <a:latin typeface="Times New Roman" panose="02020603050405020304" pitchFamily="18" charset="0"/>
                <a:cs typeface="Times New Roman" panose="02020603050405020304" pitchFamily="18" charset="0"/>
                <a:sym typeface="+mn-ea"/>
              </a:rPr>
              <a:t>Session 2025-26</a:t>
            </a:r>
            <a:br>
              <a:rPr lang="en-US" altLang="en-US" sz="2100" b="1" dirty="0">
                <a:latin typeface="Times New Roman" panose="02020603050405020304" pitchFamily="18" charset="0"/>
                <a:cs typeface="Times New Roman" panose="02020603050405020304" pitchFamily="18" charset="0"/>
                <a:sym typeface="+mn-ea"/>
              </a:rPr>
            </a:br>
            <a:br>
              <a:rPr lang="en-US" altLang="en-US" sz="3000" b="1" dirty="0">
                <a:latin typeface="Times New Roman" panose="02020603050405020304" pitchFamily="18" charset="0"/>
                <a:cs typeface="Times New Roman" panose="02020603050405020304" pitchFamily="18" charset="0"/>
              </a:rPr>
            </a:br>
            <a:r>
              <a:rPr lang="en-US" altLang="en-US" sz="3000" b="1" dirty="0">
                <a:latin typeface="Times New Roman" panose="02020603050405020304" pitchFamily="18" charset="0"/>
                <a:cs typeface="Times New Roman" panose="02020603050405020304" pitchFamily="18" charset="0"/>
              </a:rPr>
              <a:t>“</a:t>
            </a:r>
            <a:r>
              <a:rPr lang="en-US" altLang="en-US" sz="3000" b="1" dirty="0" err="1">
                <a:latin typeface="Times New Roman" panose="02020603050405020304" pitchFamily="18" charset="0"/>
                <a:cs typeface="Times New Roman" panose="02020603050405020304" pitchFamily="18" charset="0"/>
              </a:rPr>
              <a:t>MuseCrafts</a:t>
            </a:r>
            <a:r>
              <a:rPr lang="en-US" altLang="en-US" sz="3000" b="1" dirty="0">
                <a:latin typeface="Times New Roman" panose="02020603050405020304" pitchFamily="18" charset="0"/>
                <a:cs typeface="Times New Roman" panose="02020603050405020304" pitchFamily="18" charset="0"/>
              </a:rPr>
              <a:t>”</a:t>
            </a:r>
            <a:br>
              <a:rPr lang="en-US" altLang="en-US" sz="3000" b="1" dirty="0">
                <a:latin typeface="Times New Roman" panose="02020603050405020304" pitchFamily="18" charset="0"/>
                <a:cs typeface="Times New Roman" panose="02020603050405020304" pitchFamily="18" charset="0"/>
              </a:rPr>
            </a:br>
            <a:br>
              <a:rPr lang="en-US" altLang="en-US" sz="975" b="1" dirty="0">
                <a:latin typeface="Times New Roman" panose="02020603050405020304" pitchFamily="18" charset="0"/>
                <a:cs typeface="Times New Roman" panose="02020603050405020304" pitchFamily="18" charset="0"/>
              </a:rPr>
            </a:br>
            <a:br>
              <a:rPr lang="en-US" altLang="en-US" sz="975" b="1" dirty="0">
                <a:latin typeface="Times New Roman" panose="02020603050405020304" pitchFamily="18" charset="0"/>
                <a:cs typeface="Times New Roman" panose="02020603050405020304" pitchFamily="18" charset="0"/>
              </a:rPr>
            </a:br>
            <a:r>
              <a:rPr lang="en-US" altLang="en-US" sz="1200" b="1" dirty="0">
                <a:latin typeface="Times New Roman" panose="02020603050405020304" pitchFamily="18" charset="0"/>
                <a:cs typeface="Times New Roman" panose="02020603050405020304" pitchFamily="18" charset="0"/>
                <a:sym typeface="+mn-ea"/>
              </a:rPr>
              <a:t>Ayush Saini (202410116100046)</a:t>
            </a:r>
            <a:br>
              <a:rPr lang="en-US" altLang="en-US" sz="1200" b="1" dirty="0">
                <a:latin typeface="Times New Roman" panose="02020603050405020304" pitchFamily="18" charset="0"/>
                <a:cs typeface="Times New Roman" panose="02020603050405020304" pitchFamily="18" charset="0"/>
              </a:rPr>
            </a:br>
            <a:r>
              <a:rPr lang="en-US" altLang="en-US" sz="1200" b="1" dirty="0">
                <a:latin typeface="Times New Roman" panose="02020603050405020304" pitchFamily="18" charset="0"/>
                <a:cs typeface="Times New Roman" panose="02020603050405020304" pitchFamily="18" charset="0"/>
              </a:rPr>
              <a:t>Ashish Yadav </a:t>
            </a:r>
            <a:r>
              <a:rPr lang="en-US" altLang="en-US" sz="1200" b="1" dirty="0">
                <a:latin typeface="Times New Roman" panose="02020603050405020304" pitchFamily="18" charset="0"/>
                <a:cs typeface="Times New Roman" panose="02020603050405020304" pitchFamily="18" charset="0"/>
                <a:sym typeface="+mn-ea"/>
              </a:rPr>
              <a:t>(202410116100041)</a:t>
            </a:r>
            <a:br>
              <a:rPr lang="en-US" altLang="en-US" sz="1200" b="1" dirty="0">
                <a:latin typeface="Times New Roman" panose="02020603050405020304" pitchFamily="18" charset="0"/>
                <a:cs typeface="Times New Roman" panose="02020603050405020304" pitchFamily="18" charset="0"/>
                <a:sym typeface="+mn-ea"/>
              </a:rPr>
            </a:br>
            <a:r>
              <a:rPr lang="en-US" altLang="en-US" sz="1200" b="1" dirty="0">
                <a:latin typeface="Times New Roman" panose="02020603050405020304" pitchFamily="18" charset="0"/>
                <a:cs typeface="Times New Roman" panose="02020603050405020304" pitchFamily="18" charset="0"/>
                <a:sym typeface="+mn-ea"/>
              </a:rPr>
              <a:t>Anubhav Vaish(202410116100037)</a:t>
            </a:r>
            <a:br>
              <a:rPr lang="en-US" altLang="en-US" sz="1200" b="1" dirty="0">
                <a:latin typeface="Times New Roman" panose="02020603050405020304" pitchFamily="18" charset="0"/>
                <a:cs typeface="Times New Roman" panose="02020603050405020304" pitchFamily="18" charset="0"/>
              </a:rPr>
            </a:br>
            <a:br>
              <a:rPr lang="en-US" altLang="en-US" sz="1200" b="1" dirty="0">
                <a:latin typeface="Times New Roman" panose="02020603050405020304" pitchFamily="18" charset="0"/>
                <a:cs typeface="Times New Roman" panose="02020603050405020304" pitchFamily="18" charset="0"/>
              </a:rPr>
            </a:br>
            <a:r>
              <a:rPr lang="en-US" altLang="en-US" sz="1125" b="1" dirty="0">
                <a:latin typeface="Times New Roman" panose="02020603050405020304" pitchFamily="18" charset="0"/>
                <a:cs typeface="Times New Roman" panose="02020603050405020304" pitchFamily="18" charset="0"/>
                <a:sym typeface="+mn-ea"/>
              </a:rPr>
              <a:t>Session:2025-2026 (IV Semester)</a:t>
            </a:r>
            <a:br>
              <a:rPr lang="en-US" altLang="en-US" sz="1125" b="1" dirty="0">
                <a:latin typeface="Times New Roman" panose="02020603050405020304" pitchFamily="18" charset="0"/>
                <a:cs typeface="Times New Roman" panose="02020603050405020304" pitchFamily="18" charset="0"/>
              </a:rPr>
            </a:br>
            <a:r>
              <a:rPr lang="en-US" altLang="en-US" sz="1125" b="1" dirty="0">
                <a:latin typeface="Times New Roman" panose="02020603050405020304" pitchFamily="18" charset="0"/>
                <a:cs typeface="Times New Roman" panose="02020603050405020304" pitchFamily="18" charset="0"/>
              </a:rPr>
              <a:t>Under the supervision of  Mr. Roshan Kumar Gupta, Mrs. Anita Yadav</a:t>
            </a:r>
            <a:br>
              <a:rPr lang="en-US" altLang="en-US" sz="1125" b="1" dirty="0">
                <a:latin typeface="Times New Roman" panose="02020603050405020304" pitchFamily="18" charset="0"/>
                <a:cs typeface="Times New Roman" panose="02020603050405020304" pitchFamily="18" charset="0"/>
              </a:rPr>
            </a:br>
            <a:r>
              <a:rPr lang="en-US" altLang="en-US" sz="1125" b="1" dirty="0">
                <a:latin typeface="Times New Roman" panose="02020603050405020304" pitchFamily="18" charset="0"/>
                <a:cs typeface="Times New Roman" panose="02020603050405020304" pitchFamily="18" charset="0"/>
              </a:rPr>
              <a:t>Department Of Computer Applications</a:t>
            </a:r>
            <a:br>
              <a:rPr lang="en-US" altLang="en-US" sz="1125" b="1" dirty="0">
                <a:latin typeface="Times New Roman" panose="02020603050405020304" pitchFamily="18" charset="0"/>
                <a:cs typeface="Times New Roman" panose="02020603050405020304" pitchFamily="18" charset="0"/>
              </a:rPr>
            </a:br>
            <a:r>
              <a:rPr lang="en-US" altLang="en-US" sz="1125" b="1" dirty="0">
                <a:latin typeface="Times New Roman" panose="02020603050405020304" pitchFamily="18" charset="0"/>
                <a:cs typeface="Times New Roman" panose="02020603050405020304" pitchFamily="18" charset="0"/>
              </a:rPr>
              <a:t>KIET GROUP OF INSTITUTIONS, DELHI-NCR, GHAZIABAD-201206</a:t>
            </a:r>
            <a:endParaRPr lang="en-US" altLang="en-US" sz="1200" b="1" dirty="0">
              <a:latin typeface="Times New Roman" panose="02020603050405020304" pitchFamily="18" charset="0"/>
              <a:cs typeface="Times New Roman" panose="02020603050405020304" pitchFamily="18" charset="0"/>
              <a:sym typeface="+mn-ea"/>
            </a:endParaRPr>
          </a:p>
        </p:txBody>
      </p:sp>
      <p:pic>
        <p:nvPicPr>
          <p:cNvPr id="8" name="Picture 7"/>
          <p:cNvPicPr>
            <a:picLocks noChangeAspect="1"/>
          </p:cNvPicPr>
          <p:nvPr/>
        </p:nvPicPr>
        <p:blipFill>
          <a:blip r:embed="rId2"/>
          <a:stretch>
            <a:fillRect/>
          </a:stretch>
        </p:blipFill>
        <p:spPr>
          <a:xfrm>
            <a:off x="0" y="1882"/>
            <a:ext cx="9144000" cy="10383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1988344"/>
            <a:ext cx="3256211" cy="407045"/>
          </a:xfrm>
          <a:prstGeom prst="rect">
            <a:avLst/>
          </a:prstGeom>
          <a:noFill/>
          <a:ln/>
        </p:spPr>
        <p:txBody>
          <a:bodyPr wrap="none" lIns="0" tIns="0" rIns="0" bIns="0" rtlCol="0" anchor="t"/>
          <a:lstStyle/>
          <a:p>
            <a:pPr marL="0" indent="0" algn="l">
              <a:lnSpc>
                <a:spcPts val="3200"/>
              </a:lnSpc>
              <a:buNone/>
            </a:pPr>
            <a:r>
              <a:rPr lang="en-US" sz="2550" b="1" dirty="0">
                <a:solidFill>
                  <a:srgbClr val="000000"/>
                </a:solidFill>
                <a:latin typeface="Petrona Bold" pitchFamily="34" charset="0"/>
                <a:ea typeface="Petrona Bold" pitchFamily="34" charset="-122"/>
                <a:cs typeface="Petrona Bold" pitchFamily="34" charset="-120"/>
              </a:rPr>
              <a:t>MuseCraft</a:t>
            </a:r>
            <a:endParaRPr lang="en-US" sz="2550" dirty="0"/>
          </a:p>
        </p:txBody>
      </p:sp>
      <p:sp>
        <p:nvSpPr>
          <p:cNvPr id="4" name="Text 1"/>
          <p:cNvSpPr/>
          <p:nvPr/>
        </p:nvSpPr>
        <p:spPr>
          <a:xfrm>
            <a:off x="3925119" y="2444948"/>
            <a:ext cx="3212157" cy="325636"/>
          </a:xfrm>
          <a:prstGeom prst="rect">
            <a:avLst/>
          </a:prstGeom>
          <a:noFill/>
          <a:ln/>
        </p:spPr>
        <p:txBody>
          <a:bodyPr wrap="none" lIns="0" tIns="0" rIns="0" bIns="0" rtlCol="0" anchor="t"/>
          <a:lstStyle/>
          <a:p>
            <a:pPr marL="0" indent="0" algn="l">
              <a:lnSpc>
                <a:spcPts val="2550"/>
              </a:lnSpc>
              <a:buNone/>
            </a:pPr>
            <a:r>
              <a:rPr lang="en-US" sz="2050" b="1" dirty="0">
                <a:solidFill>
                  <a:srgbClr val="000000"/>
                </a:solidFill>
                <a:latin typeface="Petrona Bold" pitchFamily="34" charset="0"/>
                <a:ea typeface="Petrona Bold" pitchFamily="34" charset="-122"/>
                <a:cs typeface="Petrona Bold" pitchFamily="34" charset="-120"/>
              </a:rPr>
              <a:t>A Creative Digital Platform</a:t>
            </a:r>
            <a:endParaRPr lang="en-US" sz="2050" dirty="0"/>
          </a:p>
        </p:txBody>
      </p:sp>
      <p:sp>
        <p:nvSpPr>
          <p:cNvPr id="5" name="Text 2"/>
          <p:cNvSpPr/>
          <p:nvPr/>
        </p:nvSpPr>
        <p:spPr>
          <a:xfrm>
            <a:off x="3925119" y="2956620"/>
            <a:ext cx="4722763" cy="198462"/>
          </a:xfrm>
          <a:prstGeom prst="rect">
            <a:avLst/>
          </a:prstGeom>
          <a:noFill/>
          <a:ln/>
        </p:spPr>
        <p:txBody>
          <a:bodyPr wrap="none" lIns="0" tIns="0" rIns="0" bIns="0" rtlCol="0" anchor="t"/>
          <a:lstStyle/>
          <a:p>
            <a:pPr marL="0" indent="0" algn="l">
              <a:lnSpc>
                <a:spcPts val="1550"/>
              </a:lnSpc>
              <a:buNone/>
            </a:pP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name="Slide 2">
    <p:spTree>
      <p:nvGrpSpPr>
        <p:cNvPr id="1" name=""/>
        <p:cNvGrpSpPr/>
        <p:nvPr/>
      </p:nvGrpSpPr>
      <p:grpSpPr>
        <a:xfrm>
          <a:off x="0" y="0"/>
          <a:ext cx="0" cy="0"/>
          <a:chOff x="0" y="0"/>
          <a:chExt cx="0" cy="0"/>
        </a:xfrm>
      </p:grpSpPr>
      <p:sp>
        <p:nvSpPr>
          <p:cNvPr id="2" name="Text 0"/>
          <p:cNvSpPr/>
          <p:nvPr/>
        </p:nvSpPr>
        <p:spPr>
          <a:xfrm>
            <a:off x="496119" y="386358"/>
            <a:ext cx="3256211" cy="407045"/>
          </a:xfrm>
          <a:prstGeom prst="rect">
            <a:avLst/>
          </a:prstGeom>
          <a:noFill/>
          <a:ln/>
        </p:spPr>
        <p:txBody>
          <a:bodyPr wrap="none" lIns="0" tIns="0" rIns="0" bIns="0" rtlCol="0" anchor="t"/>
          <a:lstStyle/>
          <a:p>
            <a:pPr marL="0" indent="0" algn="l">
              <a:lnSpc>
                <a:spcPts val="3200"/>
              </a:lnSpc>
              <a:buNone/>
            </a:pPr>
            <a:r>
              <a:rPr lang="en-US" sz="2550" b="1" dirty="0">
                <a:solidFill>
                  <a:srgbClr val="000000"/>
                </a:solidFill>
                <a:latin typeface="Petrona Bold" pitchFamily="34" charset="0"/>
                <a:ea typeface="Petrona Bold" pitchFamily="34" charset="-122"/>
                <a:cs typeface="Petrona Bold" pitchFamily="34" charset="-120"/>
              </a:rPr>
              <a:t>Project Overview</a:t>
            </a:r>
            <a:endParaRPr lang="en-US" sz="2550" dirty="0"/>
          </a:p>
        </p:txBody>
      </p:sp>
      <p:sp>
        <p:nvSpPr>
          <p:cNvPr id="3" name="Shape 1"/>
          <p:cNvSpPr/>
          <p:nvPr/>
        </p:nvSpPr>
        <p:spPr>
          <a:xfrm>
            <a:off x="496119" y="1041425"/>
            <a:ext cx="4013895" cy="1428378"/>
          </a:xfrm>
          <a:prstGeom prst="roundRect">
            <a:avLst>
              <a:gd name="adj" fmla="val 3647"/>
            </a:avLst>
          </a:prstGeom>
          <a:solidFill>
            <a:srgbClr val="CCEEFF"/>
          </a:solidFill>
          <a:ln w="4763">
            <a:solidFill>
              <a:srgbClr val="B2D4E5"/>
            </a:solidFill>
            <a:prstDash val="solid"/>
          </a:ln>
        </p:spPr>
      </p:sp>
      <p:sp>
        <p:nvSpPr>
          <p:cNvPr id="4" name="Shape 2"/>
          <p:cNvSpPr/>
          <p:nvPr/>
        </p:nvSpPr>
        <p:spPr>
          <a:xfrm>
            <a:off x="624855" y="1170161"/>
            <a:ext cx="372070" cy="372070"/>
          </a:xfrm>
          <a:prstGeom prst="roundRect">
            <a:avLst>
              <a:gd name="adj" fmla="val 15358477"/>
            </a:avLst>
          </a:prstGeom>
          <a:solidFill>
            <a:srgbClr val="007EBD"/>
          </a:solidFill>
          <a:ln/>
        </p:spPr>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7174" y="1272406"/>
            <a:ext cx="167432" cy="167432"/>
          </a:xfrm>
          <a:prstGeom prst="rect">
            <a:avLst/>
          </a:prstGeom>
        </p:spPr>
      </p:pic>
      <p:sp>
        <p:nvSpPr>
          <p:cNvPr id="6" name="Text 3"/>
          <p:cNvSpPr/>
          <p:nvPr/>
        </p:nvSpPr>
        <p:spPr>
          <a:xfrm>
            <a:off x="624855" y="1666205"/>
            <a:ext cx="1628105" cy="203522"/>
          </a:xfrm>
          <a:prstGeom prst="rect">
            <a:avLst/>
          </a:prstGeom>
          <a:noFill/>
          <a:ln/>
        </p:spPr>
        <p:txBody>
          <a:bodyPr wrap="none" lIns="0" tIns="0" rIns="0" bIns="0" rtlCol="0" anchor="t"/>
          <a:lstStyle/>
          <a:p>
            <a:pPr marL="0" indent="0" algn="l">
              <a:lnSpc>
                <a:spcPts val="1600"/>
              </a:lnSpc>
              <a:buNone/>
            </a:pPr>
            <a:r>
              <a:rPr lang="en-US" sz="1250" b="1" dirty="0">
                <a:solidFill>
                  <a:srgbClr val="272525"/>
                </a:solidFill>
                <a:latin typeface="Petrona Bold" pitchFamily="34" charset="0"/>
                <a:ea typeface="Petrona Bold" pitchFamily="34" charset="-122"/>
                <a:cs typeface="Petrona Bold" pitchFamily="34" charset="-120"/>
              </a:rPr>
              <a:t>Web-Based Platform</a:t>
            </a:r>
            <a:endParaRPr lang="en-US" sz="1250" dirty="0"/>
          </a:p>
        </p:txBody>
      </p:sp>
      <p:sp>
        <p:nvSpPr>
          <p:cNvPr id="7" name="Text 4"/>
          <p:cNvSpPr/>
          <p:nvPr/>
        </p:nvSpPr>
        <p:spPr>
          <a:xfrm>
            <a:off x="624855" y="1944142"/>
            <a:ext cx="3756422" cy="396925"/>
          </a:xfrm>
          <a:prstGeom prst="rect">
            <a:avLst/>
          </a:prstGeom>
          <a:noFill/>
          <a:ln/>
        </p:spPr>
        <p:txBody>
          <a:bodyPr wrap="square" lIns="0" tIns="0" rIns="0" bIns="0" rtlCol="0" anchor="t"/>
          <a:lstStyle/>
          <a:p>
            <a:pPr marL="0" indent="0" algn="l">
              <a:lnSpc>
                <a:spcPts val="1550"/>
              </a:lnSpc>
              <a:buNone/>
            </a:pPr>
            <a:r>
              <a:rPr lang="en-US" sz="950" dirty="0">
                <a:solidFill>
                  <a:srgbClr val="272525"/>
                </a:solidFill>
                <a:latin typeface="Inter" pitchFamily="34" charset="0"/>
                <a:ea typeface="Inter" pitchFamily="34" charset="-122"/>
                <a:cs typeface="Inter" pitchFamily="34" charset="-120"/>
              </a:rPr>
              <a:t>A fully accessible creative environment that runs directly in browsers, eliminating the need for software installations</a:t>
            </a:r>
            <a:endParaRPr lang="en-US" sz="950" dirty="0"/>
          </a:p>
        </p:txBody>
      </p:sp>
      <p:sp>
        <p:nvSpPr>
          <p:cNvPr id="8" name="Shape 5"/>
          <p:cNvSpPr/>
          <p:nvPr/>
        </p:nvSpPr>
        <p:spPr>
          <a:xfrm>
            <a:off x="4633987" y="1041425"/>
            <a:ext cx="4013895" cy="1428378"/>
          </a:xfrm>
          <a:prstGeom prst="roundRect">
            <a:avLst>
              <a:gd name="adj" fmla="val 3647"/>
            </a:avLst>
          </a:prstGeom>
          <a:solidFill>
            <a:srgbClr val="CCEEFF"/>
          </a:solidFill>
          <a:ln w="4763">
            <a:solidFill>
              <a:srgbClr val="B2D4E5"/>
            </a:solidFill>
            <a:prstDash val="solid"/>
          </a:ln>
        </p:spPr>
      </p:sp>
      <p:sp>
        <p:nvSpPr>
          <p:cNvPr id="9" name="Shape 6"/>
          <p:cNvSpPr/>
          <p:nvPr/>
        </p:nvSpPr>
        <p:spPr>
          <a:xfrm>
            <a:off x="4762723" y="1170161"/>
            <a:ext cx="372070" cy="372070"/>
          </a:xfrm>
          <a:prstGeom prst="roundRect">
            <a:avLst>
              <a:gd name="adj" fmla="val 15358477"/>
            </a:avLst>
          </a:prstGeom>
          <a:solidFill>
            <a:srgbClr val="007EBD"/>
          </a:solidFill>
          <a:ln/>
        </p:spPr>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65043" y="1272406"/>
            <a:ext cx="167432" cy="167432"/>
          </a:xfrm>
          <a:prstGeom prst="rect">
            <a:avLst/>
          </a:prstGeom>
        </p:spPr>
      </p:pic>
      <p:sp>
        <p:nvSpPr>
          <p:cNvPr id="11" name="Text 7"/>
          <p:cNvSpPr/>
          <p:nvPr/>
        </p:nvSpPr>
        <p:spPr>
          <a:xfrm>
            <a:off x="4762723" y="1666205"/>
            <a:ext cx="1745307" cy="203522"/>
          </a:xfrm>
          <a:prstGeom prst="rect">
            <a:avLst/>
          </a:prstGeom>
          <a:noFill/>
          <a:ln/>
        </p:spPr>
        <p:txBody>
          <a:bodyPr wrap="none" lIns="0" tIns="0" rIns="0" bIns="0" rtlCol="0" anchor="t"/>
          <a:lstStyle/>
          <a:p>
            <a:pPr marL="0" indent="0" algn="l">
              <a:lnSpc>
                <a:spcPts val="1600"/>
              </a:lnSpc>
              <a:buNone/>
            </a:pPr>
            <a:r>
              <a:rPr lang="en-US" sz="1250" b="1" dirty="0">
                <a:solidFill>
                  <a:srgbClr val="272525"/>
                </a:solidFill>
                <a:latin typeface="Petrona Bold" pitchFamily="34" charset="0"/>
                <a:ea typeface="Petrona Bold" pitchFamily="34" charset="-122"/>
                <a:cs typeface="Petrona Bold" pitchFamily="34" charset="-120"/>
              </a:rPr>
              <a:t>Comprehensive Toolset</a:t>
            </a:r>
            <a:endParaRPr lang="en-US" sz="1250" dirty="0"/>
          </a:p>
        </p:txBody>
      </p:sp>
      <p:sp>
        <p:nvSpPr>
          <p:cNvPr id="12" name="Text 8"/>
          <p:cNvSpPr/>
          <p:nvPr/>
        </p:nvSpPr>
        <p:spPr>
          <a:xfrm>
            <a:off x="4762723" y="1944142"/>
            <a:ext cx="3756422" cy="396925"/>
          </a:xfrm>
          <a:prstGeom prst="rect">
            <a:avLst/>
          </a:prstGeom>
          <a:noFill/>
          <a:ln/>
        </p:spPr>
        <p:txBody>
          <a:bodyPr wrap="square" lIns="0" tIns="0" rIns="0" bIns="0" rtlCol="0" anchor="t"/>
          <a:lstStyle/>
          <a:p>
            <a:pPr marL="0" indent="0" algn="l">
              <a:lnSpc>
                <a:spcPts val="1550"/>
              </a:lnSpc>
              <a:buNone/>
            </a:pPr>
            <a:r>
              <a:rPr lang="en-US" sz="950" dirty="0">
                <a:solidFill>
                  <a:srgbClr val="272525"/>
                </a:solidFill>
                <a:latin typeface="Inter" pitchFamily="34" charset="0"/>
                <a:ea typeface="Inter" pitchFamily="34" charset="-122"/>
                <a:cs typeface="Inter" pitchFamily="34" charset="-120"/>
              </a:rPr>
              <a:t>Integrated design, editing, and publishing capabilities that streamline the entire creative workflow</a:t>
            </a:r>
            <a:endParaRPr lang="en-US" sz="950" dirty="0"/>
          </a:p>
        </p:txBody>
      </p:sp>
      <p:sp>
        <p:nvSpPr>
          <p:cNvPr id="13" name="Shape 9"/>
          <p:cNvSpPr/>
          <p:nvPr/>
        </p:nvSpPr>
        <p:spPr>
          <a:xfrm>
            <a:off x="496119" y="2593777"/>
            <a:ext cx="4013895" cy="1428378"/>
          </a:xfrm>
          <a:prstGeom prst="roundRect">
            <a:avLst>
              <a:gd name="adj" fmla="val 3647"/>
            </a:avLst>
          </a:prstGeom>
          <a:solidFill>
            <a:srgbClr val="CCEEFF"/>
          </a:solidFill>
          <a:ln w="4763">
            <a:solidFill>
              <a:srgbClr val="B2D4E5"/>
            </a:solidFill>
            <a:prstDash val="solid"/>
          </a:ln>
        </p:spPr>
      </p:sp>
      <p:sp>
        <p:nvSpPr>
          <p:cNvPr id="14" name="Shape 10"/>
          <p:cNvSpPr/>
          <p:nvPr/>
        </p:nvSpPr>
        <p:spPr>
          <a:xfrm>
            <a:off x="624855" y="2722513"/>
            <a:ext cx="372070" cy="372070"/>
          </a:xfrm>
          <a:prstGeom prst="roundRect">
            <a:avLst>
              <a:gd name="adj" fmla="val 15358477"/>
            </a:avLst>
          </a:prstGeom>
          <a:solidFill>
            <a:srgbClr val="007EBD"/>
          </a:solidFill>
          <a:ln/>
        </p:spPr>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7174" y="2824758"/>
            <a:ext cx="167432" cy="167432"/>
          </a:xfrm>
          <a:prstGeom prst="rect">
            <a:avLst/>
          </a:prstGeom>
        </p:spPr>
      </p:pic>
      <p:sp>
        <p:nvSpPr>
          <p:cNvPr id="16" name="Text 11"/>
          <p:cNvSpPr/>
          <p:nvPr/>
        </p:nvSpPr>
        <p:spPr>
          <a:xfrm>
            <a:off x="624855" y="3218557"/>
            <a:ext cx="2027337" cy="203522"/>
          </a:xfrm>
          <a:prstGeom prst="rect">
            <a:avLst/>
          </a:prstGeom>
          <a:noFill/>
          <a:ln/>
        </p:spPr>
        <p:txBody>
          <a:bodyPr wrap="none" lIns="0" tIns="0" rIns="0" bIns="0" rtlCol="0" anchor="t"/>
          <a:lstStyle/>
          <a:p>
            <a:pPr marL="0" indent="0" algn="l">
              <a:lnSpc>
                <a:spcPts val="1600"/>
              </a:lnSpc>
              <a:buNone/>
            </a:pPr>
            <a:r>
              <a:rPr lang="en-US" sz="1250" b="1" dirty="0">
                <a:solidFill>
                  <a:srgbClr val="272525"/>
                </a:solidFill>
                <a:latin typeface="Petrona Bold" pitchFamily="34" charset="0"/>
                <a:ea typeface="Petrona Bold" pitchFamily="34" charset="-122"/>
                <a:cs typeface="Petrona Bold" pitchFamily="34" charset="-120"/>
              </a:rPr>
              <a:t>Collaborative Environment</a:t>
            </a:r>
            <a:endParaRPr lang="en-US" sz="1250" dirty="0"/>
          </a:p>
        </p:txBody>
      </p:sp>
      <p:sp>
        <p:nvSpPr>
          <p:cNvPr id="17" name="Text 12"/>
          <p:cNvSpPr/>
          <p:nvPr/>
        </p:nvSpPr>
        <p:spPr>
          <a:xfrm>
            <a:off x="624855" y="3496494"/>
            <a:ext cx="3756422" cy="396925"/>
          </a:xfrm>
          <a:prstGeom prst="rect">
            <a:avLst/>
          </a:prstGeom>
          <a:noFill/>
          <a:ln/>
        </p:spPr>
        <p:txBody>
          <a:bodyPr wrap="square" lIns="0" tIns="0" rIns="0" bIns="0" rtlCol="0" anchor="t"/>
          <a:lstStyle/>
          <a:p>
            <a:pPr marL="0" indent="0" algn="l">
              <a:lnSpc>
                <a:spcPts val="1550"/>
              </a:lnSpc>
              <a:buNone/>
            </a:pPr>
            <a:r>
              <a:rPr lang="en-US" sz="950" dirty="0">
                <a:solidFill>
                  <a:srgbClr val="272525"/>
                </a:solidFill>
                <a:latin typeface="Inter" pitchFamily="34" charset="0"/>
                <a:ea typeface="Inter" pitchFamily="34" charset="-122"/>
                <a:cs typeface="Inter" pitchFamily="34" charset="-120"/>
              </a:rPr>
              <a:t>Real-time collaboration features that enable designers, creators, and students to work together seamlessly</a:t>
            </a:r>
            <a:endParaRPr lang="en-US" sz="950" dirty="0"/>
          </a:p>
        </p:txBody>
      </p:sp>
      <p:sp>
        <p:nvSpPr>
          <p:cNvPr id="18" name="Shape 13"/>
          <p:cNvSpPr/>
          <p:nvPr/>
        </p:nvSpPr>
        <p:spPr>
          <a:xfrm>
            <a:off x="4633987" y="2593777"/>
            <a:ext cx="4013895" cy="1428378"/>
          </a:xfrm>
          <a:prstGeom prst="roundRect">
            <a:avLst>
              <a:gd name="adj" fmla="val 3647"/>
            </a:avLst>
          </a:prstGeom>
          <a:solidFill>
            <a:srgbClr val="CCEEFF"/>
          </a:solidFill>
          <a:ln w="4763">
            <a:solidFill>
              <a:srgbClr val="B2D4E5"/>
            </a:solidFill>
            <a:prstDash val="solid"/>
          </a:ln>
        </p:spPr>
      </p:sp>
      <p:sp>
        <p:nvSpPr>
          <p:cNvPr id="19" name="Shape 14"/>
          <p:cNvSpPr/>
          <p:nvPr/>
        </p:nvSpPr>
        <p:spPr>
          <a:xfrm>
            <a:off x="4762723" y="2722513"/>
            <a:ext cx="372070" cy="372070"/>
          </a:xfrm>
          <a:prstGeom prst="roundRect">
            <a:avLst>
              <a:gd name="adj" fmla="val 15358477"/>
            </a:avLst>
          </a:prstGeom>
          <a:solidFill>
            <a:srgbClr val="007EBD"/>
          </a:solidFill>
          <a:ln/>
        </p:spPr>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65043" y="2824758"/>
            <a:ext cx="167432" cy="167432"/>
          </a:xfrm>
          <a:prstGeom prst="rect">
            <a:avLst/>
          </a:prstGeom>
        </p:spPr>
      </p:pic>
      <p:sp>
        <p:nvSpPr>
          <p:cNvPr id="21" name="Text 15"/>
          <p:cNvSpPr/>
          <p:nvPr/>
        </p:nvSpPr>
        <p:spPr>
          <a:xfrm>
            <a:off x="4762723" y="3218557"/>
            <a:ext cx="1871588" cy="203522"/>
          </a:xfrm>
          <a:prstGeom prst="rect">
            <a:avLst/>
          </a:prstGeom>
          <a:noFill/>
          <a:ln/>
        </p:spPr>
        <p:txBody>
          <a:bodyPr wrap="none" lIns="0" tIns="0" rIns="0" bIns="0" rtlCol="0" anchor="t"/>
          <a:lstStyle/>
          <a:p>
            <a:pPr marL="0" indent="0" algn="l">
              <a:lnSpc>
                <a:spcPts val="1600"/>
              </a:lnSpc>
              <a:buNone/>
            </a:pPr>
            <a:r>
              <a:rPr lang="en-US" sz="1250" b="1" dirty="0">
                <a:solidFill>
                  <a:srgbClr val="272525"/>
                </a:solidFill>
                <a:latin typeface="Petrona Bold" pitchFamily="34" charset="0"/>
                <a:ea typeface="Petrona Bold" pitchFamily="34" charset="-122"/>
                <a:cs typeface="Petrona Bold" pitchFamily="34" charset="-120"/>
              </a:rPr>
              <a:t>Centralized Management</a:t>
            </a:r>
            <a:endParaRPr lang="en-US" sz="1250" dirty="0"/>
          </a:p>
        </p:txBody>
      </p:sp>
      <p:sp>
        <p:nvSpPr>
          <p:cNvPr id="22" name="Text 16"/>
          <p:cNvSpPr/>
          <p:nvPr/>
        </p:nvSpPr>
        <p:spPr>
          <a:xfrm>
            <a:off x="4762723" y="3496494"/>
            <a:ext cx="3756422" cy="396925"/>
          </a:xfrm>
          <a:prstGeom prst="rect">
            <a:avLst/>
          </a:prstGeom>
          <a:noFill/>
          <a:ln/>
        </p:spPr>
        <p:txBody>
          <a:bodyPr wrap="square" lIns="0" tIns="0" rIns="0" bIns="0" rtlCol="0" anchor="t"/>
          <a:lstStyle/>
          <a:p>
            <a:pPr marL="0" indent="0" algn="l">
              <a:lnSpc>
                <a:spcPts val="1550"/>
              </a:lnSpc>
              <a:buNone/>
            </a:pPr>
            <a:r>
              <a:rPr lang="en-US" sz="950" dirty="0">
                <a:solidFill>
                  <a:srgbClr val="272525"/>
                </a:solidFill>
                <a:latin typeface="Inter" pitchFamily="34" charset="0"/>
                <a:ea typeface="Inter" pitchFamily="34" charset="-122"/>
                <a:cs typeface="Inter" pitchFamily="34" charset="-120"/>
              </a:rPr>
              <a:t>Unified system for organizing and managing multiple creative projects from a single dashboard</a:t>
            </a:r>
            <a:endParaRPr lang="en-US" sz="950" dirty="0"/>
          </a:p>
        </p:txBody>
      </p:sp>
      <p:sp>
        <p:nvSpPr>
          <p:cNvPr id="23" name="Text 17"/>
          <p:cNvSpPr/>
          <p:nvPr/>
        </p:nvSpPr>
        <p:spPr>
          <a:xfrm>
            <a:off x="496119" y="4161681"/>
            <a:ext cx="8151763" cy="595387"/>
          </a:xfrm>
          <a:prstGeom prst="rect">
            <a:avLst/>
          </a:prstGeom>
          <a:noFill/>
          <a:ln/>
        </p:spPr>
        <p:txBody>
          <a:bodyPr wrap="square" lIns="0" tIns="0" rIns="0" bIns="0" rtlCol="0" anchor="t"/>
          <a:lstStyle/>
          <a:p>
            <a:pPr marL="0" indent="0" algn="l">
              <a:lnSpc>
                <a:spcPts val="1550"/>
              </a:lnSpc>
              <a:buNone/>
            </a:pPr>
            <a:r>
              <a:rPr lang="en-US" sz="950" dirty="0">
                <a:solidFill>
                  <a:srgbClr val="272525"/>
                </a:solidFill>
                <a:latin typeface="Inter" pitchFamily="34" charset="0"/>
                <a:ea typeface="Inter" pitchFamily="34" charset="-122"/>
                <a:cs typeface="Inter" pitchFamily="34" charset="-120"/>
              </a:rPr>
              <a:t>MuseCraft represents a comprehensive digital solution designed to address the fragmented nature of modern creative workflows. By consolidating essential design tools, collaboration features, and project management capabilities into a single platform, MuseCraft empowers users to focus on their creative vision rather than navigating between multiple applications.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sp>
        <p:nvSpPr>
          <p:cNvPr id="2" name="Text 0"/>
          <p:cNvSpPr/>
          <p:nvPr/>
        </p:nvSpPr>
        <p:spPr>
          <a:xfrm>
            <a:off x="496119" y="635422"/>
            <a:ext cx="3256211" cy="407045"/>
          </a:xfrm>
          <a:prstGeom prst="rect">
            <a:avLst/>
          </a:prstGeom>
          <a:noFill/>
          <a:ln/>
        </p:spPr>
        <p:txBody>
          <a:bodyPr wrap="none" lIns="0" tIns="0" rIns="0" bIns="0" rtlCol="0" anchor="t"/>
          <a:lstStyle/>
          <a:p>
            <a:pPr marL="0" indent="0" algn="l">
              <a:lnSpc>
                <a:spcPts val="3200"/>
              </a:lnSpc>
              <a:buNone/>
            </a:pPr>
            <a:r>
              <a:rPr lang="en-US" sz="2550" b="1" dirty="0">
                <a:solidFill>
                  <a:srgbClr val="000000"/>
                </a:solidFill>
                <a:latin typeface="Petrona Bold" pitchFamily="34" charset="0"/>
                <a:ea typeface="Petrona Bold" pitchFamily="34" charset="-122"/>
                <a:cs typeface="Petrona Bold" pitchFamily="34" charset="-120"/>
              </a:rPr>
              <a:t>Problem Definition</a:t>
            </a:r>
            <a:endParaRPr lang="en-US" sz="2550" dirty="0"/>
          </a:p>
        </p:txBody>
      </p:sp>
      <p:sp>
        <p:nvSpPr>
          <p:cNvPr id="3" name="Shape 1"/>
          <p:cNvSpPr/>
          <p:nvPr/>
        </p:nvSpPr>
        <p:spPr>
          <a:xfrm>
            <a:off x="496119" y="1290489"/>
            <a:ext cx="4013895" cy="1546771"/>
          </a:xfrm>
          <a:prstGeom prst="roundRect">
            <a:avLst>
              <a:gd name="adj" fmla="val 4434"/>
            </a:avLst>
          </a:prstGeom>
          <a:solidFill>
            <a:srgbClr val="FFFFFF">
              <a:alpha val="95000"/>
            </a:srgbClr>
          </a:solidFill>
          <a:ln w="14288">
            <a:solidFill>
              <a:srgbClr val="B2D4E5"/>
            </a:solidFill>
            <a:prstDash val="solid"/>
          </a:ln>
        </p:spPr>
      </p:sp>
      <p:sp>
        <p:nvSpPr>
          <p:cNvPr id="4" name="Shape 2"/>
          <p:cNvSpPr/>
          <p:nvPr/>
        </p:nvSpPr>
        <p:spPr>
          <a:xfrm>
            <a:off x="481831" y="1290489"/>
            <a:ext cx="57150" cy="1546771"/>
          </a:xfrm>
          <a:prstGeom prst="roundRect">
            <a:avLst>
              <a:gd name="adj" fmla="val 91163"/>
            </a:avLst>
          </a:prstGeom>
          <a:solidFill>
            <a:srgbClr val="007EBD"/>
          </a:solidFill>
          <a:ln/>
        </p:spPr>
      </p:sp>
      <p:sp>
        <p:nvSpPr>
          <p:cNvPr id="5" name="Text 3"/>
          <p:cNvSpPr/>
          <p:nvPr/>
        </p:nvSpPr>
        <p:spPr>
          <a:xfrm>
            <a:off x="677242" y="1428750"/>
            <a:ext cx="2078087" cy="203522"/>
          </a:xfrm>
          <a:prstGeom prst="rect">
            <a:avLst/>
          </a:prstGeom>
          <a:noFill/>
          <a:ln/>
        </p:spPr>
        <p:txBody>
          <a:bodyPr wrap="none" lIns="0" tIns="0" rIns="0" bIns="0" rtlCol="0" anchor="t"/>
          <a:lstStyle/>
          <a:p>
            <a:pPr marL="0" indent="0" algn="l">
              <a:lnSpc>
                <a:spcPts val="1600"/>
              </a:lnSpc>
              <a:buNone/>
            </a:pPr>
            <a:r>
              <a:rPr lang="en-US" sz="1250" b="1" dirty="0">
                <a:solidFill>
                  <a:srgbClr val="272525"/>
                </a:solidFill>
                <a:latin typeface="Petrona Bold" pitchFamily="34" charset="0"/>
                <a:ea typeface="Petrona Bold" pitchFamily="34" charset="-122"/>
                <a:cs typeface="Petrona Bold" pitchFamily="34" charset="-120"/>
              </a:rPr>
              <a:t>Fragmented Tool Ecosystem</a:t>
            </a:r>
            <a:endParaRPr lang="en-US" sz="1250" dirty="0"/>
          </a:p>
        </p:txBody>
      </p:sp>
      <p:sp>
        <p:nvSpPr>
          <p:cNvPr id="6" name="Text 4"/>
          <p:cNvSpPr/>
          <p:nvPr/>
        </p:nvSpPr>
        <p:spPr>
          <a:xfrm>
            <a:off x="677242" y="1706687"/>
            <a:ext cx="3694509" cy="992312"/>
          </a:xfrm>
          <a:prstGeom prst="rect">
            <a:avLst/>
          </a:prstGeom>
          <a:noFill/>
          <a:ln/>
        </p:spPr>
        <p:txBody>
          <a:bodyPr wrap="square" lIns="0" tIns="0" rIns="0" bIns="0" rtlCol="0" anchor="t"/>
          <a:lstStyle/>
          <a:p>
            <a:pPr marL="0" indent="0" algn="l">
              <a:lnSpc>
                <a:spcPts val="1550"/>
              </a:lnSpc>
              <a:buNone/>
            </a:pPr>
            <a:r>
              <a:rPr lang="en-US" sz="950" dirty="0">
                <a:solidFill>
                  <a:srgbClr val="272525"/>
                </a:solidFill>
                <a:latin typeface="Inter" pitchFamily="34" charset="0"/>
                <a:ea typeface="Inter" pitchFamily="34" charset="-122"/>
                <a:cs typeface="Inter" pitchFamily="34" charset="-120"/>
              </a:rPr>
              <a:t>Creative professionals must juggle multiple specialized applications for different design tasks, leading to workflow interruptions, context switching, and lost productivity. Each tool requires separate learning curves and file format conversions.</a:t>
            </a:r>
            <a:endParaRPr lang="en-US" sz="950" dirty="0"/>
          </a:p>
        </p:txBody>
      </p:sp>
      <p:sp>
        <p:nvSpPr>
          <p:cNvPr id="7" name="Shape 5"/>
          <p:cNvSpPr/>
          <p:nvPr/>
        </p:nvSpPr>
        <p:spPr>
          <a:xfrm>
            <a:off x="4633987" y="1290489"/>
            <a:ext cx="4013895" cy="1546771"/>
          </a:xfrm>
          <a:prstGeom prst="roundRect">
            <a:avLst>
              <a:gd name="adj" fmla="val 4434"/>
            </a:avLst>
          </a:prstGeom>
          <a:solidFill>
            <a:srgbClr val="FFFFFF">
              <a:alpha val="95000"/>
            </a:srgbClr>
          </a:solidFill>
          <a:ln w="14288">
            <a:solidFill>
              <a:srgbClr val="B2D4E5"/>
            </a:solidFill>
            <a:prstDash val="solid"/>
          </a:ln>
        </p:spPr>
      </p:sp>
      <p:sp>
        <p:nvSpPr>
          <p:cNvPr id="8" name="Shape 6"/>
          <p:cNvSpPr/>
          <p:nvPr/>
        </p:nvSpPr>
        <p:spPr>
          <a:xfrm>
            <a:off x="4619699" y="1290489"/>
            <a:ext cx="57150" cy="1546771"/>
          </a:xfrm>
          <a:prstGeom prst="roundRect">
            <a:avLst>
              <a:gd name="adj" fmla="val 91163"/>
            </a:avLst>
          </a:prstGeom>
          <a:solidFill>
            <a:srgbClr val="007EBD"/>
          </a:solidFill>
          <a:ln/>
        </p:spPr>
      </p:sp>
      <p:sp>
        <p:nvSpPr>
          <p:cNvPr id="9" name="Text 7"/>
          <p:cNvSpPr/>
          <p:nvPr/>
        </p:nvSpPr>
        <p:spPr>
          <a:xfrm>
            <a:off x="4815111" y="1428750"/>
            <a:ext cx="2717229" cy="203522"/>
          </a:xfrm>
          <a:prstGeom prst="rect">
            <a:avLst/>
          </a:prstGeom>
          <a:noFill/>
          <a:ln/>
        </p:spPr>
        <p:txBody>
          <a:bodyPr wrap="none" lIns="0" tIns="0" rIns="0" bIns="0" rtlCol="0" anchor="t"/>
          <a:lstStyle/>
          <a:p>
            <a:pPr marL="0" indent="0" algn="l">
              <a:lnSpc>
                <a:spcPts val="1600"/>
              </a:lnSpc>
              <a:buNone/>
            </a:pPr>
            <a:r>
              <a:rPr lang="en-US" sz="1250" b="1" dirty="0">
                <a:solidFill>
                  <a:srgbClr val="272525"/>
                </a:solidFill>
                <a:latin typeface="Petrona Bold" pitchFamily="34" charset="0"/>
                <a:ea typeface="Petrona Bold" pitchFamily="34" charset="-122"/>
                <a:cs typeface="Petrona Bold" pitchFamily="34" charset="-120"/>
              </a:rPr>
              <a:t>Absence of Centralized Management</a:t>
            </a:r>
            <a:endParaRPr lang="en-US" sz="1250" dirty="0"/>
          </a:p>
        </p:txBody>
      </p:sp>
      <p:sp>
        <p:nvSpPr>
          <p:cNvPr id="10" name="Text 8"/>
          <p:cNvSpPr/>
          <p:nvPr/>
        </p:nvSpPr>
        <p:spPr>
          <a:xfrm>
            <a:off x="4815111" y="1706687"/>
            <a:ext cx="3694509" cy="793849"/>
          </a:xfrm>
          <a:prstGeom prst="rect">
            <a:avLst/>
          </a:prstGeom>
          <a:noFill/>
          <a:ln/>
        </p:spPr>
        <p:txBody>
          <a:bodyPr wrap="square" lIns="0" tIns="0" rIns="0" bIns="0" rtlCol="0" anchor="t"/>
          <a:lstStyle/>
          <a:p>
            <a:pPr marL="0" indent="0" algn="l">
              <a:lnSpc>
                <a:spcPts val="1550"/>
              </a:lnSpc>
              <a:buNone/>
            </a:pPr>
            <a:r>
              <a:rPr lang="en-US" sz="950" dirty="0">
                <a:solidFill>
                  <a:srgbClr val="272525"/>
                </a:solidFill>
                <a:latin typeface="Inter" pitchFamily="34" charset="0"/>
                <a:ea typeface="Inter" pitchFamily="34" charset="-122"/>
                <a:cs typeface="Inter" pitchFamily="34" charset="-120"/>
              </a:rPr>
              <a:t>Without a unified system to track project progress, assets, and versions, teams struggle with organization. Critical files get scattered across drives and cloud services, making it difficult to locate specific assets or maintain version control.</a:t>
            </a:r>
            <a:endParaRPr lang="en-US" sz="950" dirty="0"/>
          </a:p>
        </p:txBody>
      </p:sp>
      <p:sp>
        <p:nvSpPr>
          <p:cNvPr id="11" name="Shape 9"/>
          <p:cNvSpPr/>
          <p:nvPr/>
        </p:nvSpPr>
        <p:spPr>
          <a:xfrm>
            <a:off x="496119" y="2961233"/>
            <a:ext cx="4013895" cy="1546771"/>
          </a:xfrm>
          <a:prstGeom prst="roundRect">
            <a:avLst>
              <a:gd name="adj" fmla="val 4434"/>
            </a:avLst>
          </a:prstGeom>
          <a:solidFill>
            <a:srgbClr val="FFFFFF">
              <a:alpha val="95000"/>
            </a:srgbClr>
          </a:solidFill>
          <a:ln w="14288">
            <a:solidFill>
              <a:srgbClr val="B2D4E5"/>
            </a:solidFill>
            <a:prstDash val="solid"/>
          </a:ln>
        </p:spPr>
      </p:sp>
      <p:sp>
        <p:nvSpPr>
          <p:cNvPr id="12" name="Shape 10"/>
          <p:cNvSpPr/>
          <p:nvPr/>
        </p:nvSpPr>
        <p:spPr>
          <a:xfrm>
            <a:off x="481831" y="2961233"/>
            <a:ext cx="57150" cy="1546771"/>
          </a:xfrm>
          <a:prstGeom prst="roundRect">
            <a:avLst>
              <a:gd name="adj" fmla="val 91163"/>
            </a:avLst>
          </a:prstGeom>
          <a:solidFill>
            <a:srgbClr val="007EBD"/>
          </a:solidFill>
          <a:ln/>
        </p:spPr>
      </p:sp>
      <p:sp>
        <p:nvSpPr>
          <p:cNvPr id="13" name="Text 11"/>
          <p:cNvSpPr/>
          <p:nvPr/>
        </p:nvSpPr>
        <p:spPr>
          <a:xfrm>
            <a:off x="677242" y="3099495"/>
            <a:ext cx="1680716" cy="203522"/>
          </a:xfrm>
          <a:prstGeom prst="rect">
            <a:avLst/>
          </a:prstGeom>
          <a:noFill/>
          <a:ln/>
        </p:spPr>
        <p:txBody>
          <a:bodyPr wrap="none" lIns="0" tIns="0" rIns="0" bIns="0" rtlCol="0" anchor="t"/>
          <a:lstStyle/>
          <a:p>
            <a:pPr marL="0" indent="0" algn="l">
              <a:lnSpc>
                <a:spcPts val="1600"/>
              </a:lnSpc>
              <a:buNone/>
            </a:pPr>
            <a:r>
              <a:rPr lang="en-US" sz="1250" b="1" dirty="0">
                <a:solidFill>
                  <a:srgbClr val="272525"/>
                </a:solidFill>
                <a:latin typeface="Petrona Bold" pitchFamily="34" charset="0"/>
                <a:ea typeface="Petrona Bold" pitchFamily="34" charset="-122"/>
                <a:cs typeface="Petrona Bold" pitchFamily="34" charset="-120"/>
              </a:rPr>
              <a:t>Collaboration Barriers</a:t>
            </a:r>
            <a:endParaRPr lang="en-US" sz="1250" dirty="0"/>
          </a:p>
        </p:txBody>
      </p:sp>
      <p:sp>
        <p:nvSpPr>
          <p:cNvPr id="14" name="Text 12"/>
          <p:cNvSpPr/>
          <p:nvPr/>
        </p:nvSpPr>
        <p:spPr>
          <a:xfrm>
            <a:off x="677242" y="3377431"/>
            <a:ext cx="3694509" cy="992312"/>
          </a:xfrm>
          <a:prstGeom prst="rect">
            <a:avLst/>
          </a:prstGeom>
          <a:noFill/>
          <a:ln/>
        </p:spPr>
        <p:txBody>
          <a:bodyPr wrap="square" lIns="0" tIns="0" rIns="0" bIns="0" rtlCol="0" anchor="t"/>
          <a:lstStyle/>
          <a:p>
            <a:pPr marL="0" indent="0" algn="l">
              <a:lnSpc>
                <a:spcPts val="1550"/>
              </a:lnSpc>
              <a:buNone/>
            </a:pPr>
            <a:r>
              <a:rPr lang="en-US" sz="950" dirty="0">
                <a:solidFill>
                  <a:srgbClr val="272525"/>
                </a:solidFill>
                <a:latin typeface="Inter" pitchFamily="34" charset="0"/>
                <a:ea typeface="Inter" pitchFamily="34" charset="-122"/>
                <a:cs typeface="Inter" pitchFamily="34" charset="-120"/>
              </a:rPr>
              <a:t>Current solutions make real-time teamwork challenging. Designers must constantly export files, send them via email or messaging apps, and wait for feedback. This asynchronous process extends project timelines and creates confusion about which version is current.</a:t>
            </a:r>
            <a:endParaRPr lang="en-US" sz="950" dirty="0"/>
          </a:p>
        </p:txBody>
      </p:sp>
      <p:sp>
        <p:nvSpPr>
          <p:cNvPr id="15" name="Shape 13"/>
          <p:cNvSpPr/>
          <p:nvPr/>
        </p:nvSpPr>
        <p:spPr>
          <a:xfrm>
            <a:off x="4633987" y="2961233"/>
            <a:ext cx="4013895" cy="1546771"/>
          </a:xfrm>
          <a:prstGeom prst="roundRect">
            <a:avLst>
              <a:gd name="adj" fmla="val 4434"/>
            </a:avLst>
          </a:prstGeom>
          <a:solidFill>
            <a:srgbClr val="FFFFFF">
              <a:alpha val="95000"/>
            </a:srgbClr>
          </a:solidFill>
          <a:ln w="14288">
            <a:solidFill>
              <a:srgbClr val="B2D4E5"/>
            </a:solidFill>
            <a:prstDash val="solid"/>
          </a:ln>
        </p:spPr>
      </p:sp>
      <p:sp>
        <p:nvSpPr>
          <p:cNvPr id="16" name="Shape 14"/>
          <p:cNvSpPr/>
          <p:nvPr/>
        </p:nvSpPr>
        <p:spPr>
          <a:xfrm>
            <a:off x="4619699" y="2961233"/>
            <a:ext cx="57150" cy="1546771"/>
          </a:xfrm>
          <a:prstGeom prst="roundRect">
            <a:avLst>
              <a:gd name="adj" fmla="val 91163"/>
            </a:avLst>
          </a:prstGeom>
          <a:solidFill>
            <a:srgbClr val="007EBD"/>
          </a:solidFill>
          <a:ln/>
        </p:spPr>
      </p:sp>
      <p:sp>
        <p:nvSpPr>
          <p:cNvPr id="17" name="Text 15"/>
          <p:cNvSpPr/>
          <p:nvPr/>
        </p:nvSpPr>
        <p:spPr>
          <a:xfrm>
            <a:off x="4815111" y="3099495"/>
            <a:ext cx="2491308" cy="203522"/>
          </a:xfrm>
          <a:prstGeom prst="rect">
            <a:avLst/>
          </a:prstGeom>
          <a:noFill/>
          <a:ln/>
        </p:spPr>
        <p:txBody>
          <a:bodyPr wrap="none" lIns="0" tIns="0" rIns="0" bIns="0" rtlCol="0" anchor="t"/>
          <a:lstStyle/>
          <a:p>
            <a:pPr marL="0" indent="0" algn="l">
              <a:lnSpc>
                <a:spcPts val="1600"/>
              </a:lnSpc>
              <a:buNone/>
            </a:pPr>
            <a:r>
              <a:rPr lang="en-US" sz="1250" b="1" dirty="0">
                <a:solidFill>
                  <a:srgbClr val="272525"/>
                </a:solidFill>
                <a:latin typeface="Petrona Bold" pitchFamily="34" charset="0"/>
                <a:ea typeface="Petrona Bold" pitchFamily="34" charset="-122"/>
                <a:cs typeface="Petrona Bold" pitchFamily="34" charset="-120"/>
              </a:rPr>
              <a:t>Disconnected Creation &amp; Sharing</a:t>
            </a:r>
            <a:endParaRPr lang="en-US" sz="1250" dirty="0"/>
          </a:p>
        </p:txBody>
      </p:sp>
      <p:sp>
        <p:nvSpPr>
          <p:cNvPr id="18" name="Text 16"/>
          <p:cNvSpPr/>
          <p:nvPr/>
        </p:nvSpPr>
        <p:spPr>
          <a:xfrm>
            <a:off x="4815111" y="3377431"/>
            <a:ext cx="3694509" cy="793849"/>
          </a:xfrm>
          <a:prstGeom prst="rect">
            <a:avLst/>
          </a:prstGeom>
          <a:noFill/>
          <a:ln/>
        </p:spPr>
        <p:txBody>
          <a:bodyPr wrap="square" lIns="0" tIns="0" rIns="0" bIns="0" rtlCol="0" anchor="t"/>
          <a:lstStyle/>
          <a:p>
            <a:pPr marL="0" indent="0" algn="l">
              <a:lnSpc>
                <a:spcPts val="1550"/>
              </a:lnSpc>
              <a:buNone/>
            </a:pPr>
            <a:r>
              <a:rPr lang="en-US" sz="950" dirty="0">
                <a:solidFill>
                  <a:srgbClr val="272525"/>
                </a:solidFill>
                <a:latin typeface="Inter" pitchFamily="34" charset="0"/>
                <a:ea typeface="Inter" pitchFamily="34" charset="-122"/>
                <a:cs typeface="Inter" pitchFamily="34" charset="-120"/>
              </a:rPr>
              <a:t>The gap between creating content and sharing it with stakeholders or audiences requires additional steps and platforms. This disconnect prevents immediate feedback and slows down iteration cycles, hindering creative momentum.</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name="Slide 4">
    <p:spTree>
      <p:nvGrpSpPr>
        <p:cNvPr id="1" name=""/>
        <p:cNvGrpSpPr/>
        <p:nvPr/>
      </p:nvGrpSpPr>
      <p:grpSpPr>
        <a:xfrm>
          <a:off x="0" y="0"/>
          <a:ext cx="0" cy="0"/>
          <a:chOff x="0" y="0"/>
          <a:chExt cx="0" cy="0"/>
        </a:xfrm>
      </p:grpSpPr>
      <p:sp>
        <p:nvSpPr>
          <p:cNvPr id="2" name="Text 0"/>
          <p:cNvSpPr/>
          <p:nvPr/>
        </p:nvSpPr>
        <p:spPr>
          <a:xfrm>
            <a:off x="496119" y="635719"/>
            <a:ext cx="3256211" cy="407045"/>
          </a:xfrm>
          <a:prstGeom prst="rect">
            <a:avLst/>
          </a:prstGeom>
          <a:noFill/>
          <a:ln/>
        </p:spPr>
        <p:txBody>
          <a:bodyPr wrap="none" lIns="0" tIns="0" rIns="0" bIns="0" rtlCol="0" anchor="t"/>
          <a:lstStyle/>
          <a:p>
            <a:pPr marL="0" indent="0" algn="l">
              <a:lnSpc>
                <a:spcPts val="3200"/>
              </a:lnSpc>
              <a:buNone/>
            </a:pPr>
            <a:r>
              <a:rPr lang="en-US" sz="2550" b="1" dirty="0">
                <a:solidFill>
                  <a:srgbClr val="000000"/>
                </a:solidFill>
                <a:latin typeface="Petrona Bold" pitchFamily="34" charset="0"/>
                <a:ea typeface="Petrona Bold" pitchFamily="34" charset="-122"/>
                <a:cs typeface="Petrona Bold" pitchFamily="34" charset="-120"/>
              </a:rPr>
              <a:t>Proposed Solution</a:t>
            </a:r>
            <a:endParaRPr lang="en-US" sz="2550" dirty="0"/>
          </a:p>
        </p:txBody>
      </p:sp>
      <p:sp>
        <p:nvSpPr>
          <p:cNvPr id="3" name="Text 1"/>
          <p:cNvSpPr/>
          <p:nvPr/>
        </p:nvSpPr>
        <p:spPr>
          <a:xfrm>
            <a:off x="496119" y="1352773"/>
            <a:ext cx="1953667" cy="244153"/>
          </a:xfrm>
          <a:prstGeom prst="rect">
            <a:avLst/>
          </a:prstGeom>
          <a:noFill/>
          <a:ln/>
        </p:spPr>
        <p:txBody>
          <a:bodyPr wrap="none" lIns="0" tIns="0" rIns="0" bIns="0" rtlCol="0" anchor="t"/>
          <a:lstStyle/>
          <a:p>
            <a:pPr marL="0" indent="0" algn="l">
              <a:lnSpc>
                <a:spcPts val="1900"/>
              </a:lnSpc>
              <a:buNone/>
            </a:pPr>
            <a:r>
              <a:rPr lang="en-US" sz="1500" b="1" dirty="0">
                <a:solidFill>
                  <a:srgbClr val="000000"/>
                </a:solidFill>
                <a:latin typeface="Petrona Bold" pitchFamily="34" charset="0"/>
                <a:ea typeface="Petrona Bold" pitchFamily="34" charset="-122"/>
                <a:cs typeface="Petrona Bold" pitchFamily="34" charset="-120"/>
              </a:rPr>
              <a:t>Unified Platform</a:t>
            </a:r>
            <a:endParaRPr lang="en-US" sz="1500" dirty="0"/>
          </a:p>
        </p:txBody>
      </p:sp>
      <p:sp>
        <p:nvSpPr>
          <p:cNvPr id="4" name="Text 2"/>
          <p:cNvSpPr/>
          <p:nvPr/>
        </p:nvSpPr>
        <p:spPr>
          <a:xfrm>
            <a:off x="496119" y="1720900"/>
            <a:ext cx="3924598" cy="1190774"/>
          </a:xfrm>
          <a:prstGeom prst="rect">
            <a:avLst/>
          </a:prstGeom>
          <a:noFill/>
          <a:ln/>
        </p:spPr>
        <p:txBody>
          <a:bodyPr wrap="square" lIns="0" tIns="0" rIns="0" bIns="0" rtlCol="0" anchor="t"/>
          <a:lstStyle/>
          <a:p>
            <a:pPr marL="0" indent="0" algn="l">
              <a:lnSpc>
                <a:spcPts val="1550"/>
              </a:lnSpc>
              <a:buNone/>
            </a:pPr>
            <a:r>
              <a:rPr lang="en-US" sz="950" dirty="0">
                <a:solidFill>
                  <a:srgbClr val="272525"/>
                </a:solidFill>
                <a:latin typeface="Inter" pitchFamily="34" charset="0"/>
                <a:ea typeface="Inter" pitchFamily="34" charset="-122"/>
                <a:cs typeface="Inter" pitchFamily="34" charset="-120"/>
              </a:rPr>
              <a:t>MuseCraft consolidates all essential creative tools into a single, intuitive interface. Users access design, editing, and publishing features without switching applications or managing multiple accounts. This integration eliminates workflow friction and reduces the learning curve associated with mastering disparate tools.</a:t>
            </a:r>
            <a:endParaRPr lang="en-US" sz="950" dirty="0"/>
          </a:p>
        </p:txBody>
      </p:sp>
      <p:sp>
        <p:nvSpPr>
          <p:cNvPr id="5" name="Text 3"/>
          <p:cNvSpPr/>
          <p:nvPr/>
        </p:nvSpPr>
        <p:spPr>
          <a:xfrm>
            <a:off x="496119" y="3035647"/>
            <a:ext cx="2098551" cy="244153"/>
          </a:xfrm>
          <a:prstGeom prst="rect">
            <a:avLst/>
          </a:prstGeom>
          <a:noFill/>
          <a:ln/>
        </p:spPr>
        <p:txBody>
          <a:bodyPr wrap="none" lIns="0" tIns="0" rIns="0" bIns="0" rtlCol="0" anchor="t"/>
          <a:lstStyle/>
          <a:p>
            <a:pPr marL="0" indent="0" algn="l">
              <a:lnSpc>
                <a:spcPts val="1900"/>
              </a:lnSpc>
              <a:buNone/>
            </a:pPr>
            <a:r>
              <a:rPr lang="en-US" sz="1500" b="1" dirty="0">
                <a:solidFill>
                  <a:srgbClr val="000000"/>
                </a:solidFill>
                <a:latin typeface="Petrona Bold" pitchFamily="34" charset="0"/>
                <a:ea typeface="Petrona Bold" pitchFamily="34" charset="-122"/>
                <a:cs typeface="Petrona Bold" pitchFamily="34" charset="-120"/>
              </a:rPr>
              <a:t>Integrated Design Suite</a:t>
            </a:r>
            <a:endParaRPr lang="en-US" sz="1500" dirty="0"/>
          </a:p>
        </p:txBody>
      </p:sp>
      <p:sp>
        <p:nvSpPr>
          <p:cNvPr id="6" name="Text 4"/>
          <p:cNvSpPr/>
          <p:nvPr/>
        </p:nvSpPr>
        <p:spPr>
          <a:xfrm>
            <a:off x="496119" y="3403774"/>
            <a:ext cx="3924598" cy="992312"/>
          </a:xfrm>
          <a:prstGeom prst="rect">
            <a:avLst/>
          </a:prstGeom>
          <a:noFill/>
          <a:ln/>
        </p:spPr>
        <p:txBody>
          <a:bodyPr wrap="square" lIns="0" tIns="0" rIns="0" bIns="0" rtlCol="0" anchor="t"/>
          <a:lstStyle/>
          <a:p>
            <a:pPr marL="0" indent="0" algn="l">
              <a:lnSpc>
                <a:spcPts val="1550"/>
              </a:lnSpc>
              <a:buNone/>
            </a:pPr>
            <a:r>
              <a:rPr lang="en-US" sz="950" dirty="0">
                <a:solidFill>
                  <a:srgbClr val="272525"/>
                </a:solidFill>
                <a:latin typeface="Inter" pitchFamily="34" charset="0"/>
                <a:ea typeface="Inter" pitchFamily="34" charset="-122"/>
                <a:cs typeface="Inter" pitchFamily="34" charset="-120"/>
              </a:rPr>
              <a:t>The platform provides comprehensive tools for every stage of content creation. From initial concept sketching to detailed design work, from photo editing to video production, all capabilities reside within MuseCraft's ecosystem. Users work with familiar, industry-standard features adapted to web-based operation.</a:t>
            </a:r>
            <a:endParaRPr lang="en-US" sz="950" dirty="0"/>
          </a:p>
        </p:txBody>
      </p:sp>
      <p:sp>
        <p:nvSpPr>
          <p:cNvPr id="7" name="Text 5"/>
          <p:cNvSpPr/>
          <p:nvPr/>
        </p:nvSpPr>
        <p:spPr>
          <a:xfrm>
            <a:off x="4728046" y="1352773"/>
            <a:ext cx="2464222" cy="244153"/>
          </a:xfrm>
          <a:prstGeom prst="rect">
            <a:avLst/>
          </a:prstGeom>
          <a:noFill/>
          <a:ln/>
        </p:spPr>
        <p:txBody>
          <a:bodyPr wrap="none" lIns="0" tIns="0" rIns="0" bIns="0" rtlCol="0" anchor="t"/>
          <a:lstStyle/>
          <a:p>
            <a:pPr marL="0" indent="0" algn="l">
              <a:lnSpc>
                <a:spcPts val="1900"/>
              </a:lnSpc>
              <a:buNone/>
            </a:pPr>
            <a:r>
              <a:rPr lang="en-US" sz="1500" b="1" dirty="0">
                <a:solidFill>
                  <a:srgbClr val="000000"/>
                </a:solidFill>
                <a:latin typeface="Petrona Bold" pitchFamily="34" charset="0"/>
                <a:ea typeface="Petrona Bold" pitchFamily="34" charset="-122"/>
                <a:cs typeface="Petrona Bold" pitchFamily="34" charset="-120"/>
              </a:rPr>
              <a:t>Cloud-Based Infrastructure</a:t>
            </a:r>
            <a:endParaRPr lang="en-US" sz="1500" dirty="0"/>
          </a:p>
        </p:txBody>
      </p:sp>
      <p:sp>
        <p:nvSpPr>
          <p:cNvPr id="8" name="Text 6"/>
          <p:cNvSpPr/>
          <p:nvPr/>
        </p:nvSpPr>
        <p:spPr>
          <a:xfrm>
            <a:off x="4728046" y="1720900"/>
            <a:ext cx="3924598" cy="992312"/>
          </a:xfrm>
          <a:prstGeom prst="rect">
            <a:avLst/>
          </a:prstGeom>
          <a:noFill/>
          <a:ln/>
        </p:spPr>
        <p:txBody>
          <a:bodyPr wrap="square" lIns="0" tIns="0" rIns="0" bIns="0" rtlCol="0" anchor="t"/>
          <a:lstStyle/>
          <a:p>
            <a:pPr marL="0" indent="0" algn="l">
              <a:lnSpc>
                <a:spcPts val="1550"/>
              </a:lnSpc>
              <a:buNone/>
            </a:pPr>
            <a:r>
              <a:rPr lang="en-US" sz="950" dirty="0">
                <a:solidFill>
                  <a:srgbClr val="272525"/>
                </a:solidFill>
                <a:latin typeface="Inter" pitchFamily="34" charset="0"/>
                <a:ea typeface="Inter" pitchFamily="34" charset="-122"/>
                <a:cs typeface="Inter" pitchFamily="34" charset="-120"/>
              </a:rPr>
              <a:t>All project assets store securely in the cloud, accessible from any device with internet connectivity. Automatic version tracking ensures users never lose work or confusion about which file represents the latest iteration. Storage scales with project needs without local disk space constraints.</a:t>
            </a:r>
            <a:endParaRPr lang="en-US" sz="950" dirty="0"/>
          </a:p>
        </p:txBody>
      </p:sp>
      <p:sp>
        <p:nvSpPr>
          <p:cNvPr id="9" name="Text 7"/>
          <p:cNvSpPr/>
          <p:nvPr/>
        </p:nvSpPr>
        <p:spPr>
          <a:xfrm>
            <a:off x="4728046" y="2837185"/>
            <a:ext cx="2211809" cy="244153"/>
          </a:xfrm>
          <a:prstGeom prst="rect">
            <a:avLst/>
          </a:prstGeom>
          <a:noFill/>
          <a:ln/>
        </p:spPr>
        <p:txBody>
          <a:bodyPr wrap="none" lIns="0" tIns="0" rIns="0" bIns="0" rtlCol="0" anchor="t"/>
          <a:lstStyle/>
          <a:p>
            <a:pPr marL="0" indent="0" algn="l">
              <a:lnSpc>
                <a:spcPts val="1900"/>
              </a:lnSpc>
              <a:buNone/>
            </a:pPr>
            <a:r>
              <a:rPr lang="en-US" sz="1500" b="1" dirty="0">
                <a:solidFill>
                  <a:srgbClr val="000000"/>
                </a:solidFill>
                <a:latin typeface="Petrona Bold" pitchFamily="34" charset="0"/>
                <a:ea typeface="Petrona Bold" pitchFamily="34" charset="-122"/>
                <a:cs typeface="Petrona Bold" pitchFamily="34" charset="-120"/>
              </a:rPr>
              <a:t>Real-Time Collaboration</a:t>
            </a:r>
            <a:endParaRPr lang="en-US" sz="1500" dirty="0"/>
          </a:p>
        </p:txBody>
      </p:sp>
      <p:sp>
        <p:nvSpPr>
          <p:cNvPr id="10" name="Text 8"/>
          <p:cNvSpPr/>
          <p:nvPr/>
        </p:nvSpPr>
        <p:spPr>
          <a:xfrm>
            <a:off x="4728046" y="3205311"/>
            <a:ext cx="3924598" cy="992312"/>
          </a:xfrm>
          <a:prstGeom prst="rect">
            <a:avLst/>
          </a:prstGeom>
          <a:noFill/>
          <a:ln/>
        </p:spPr>
        <p:txBody>
          <a:bodyPr wrap="square" lIns="0" tIns="0" rIns="0" bIns="0" rtlCol="0" anchor="t"/>
          <a:lstStyle/>
          <a:p>
            <a:pPr marL="0" indent="0" algn="l">
              <a:lnSpc>
                <a:spcPts val="1550"/>
              </a:lnSpc>
              <a:buNone/>
            </a:pPr>
            <a:r>
              <a:rPr lang="en-US" sz="950" dirty="0">
                <a:solidFill>
                  <a:srgbClr val="272525"/>
                </a:solidFill>
                <a:latin typeface="Inter" pitchFamily="34" charset="0"/>
                <a:ea typeface="Inter" pitchFamily="34" charset="-122"/>
                <a:cs typeface="Inter" pitchFamily="34" charset="-120"/>
              </a:rPr>
              <a:t>Team members work simultaneously on shared projects, seeing each other's changes instantly. Built-in commenting, task assignment, and approval workflows streamline communication. Stakeholders provide feedback directly on designs rather than describing changes in separate messages.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894162" y="359569"/>
            <a:ext cx="3052688" cy="381521"/>
          </a:xfrm>
          <a:prstGeom prst="rect">
            <a:avLst/>
          </a:prstGeom>
          <a:noFill/>
          <a:ln/>
        </p:spPr>
        <p:txBody>
          <a:bodyPr wrap="none" lIns="0" tIns="0" rIns="0" bIns="0" rtlCol="0" anchor="t"/>
          <a:lstStyle/>
          <a:p>
            <a:pPr marL="0" indent="0" algn="l">
              <a:lnSpc>
                <a:spcPts val="3000"/>
              </a:lnSpc>
              <a:buNone/>
            </a:pPr>
            <a:r>
              <a:rPr lang="en-US" sz="2400" b="1" dirty="0">
                <a:solidFill>
                  <a:srgbClr val="000000"/>
                </a:solidFill>
                <a:latin typeface="Petrona Bold" pitchFamily="34" charset="0"/>
                <a:ea typeface="Petrona Bold" pitchFamily="34" charset="-122"/>
                <a:cs typeface="Petrona Bold" pitchFamily="34" charset="-120"/>
              </a:rPr>
              <a:t>Project Objectives</a:t>
            </a:r>
            <a:endParaRPr lang="en-US" sz="2400" dirty="0"/>
          </a:p>
        </p:txBody>
      </p:sp>
      <p:sp>
        <p:nvSpPr>
          <p:cNvPr id="4" name="Text 1"/>
          <p:cNvSpPr/>
          <p:nvPr/>
        </p:nvSpPr>
        <p:spPr>
          <a:xfrm>
            <a:off x="3894162" y="904577"/>
            <a:ext cx="4784675" cy="360462"/>
          </a:xfrm>
          <a:prstGeom prst="rect">
            <a:avLst/>
          </a:prstGeom>
          <a:noFill/>
          <a:ln/>
        </p:spPr>
        <p:txBody>
          <a:bodyPr wrap="square" lIns="0" tIns="0" rIns="0" bIns="0" rtlCol="0" anchor="t"/>
          <a:lstStyle/>
          <a:p>
            <a:pPr marL="0" indent="0" algn="l">
              <a:lnSpc>
                <a:spcPts val="1400"/>
              </a:lnSpc>
              <a:buNone/>
            </a:pPr>
            <a:r>
              <a:rPr lang="en-US" sz="900" dirty="0">
                <a:solidFill>
                  <a:srgbClr val="272525"/>
                </a:solidFill>
                <a:latin typeface="Inter" pitchFamily="34" charset="0"/>
                <a:ea typeface="Inter" pitchFamily="34" charset="-122"/>
                <a:cs typeface="Inter" pitchFamily="34" charset="-120"/>
              </a:rPr>
              <a:t>These strategic goals guide MuseCraft's development and ensure the platform delivers measurable value to creative professionals and students alike.</a:t>
            </a:r>
            <a:endParaRPr lang="en-US" sz="900" dirty="0"/>
          </a:p>
        </p:txBody>
      </p:sp>
      <p:pic>
        <p:nvPicPr>
          <p:cNvPr id="5" name="Image 1" descr="preencoded.png"/>
          <p:cNvPicPr>
            <a:picLocks noChangeAspect="1"/>
          </p:cNvPicPr>
          <p:nvPr/>
        </p:nvPicPr>
        <p:blipFill>
          <a:blip r:embed="rId4"/>
          <a:stretch>
            <a:fillRect/>
          </a:stretch>
        </p:blipFill>
        <p:spPr>
          <a:xfrm>
            <a:off x="3894162" y="1387673"/>
            <a:ext cx="581397" cy="849064"/>
          </a:xfrm>
          <a:prstGeom prst="rect">
            <a:avLst/>
          </a:prstGeom>
        </p:spPr>
      </p:pic>
      <p:sp>
        <p:nvSpPr>
          <p:cNvPr id="6" name="Text 2"/>
          <p:cNvSpPr/>
          <p:nvPr/>
        </p:nvSpPr>
        <p:spPr>
          <a:xfrm>
            <a:off x="4584576" y="1503908"/>
            <a:ext cx="1526307" cy="190723"/>
          </a:xfrm>
          <a:prstGeom prst="rect">
            <a:avLst/>
          </a:prstGeom>
          <a:noFill/>
          <a:ln/>
        </p:spPr>
        <p:txBody>
          <a:bodyPr wrap="none" lIns="0" tIns="0" rIns="0" bIns="0" rtlCol="0" anchor="t"/>
          <a:lstStyle/>
          <a:p>
            <a:pPr marL="0" indent="0" algn="l">
              <a:lnSpc>
                <a:spcPts val="1500"/>
              </a:lnSpc>
              <a:buNone/>
            </a:pPr>
            <a:r>
              <a:rPr lang="en-US" sz="1200" b="1" dirty="0">
                <a:solidFill>
                  <a:srgbClr val="272525"/>
                </a:solidFill>
                <a:latin typeface="Petrona Bold" pitchFamily="34" charset="0"/>
                <a:ea typeface="Petrona Bold" pitchFamily="34" charset="-122"/>
                <a:cs typeface="Petrona Bold" pitchFamily="34" charset="-120"/>
              </a:rPr>
              <a:t>User-Friendly Design</a:t>
            </a:r>
            <a:endParaRPr lang="en-US" sz="1200" dirty="0"/>
          </a:p>
        </p:txBody>
      </p:sp>
      <p:sp>
        <p:nvSpPr>
          <p:cNvPr id="7" name="Text 3"/>
          <p:cNvSpPr/>
          <p:nvPr/>
        </p:nvSpPr>
        <p:spPr>
          <a:xfrm>
            <a:off x="4584576" y="1760041"/>
            <a:ext cx="4094262" cy="360462"/>
          </a:xfrm>
          <a:prstGeom prst="rect">
            <a:avLst/>
          </a:prstGeom>
          <a:noFill/>
          <a:ln/>
        </p:spPr>
        <p:txBody>
          <a:bodyPr wrap="square" lIns="0" tIns="0" rIns="0" bIns="0" rtlCol="0" anchor="t"/>
          <a:lstStyle/>
          <a:p>
            <a:pPr marL="0" indent="0" algn="l">
              <a:lnSpc>
                <a:spcPts val="1400"/>
              </a:lnSpc>
              <a:buNone/>
            </a:pPr>
            <a:r>
              <a:rPr lang="en-US" sz="900" dirty="0">
                <a:solidFill>
                  <a:srgbClr val="272525"/>
                </a:solidFill>
                <a:latin typeface="Inter" pitchFamily="34" charset="0"/>
                <a:ea typeface="Inter" pitchFamily="34" charset="-122"/>
                <a:cs typeface="Inter" pitchFamily="34" charset="-120"/>
              </a:rPr>
              <a:t>Develop an intuitive, accessible interface that requires minimal training while supporting advanced creative workflows</a:t>
            </a:r>
            <a:endParaRPr lang="en-US" sz="900" dirty="0"/>
          </a:p>
        </p:txBody>
      </p:sp>
      <p:pic>
        <p:nvPicPr>
          <p:cNvPr id="8" name="Image 2" descr="preencoded.png"/>
          <p:cNvPicPr>
            <a:picLocks noChangeAspect="1"/>
          </p:cNvPicPr>
          <p:nvPr/>
        </p:nvPicPr>
        <p:blipFill>
          <a:blip r:embed="rId5"/>
          <a:stretch>
            <a:fillRect/>
          </a:stretch>
        </p:blipFill>
        <p:spPr>
          <a:xfrm>
            <a:off x="3894162" y="2236738"/>
            <a:ext cx="581397" cy="849064"/>
          </a:xfrm>
          <a:prstGeom prst="rect">
            <a:avLst/>
          </a:prstGeom>
        </p:spPr>
      </p:pic>
      <p:sp>
        <p:nvSpPr>
          <p:cNvPr id="9" name="Text 4"/>
          <p:cNvSpPr/>
          <p:nvPr/>
        </p:nvSpPr>
        <p:spPr>
          <a:xfrm>
            <a:off x="4584576" y="2352973"/>
            <a:ext cx="1727374" cy="190723"/>
          </a:xfrm>
          <a:prstGeom prst="rect">
            <a:avLst/>
          </a:prstGeom>
          <a:noFill/>
          <a:ln/>
        </p:spPr>
        <p:txBody>
          <a:bodyPr wrap="none" lIns="0" tIns="0" rIns="0" bIns="0" rtlCol="0" anchor="t"/>
          <a:lstStyle/>
          <a:p>
            <a:pPr marL="0" indent="0" algn="l">
              <a:lnSpc>
                <a:spcPts val="1500"/>
              </a:lnSpc>
              <a:buNone/>
            </a:pPr>
            <a:r>
              <a:rPr lang="en-US" sz="1200" b="1" dirty="0">
                <a:solidFill>
                  <a:srgbClr val="272525"/>
                </a:solidFill>
                <a:latin typeface="Petrona Bold" pitchFamily="34" charset="0"/>
                <a:ea typeface="Petrona Bold" pitchFamily="34" charset="-122"/>
                <a:cs typeface="Petrona Bold" pitchFamily="34" charset="-120"/>
              </a:rPr>
              <a:t>Real-Time Collaboration</a:t>
            </a:r>
            <a:endParaRPr lang="en-US" sz="1200" dirty="0"/>
          </a:p>
        </p:txBody>
      </p:sp>
      <p:sp>
        <p:nvSpPr>
          <p:cNvPr id="10" name="Text 5"/>
          <p:cNvSpPr/>
          <p:nvPr/>
        </p:nvSpPr>
        <p:spPr>
          <a:xfrm>
            <a:off x="4584576" y="2609106"/>
            <a:ext cx="4094262" cy="360462"/>
          </a:xfrm>
          <a:prstGeom prst="rect">
            <a:avLst/>
          </a:prstGeom>
          <a:noFill/>
          <a:ln/>
        </p:spPr>
        <p:txBody>
          <a:bodyPr wrap="square" lIns="0" tIns="0" rIns="0" bIns="0" rtlCol="0" anchor="t"/>
          <a:lstStyle/>
          <a:p>
            <a:pPr marL="0" indent="0" algn="l">
              <a:lnSpc>
                <a:spcPts val="1400"/>
              </a:lnSpc>
              <a:buNone/>
            </a:pPr>
            <a:r>
              <a:rPr lang="en-US" sz="900" dirty="0">
                <a:solidFill>
                  <a:srgbClr val="272525"/>
                </a:solidFill>
                <a:latin typeface="Inter" pitchFamily="34" charset="0"/>
                <a:ea typeface="Inter" pitchFamily="34" charset="-122"/>
                <a:cs typeface="Inter" pitchFamily="34" charset="-120"/>
              </a:rPr>
              <a:t>Enable seamless teamwork with instant synchronization, live editing, and integrated communication tools</a:t>
            </a:r>
            <a:endParaRPr lang="en-US" sz="900" dirty="0"/>
          </a:p>
        </p:txBody>
      </p:sp>
      <p:pic>
        <p:nvPicPr>
          <p:cNvPr id="11" name="Image 3" descr="preencoded.png"/>
          <p:cNvPicPr>
            <a:picLocks noChangeAspect="1"/>
          </p:cNvPicPr>
          <p:nvPr/>
        </p:nvPicPr>
        <p:blipFill>
          <a:blip r:embed="rId6"/>
          <a:stretch>
            <a:fillRect/>
          </a:stretch>
        </p:blipFill>
        <p:spPr>
          <a:xfrm>
            <a:off x="3894162" y="3085802"/>
            <a:ext cx="581397" cy="849064"/>
          </a:xfrm>
          <a:prstGeom prst="rect">
            <a:avLst/>
          </a:prstGeom>
        </p:spPr>
      </p:pic>
      <p:sp>
        <p:nvSpPr>
          <p:cNvPr id="12" name="Text 6"/>
          <p:cNvSpPr/>
          <p:nvPr/>
        </p:nvSpPr>
        <p:spPr>
          <a:xfrm>
            <a:off x="4584576" y="3202037"/>
            <a:ext cx="1526307" cy="190723"/>
          </a:xfrm>
          <a:prstGeom prst="rect">
            <a:avLst/>
          </a:prstGeom>
          <a:noFill/>
          <a:ln/>
        </p:spPr>
        <p:txBody>
          <a:bodyPr wrap="none" lIns="0" tIns="0" rIns="0" bIns="0" rtlCol="0" anchor="t"/>
          <a:lstStyle/>
          <a:p>
            <a:pPr marL="0" indent="0" algn="l">
              <a:lnSpc>
                <a:spcPts val="1500"/>
              </a:lnSpc>
              <a:buNone/>
            </a:pPr>
            <a:r>
              <a:rPr lang="en-US" sz="1200" b="1" dirty="0">
                <a:solidFill>
                  <a:srgbClr val="272525"/>
                </a:solidFill>
                <a:latin typeface="Petrona Bold" pitchFamily="34" charset="0"/>
                <a:ea typeface="Petrona Bold" pitchFamily="34" charset="-122"/>
                <a:cs typeface="Petrona Bold" pitchFamily="34" charset="-120"/>
              </a:rPr>
              <a:t>Accelerated Creation</a:t>
            </a:r>
            <a:endParaRPr lang="en-US" sz="1200" dirty="0"/>
          </a:p>
        </p:txBody>
      </p:sp>
      <p:sp>
        <p:nvSpPr>
          <p:cNvPr id="13" name="Text 7"/>
          <p:cNvSpPr/>
          <p:nvPr/>
        </p:nvSpPr>
        <p:spPr>
          <a:xfrm>
            <a:off x="4584576" y="3458170"/>
            <a:ext cx="4094262" cy="360462"/>
          </a:xfrm>
          <a:prstGeom prst="rect">
            <a:avLst/>
          </a:prstGeom>
          <a:noFill/>
          <a:ln/>
        </p:spPr>
        <p:txBody>
          <a:bodyPr wrap="square" lIns="0" tIns="0" rIns="0" bIns="0" rtlCol="0" anchor="t"/>
          <a:lstStyle/>
          <a:p>
            <a:pPr marL="0" indent="0" algn="l">
              <a:lnSpc>
                <a:spcPts val="1400"/>
              </a:lnSpc>
              <a:buNone/>
            </a:pPr>
            <a:r>
              <a:rPr lang="en-US" sz="900" dirty="0">
                <a:solidFill>
                  <a:srgbClr val="272525"/>
                </a:solidFill>
                <a:latin typeface="Inter" pitchFamily="34" charset="0"/>
                <a:ea typeface="Inter" pitchFamily="34" charset="-122"/>
                <a:cs typeface="Inter" pitchFamily="34" charset="-120"/>
              </a:rPr>
              <a:t>Reduce content production time through integrated tools, automated processes, and streamlined workflows</a:t>
            </a:r>
            <a:endParaRPr lang="en-US" sz="900" dirty="0"/>
          </a:p>
        </p:txBody>
      </p:sp>
      <p:pic>
        <p:nvPicPr>
          <p:cNvPr id="14" name="Image 4" descr="preencoded.png"/>
          <p:cNvPicPr>
            <a:picLocks noChangeAspect="1"/>
          </p:cNvPicPr>
          <p:nvPr/>
        </p:nvPicPr>
        <p:blipFill>
          <a:blip r:embed="rId7"/>
          <a:stretch>
            <a:fillRect/>
          </a:stretch>
        </p:blipFill>
        <p:spPr>
          <a:xfrm>
            <a:off x="3894162" y="3934867"/>
            <a:ext cx="581397" cy="849064"/>
          </a:xfrm>
          <a:prstGeom prst="rect">
            <a:avLst/>
          </a:prstGeom>
        </p:spPr>
      </p:pic>
      <p:sp>
        <p:nvSpPr>
          <p:cNvPr id="15" name="Text 8"/>
          <p:cNvSpPr/>
          <p:nvPr/>
        </p:nvSpPr>
        <p:spPr>
          <a:xfrm>
            <a:off x="4584576" y="4051102"/>
            <a:ext cx="1526307" cy="190723"/>
          </a:xfrm>
          <a:prstGeom prst="rect">
            <a:avLst/>
          </a:prstGeom>
          <a:noFill/>
          <a:ln/>
        </p:spPr>
        <p:txBody>
          <a:bodyPr wrap="none" lIns="0" tIns="0" rIns="0" bIns="0" rtlCol="0" anchor="t"/>
          <a:lstStyle/>
          <a:p>
            <a:pPr marL="0" indent="0" algn="l">
              <a:lnSpc>
                <a:spcPts val="1500"/>
              </a:lnSpc>
              <a:buNone/>
            </a:pPr>
            <a:r>
              <a:rPr lang="en-US" sz="1200" b="1" dirty="0">
                <a:solidFill>
                  <a:srgbClr val="272525"/>
                </a:solidFill>
                <a:latin typeface="Petrona Bold" pitchFamily="34" charset="0"/>
                <a:ea typeface="Petrona Bold" pitchFamily="34" charset="-122"/>
                <a:cs typeface="Petrona Bold" pitchFamily="34" charset="-120"/>
              </a:rPr>
              <a:t>Secure Management</a:t>
            </a:r>
            <a:endParaRPr lang="en-US" sz="1200" dirty="0"/>
          </a:p>
        </p:txBody>
      </p:sp>
      <p:sp>
        <p:nvSpPr>
          <p:cNvPr id="16" name="Text 9"/>
          <p:cNvSpPr/>
          <p:nvPr/>
        </p:nvSpPr>
        <p:spPr>
          <a:xfrm>
            <a:off x="4584576" y="4307235"/>
            <a:ext cx="4094262" cy="360462"/>
          </a:xfrm>
          <a:prstGeom prst="rect">
            <a:avLst/>
          </a:prstGeom>
          <a:noFill/>
          <a:ln/>
        </p:spPr>
        <p:txBody>
          <a:bodyPr wrap="square" lIns="0" tIns="0" rIns="0" bIns="0" rtlCol="0" anchor="t"/>
          <a:lstStyle/>
          <a:p>
            <a:pPr marL="0" indent="0" algn="l">
              <a:lnSpc>
                <a:spcPts val="1400"/>
              </a:lnSpc>
              <a:buNone/>
            </a:pPr>
            <a:r>
              <a:rPr lang="en-US" sz="900" dirty="0">
                <a:solidFill>
                  <a:srgbClr val="272525"/>
                </a:solidFill>
                <a:latin typeface="Inter" pitchFamily="34" charset="0"/>
                <a:ea typeface="Inter" pitchFamily="34" charset="-122"/>
                <a:cs typeface="Inter" pitchFamily="34" charset="-120"/>
              </a:rPr>
              <a:t>Implement robust data protection, access controls, and backup systems to safeguard creative work</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name="Slide 6">
    <p:spTree>
      <p:nvGrpSpPr>
        <p:cNvPr id="1" name=""/>
        <p:cNvGrpSpPr/>
        <p:nvPr/>
      </p:nvGrpSpPr>
      <p:grpSpPr>
        <a:xfrm>
          <a:off x="0" y="0"/>
          <a:ext cx="0" cy="0"/>
          <a:chOff x="0" y="0"/>
          <a:chExt cx="0" cy="0"/>
        </a:xfrm>
      </p:grpSpPr>
      <p:sp>
        <p:nvSpPr>
          <p:cNvPr id="2" name="Text 0"/>
          <p:cNvSpPr/>
          <p:nvPr/>
        </p:nvSpPr>
        <p:spPr>
          <a:xfrm>
            <a:off x="441871" y="337245"/>
            <a:ext cx="2900065" cy="362471"/>
          </a:xfrm>
          <a:prstGeom prst="rect">
            <a:avLst/>
          </a:prstGeom>
          <a:noFill/>
          <a:ln/>
        </p:spPr>
        <p:txBody>
          <a:bodyPr wrap="none" lIns="0" tIns="0" rIns="0" bIns="0" rtlCol="0" anchor="t"/>
          <a:lstStyle/>
          <a:p>
            <a:pPr marL="0" indent="0" algn="l">
              <a:lnSpc>
                <a:spcPts val="2850"/>
              </a:lnSpc>
              <a:buNone/>
            </a:pPr>
            <a:r>
              <a:rPr lang="en-US" sz="2250" b="1" dirty="0">
                <a:solidFill>
                  <a:srgbClr val="000000"/>
                </a:solidFill>
                <a:latin typeface="Petrona Bold" pitchFamily="34" charset="0"/>
                <a:ea typeface="Petrona Bold" pitchFamily="34" charset="-122"/>
                <a:cs typeface="Petrona Bold" pitchFamily="34" charset="-120"/>
              </a:rPr>
              <a:t>Scope of the Project</a:t>
            </a:r>
            <a:endParaRPr lang="en-US" sz="2250" dirty="0"/>
          </a:p>
        </p:txBody>
      </p:sp>
      <p:pic>
        <p:nvPicPr>
          <p:cNvPr id="3" name="Image 0" descr="preencoded.png"/>
          <p:cNvPicPr>
            <a:picLocks noChangeAspect="1"/>
          </p:cNvPicPr>
          <p:nvPr/>
        </p:nvPicPr>
        <p:blipFill>
          <a:blip r:embed="rId3"/>
          <a:stretch>
            <a:fillRect/>
          </a:stretch>
        </p:blipFill>
        <p:spPr>
          <a:xfrm>
            <a:off x="441871" y="896466"/>
            <a:ext cx="1549450" cy="1549450"/>
          </a:xfrm>
          <a:prstGeom prst="rect">
            <a:avLst/>
          </a:prstGeom>
        </p:spPr>
      </p:pic>
      <p:sp>
        <p:nvSpPr>
          <p:cNvPr id="4" name="Text 1"/>
          <p:cNvSpPr/>
          <p:nvPr/>
        </p:nvSpPr>
        <p:spPr>
          <a:xfrm>
            <a:off x="441871" y="2568848"/>
            <a:ext cx="1548780" cy="181273"/>
          </a:xfrm>
          <a:prstGeom prst="rect">
            <a:avLst/>
          </a:prstGeom>
          <a:noFill/>
          <a:ln/>
        </p:spPr>
        <p:txBody>
          <a:bodyPr wrap="none" lIns="0" tIns="0" rIns="0" bIns="0" rtlCol="0" anchor="t"/>
          <a:lstStyle/>
          <a:p>
            <a:pPr marL="0" indent="0" algn="l">
              <a:lnSpc>
                <a:spcPts val="1400"/>
              </a:lnSpc>
              <a:buNone/>
            </a:pPr>
            <a:r>
              <a:rPr lang="en-US" sz="1100" b="1" dirty="0">
                <a:solidFill>
                  <a:srgbClr val="272525"/>
                </a:solidFill>
                <a:latin typeface="Petrona Bold" pitchFamily="34" charset="0"/>
                <a:ea typeface="Petrona Bold" pitchFamily="34" charset="-122"/>
                <a:cs typeface="Petrona Bold" pitchFamily="34" charset="-120"/>
              </a:rPr>
              <a:t>Web-Based Application</a:t>
            </a:r>
            <a:endParaRPr lang="en-US" sz="1100" dirty="0"/>
          </a:p>
        </p:txBody>
      </p:sp>
      <p:sp>
        <p:nvSpPr>
          <p:cNvPr id="5" name="Text 2"/>
          <p:cNvSpPr/>
          <p:nvPr/>
        </p:nvSpPr>
        <p:spPr>
          <a:xfrm>
            <a:off x="441871" y="2809131"/>
            <a:ext cx="2671465" cy="1002804"/>
          </a:xfrm>
          <a:prstGeom prst="rect">
            <a:avLst/>
          </a:prstGeom>
          <a:noFill/>
          <a:ln/>
        </p:spPr>
        <p:txBody>
          <a:bodyPr wrap="square" lIns="0" tIns="0" rIns="0" bIns="0" rtlCol="0" anchor="t"/>
          <a:lstStyle/>
          <a:p>
            <a:pPr marL="0" indent="0" algn="l">
              <a:lnSpc>
                <a:spcPts val="1300"/>
              </a:lnSpc>
              <a:buNone/>
            </a:pPr>
            <a:r>
              <a:rPr lang="en-US" sz="850" dirty="0">
                <a:solidFill>
                  <a:srgbClr val="272525"/>
                </a:solidFill>
                <a:latin typeface="Inter" pitchFamily="34" charset="0"/>
                <a:ea typeface="Inter" pitchFamily="34" charset="-122"/>
                <a:cs typeface="Inter" pitchFamily="34" charset="-120"/>
              </a:rPr>
              <a:t>Current implementation as a responsive web application accessible from any device with a modern browser. Future expansion includes native mobile applications for iOS and Android platforms, extending creative capabilities to mobile workflows.</a:t>
            </a:r>
            <a:endParaRPr lang="en-US" sz="850" dirty="0"/>
          </a:p>
        </p:txBody>
      </p:sp>
      <p:pic>
        <p:nvPicPr>
          <p:cNvPr id="6" name="Image 1" descr="preencoded.png"/>
          <p:cNvPicPr>
            <a:picLocks noChangeAspect="1"/>
          </p:cNvPicPr>
          <p:nvPr/>
        </p:nvPicPr>
        <p:blipFill>
          <a:blip r:embed="rId4"/>
          <a:stretch>
            <a:fillRect/>
          </a:stretch>
        </p:blipFill>
        <p:spPr>
          <a:xfrm>
            <a:off x="3236268" y="896466"/>
            <a:ext cx="1549450" cy="1549450"/>
          </a:xfrm>
          <a:prstGeom prst="rect">
            <a:avLst/>
          </a:prstGeom>
        </p:spPr>
      </p:pic>
      <p:sp>
        <p:nvSpPr>
          <p:cNvPr id="7" name="Text 3"/>
          <p:cNvSpPr/>
          <p:nvPr/>
        </p:nvSpPr>
        <p:spPr>
          <a:xfrm>
            <a:off x="3236268" y="2568848"/>
            <a:ext cx="1806773" cy="181273"/>
          </a:xfrm>
          <a:prstGeom prst="rect">
            <a:avLst/>
          </a:prstGeom>
          <a:noFill/>
          <a:ln/>
        </p:spPr>
        <p:txBody>
          <a:bodyPr wrap="none" lIns="0" tIns="0" rIns="0" bIns="0" rtlCol="0" anchor="t"/>
          <a:lstStyle/>
          <a:p>
            <a:pPr marL="0" indent="0" algn="l">
              <a:lnSpc>
                <a:spcPts val="1400"/>
              </a:lnSpc>
              <a:buNone/>
            </a:pPr>
            <a:r>
              <a:rPr lang="en-US" sz="1100" b="1" dirty="0">
                <a:solidFill>
                  <a:srgbClr val="272525"/>
                </a:solidFill>
                <a:latin typeface="Petrona Bold" pitchFamily="34" charset="0"/>
                <a:ea typeface="Petrona Bold" pitchFamily="34" charset="-122"/>
                <a:cs typeface="Petrona Bold" pitchFamily="34" charset="-120"/>
              </a:rPr>
              <a:t>Individual &amp; Team Projects</a:t>
            </a:r>
            <a:endParaRPr lang="en-US" sz="1100" dirty="0"/>
          </a:p>
        </p:txBody>
      </p:sp>
      <p:sp>
        <p:nvSpPr>
          <p:cNvPr id="8" name="Text 4"/>
          <p:cNvSpPr/>
          <p:nvPr/>
        </p:nvSpPr>
        <p:spPr>
          <a:xfrm>
            <a:off x="3236268" y="2809131"/>
            <a:ext cx="2671465" cy="835670"/>
          </a:xfrm>
          <a:prstGeom prst="rect">
            <a:avLst/>
          </a:prstGeom>
          <a:noFill/>
          <a:ln/>
        </p:spPr>
        <p:txBody>
          <a:bodyPr wrap="square" lIns="0" tIns="0" rIns="0" bIns="0" rtlCol="0" anchor="t"/>
          <a:lstStyle/>
          <a:p>
            <a:pPr marL="0" indent="0" algn="l">
              <a:lnSpc>
                <a:spcPts val="1300"/>
              </a:lnSpc>
              <a:buNone/>
            </a:pPr>
            <a:r>
              <a:rPr lang="en-US" sz="850" dirty="0">
                <a:solidFill>
                  <a:srgbClr val="272525"/>
                </a:solidFill>
                <a:latin typeface="Inter" pitchFamily="34" charset="0"/>
                <a:ea typeface="Inter" pitchFamily="34" charset="-122"/>
                <a:cs typeface="Inter" pitchFamily="34" charset="-120"/>
              </a:rPr>
              <a:t>Supports both solo creative work and collaborative team environments. Users can switch between private projects and shared workspaces, managing permissions and access levels for team-based initiatives of any scale.</a:t>
            </a:r>
            <a:endParaRPr lang="en-US" sz="850" dirty="0"/>
          </a:p>
        </p:txBody>
      </p:sp>
      <p:pic>
        <p:nvPicPr>
          <p:cNvPr id="9" name="Image 2" descr="preencoded.png"/>
          <p:cNvPicPr>
            <a:picLocks noChangeAspect="1"/>
          </p:cNvPicPr>
          <p:nvPr/>
        </p:nvPicPr>
        <p:blipFill>
          <a:blip r:embed="rId5"/>
          <a:stretch>
            <a:fillRect/>
          </a:stretch>
        </p:blipFill>
        <p:spPr>
          <a:xfrm>
            <a:off x="6030664" y="896466"/>
            <a:ext cx="1549450" cy="1549450"/>
          </a:xfrm>
          <a:prstGeom prst="rect">
            <a:avLst/>
          </a:prstGeom>
        </p:spPr>
      </p:pic>
      <p:sp>
        <p:nvSpPr>
          <p:cNvPr id="10" name="Text 5"/>
          <p:cNvSpPr/>
          <p:nvPr/>
        </p:nvSpPr>
        <p:spPr>
          <a:xfrm>
            <a:off x="6030664" y="2568848"/>
            <a:ext cx="1450032" cy="181273"/>
          </a:xfrm>
          <a:prstGeom prst="rect">
            <a:avLst/>
          </a:prstGeom>
          <a:noFill/>
          <a:ln/>
        </p:spPr>
        <p:txBody>
          <a:bodyPr wrap="none" lIns="0" tIns="0" rIns="0" bIns="0" rtlCol="0" anchor="t"/>
          <a:lstStyle/>
          <a:p>
            <a:pPr marL="0" indent="0" algn="l">
              <a:lnSpc>
                <a:spcPts val="1400"/>
              </a:lnSpc>
              <a:buNone/>
            </a:pPr>
            <a:r>
              <a:rPr lang="en-US" sz="1100" b="1" dirty="0">
                <a:solidFill>
                  <a:srgbClr val="272525"/>
                </a:solidFill>
                <a:latin typeface="Petrona Bold" pitchFamily="34" charset="0"/>
                <a:ea typeface="Petrona Bold" pitchFamily="34" charset="-122"/>
                <a:cs typeface="Petrona Bold" pitchFamily="34" charset="-120"/>
              </a:rPr>
              <a:t>Target User Base</a:t>
            </a:r>
            <a:endParaRPr lang="en-US" sz="1100" dirty="0"/>
          </a:p>
        </p:txBody>
      </p:sp>
      <p:sp>
        <p:nvSpPr>
          <p:cNvPr id="11" name="Text 6"/>
          <p:cNvSpPr/>
          <p:nvPr/>
        </p:nvSpPr>
        <p:spPr>
          <a:xfrm>
            <a:off x="6030664" y="2809131"/>
            <a:ext cx="2671465" cy="835670"/>
          </a:xfrm>
          <a:prstGeom prst="rect">
            <a:avLst/>
          </a:prstGeom>
          <a:noFill/>
          <a:ln/>
        </p:spPr>
        <p:txBody>
          <a:bodyPr wrap="square" lIns="0" tIns="0" rIns="0" bIns="0" rtlCol="0" anchor="t"/>
          <a:lstStyle/>
          <a:p>
            <a:pPr marL="0" indent="0" algn="l">
              <a:lnSpc>
                <a:spcPts val="1300"/>
              </a:lnSpc>
              <a:buNone/>
            </a:pPr>
            <a:r>
              <a:rPr lang="en-US" sz="850" dirty="0">
                <a:solidFill>
                  <a:srgbClr val="272525"/>
                </a:solidFill>
                <a:latin typeface="Inter" pitchFamily="34" charset="0"/>
                <a:ea typeface="Inter" pitchFamily="34" charset="-122"/>
                <a:cs typeface="Inter" pitchFamily="34" charset="-120"/>
              </a:rPr>
              <a:t>Caters to students learning design skills, freelancers managing multiple client projects, and professional designers in agencies or corporate environments. Each user segment benefits from tailored features while sharing core functionality.</a:t>
            </a:r>
            <a:endParaRPr lang="en-US" sz="850" dirty="0"/>
          </a:p>
        </p:txBody>
      </p:sp>
      <p:sp>
        <p:nvSpPr>
          <p:cNvPr id="12" name="Shape 7"/>
          <p:cNvSpPr/>
          <p:nvPr/>
        </p:nvSpPr>
        <p:spPr>
          <a:xfrm>
            <a:off x="441871" y="3922588"/>
            <a:ext cx="8260259" cy="883667"/>
          </a:xfrm>
          <a:prstGeom prst="roundRect">
            <a:avLst>
              <a:gd name="adj" fmla="val 5251"/>
            </a:avLst>
          </a:prstGeom>
          <a:solidFill>
            <a:srgbClr val="B3E5FF"/>
          </a:solidFill>
          <a:ln/>
        </p:spPr>
      </p:sp>
      <p:pic>
        <p:nvPicPr>
          <p:cNvPr id="13" name="Image 3" descr="preencoded.png"/>
          <p:cNvPicPr>
            <a:picLocks noChangeAspect="1"/>
          </p:cNvPicPr>
          <p:nvPr/>
        </p:nvPicPr>
        <p:blipFill>
          <a:blip r:embed="rId6"/>
          <a:stretch>
            <a:fillRect/>
          </a:stretch>
        </p:blipFill>
        <p:spPr>
          <a:xfrm>
            <a:off x="552301" y="4055046"/>
            <a:ext cx="181198" cy="144959"/>
          </a:xfrm>
          <a:prstGeom prst="rect">
            <a:avLst/>
          </a:prstGeom>
        </p:spPr>
      </p:pic>
      <p:sp>
        <p:nvSpPr>
          <p:cNvPr id="14" name="Text 8"/>
          <p:cNvSpPr/>
          <p:nvPr/>
        </p:nvSpPr>
        <p:spPr>
          <a:xfrm>
            <a:off x="843930" y="4048571"/>
            <a:ext cx="1469306" cy="181273"/>
          </a:xfrm>
          <a:prstGeom prst="rect">
            <a:avLst/>
          </a:prstGeom>
          <a:noFill/>
          <a:ln/>
        </p:spPr>
        <p:txBody>
          <a:bodyPr wrap="none" lIns="0" tIns="0" rIns="0" bIns="0" rtlCol="0" anchor="t"/>
          <a:lstStyle/>
          <a:p>
            <a:pPr marL="0" indent="0" algn="l">
              <a:lnSpc>
                <a:spcPts val="1400"/>
              </a:lnSpc>
              <a:buNone/>
            </a:pPr>
            <a:r>
              <a:rPr lang="en-US" sz="1100" b="1" dirty="0">
                <a:solidFill>
                  <a:srgbClr val="000000"/>
                </a:solidFill>
                <a:latin typeface="Petrona Bold" pitchFamily="34" charset="0"/>
                <a:ea typeface="Petrona Bold" pitchFamily="34" charset="-122"/>
                <a:cs typeface="Petrona Bold" pitchFamily="34" charset="-120"/>
              </a:rPr>
              <a:t>Future Enhancements</a:t>
            </a:r>
            <a:endParaRPr lang="en-US" sz="1100" dirty="0"/>
          </a:p>
        </p:txBody>
      </p:sp>
      <p:sp>
        <p:nvSpPr>
          <p:cNvPr id="15" name="Text 9"/>
          <p:cNvSpPr/>
          <p:nvPr/>
        </p:nvSpPr>
        <p:spPr>
          <a:xfrm>
            <a:off x="843930" y="4328220"/>
            <a:ext cx="7747769" cy="334268"/>
          </a:xfrm>
          <a:prstGeom prst="rect">
            <a:avLst/>
          </a:prstGeom>
          <a:noFill/>
          <a:ln/>
        </p:spPr>
        <p:txBody>
          <a:bodyPr wrap="square" lIns="0" tIns="0" rIns="0" bIns="0" rtlCol="0" anchor="t"/>
          <a:lstStyle/>
          <a:p>
            <a:pPr marL="0" indent="0" algn="l">
              <a:lnSpc>
                <a:spcPts val="1300"/>
              </a:lnSpc>
              <a:buNone/>
            </a:pPr>
            <a:r>
              <a:rPr lang="en-US" sz="850" dirty="0">
                <a:solidFill>
                  <a:srgbClr val="000000"/>
                </a:solidFill>
                <a:latin typeface="Inter" pitchFamily="34" charset="0"/>
                <a:ea typeface="Inter" pitchFamily="34" charset="-122"/>
                <a:cs typeface="Inter" pitchFamily="34" charset="-120"/>
              </a:rPr>
              <a:t>The platform architecture accommodates future integrations including AI-powered design suggestions that analyze trends and user preferences, automated layout generation from content, and direct publishing to major social media platforms for immediate audience reach.</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name="Slide 7">
    <p:spTree>
      <p:nvGrpSpPr>
        <p:cNvPr id="1" name=""/>
        <p:cNvGrpSpPr/>
        <p:nvPr/>
      </p:nvGrpSpPr>
      <p:grpSpPr>
        <a:xfrm>
          <a:off x="0" y="0"/>
          <a:ext cx="0" cy="0"/>
          <a:chOff x="0" y="0"/>
          <a:chExt cx="0" cy="0"/>
        </a:xfrm>
      </p:grpSpPr>
      <p:sp>
        <p:nvSpPr>
          <p:cNvPr id="2" name="Text 0"/>
          <p:cNvSpPr/>
          <p:nvPr/>
        </p:nvSpPr>
        <p:spPr>
          <a:xfrm>
            <a:off x="674489" y="330324"/>
            <a:ext cx="2594744" cy="324296"/>
          </a:xfrm>
          <a:prstGeom prst="rect">
            <a:avLst/>
          </a:prstGeom>
          <a:noFill/>
          <a:ln/>
        </p:spPr>
        <p:txBody>
          <a:bodyPr wrap="none" lIns="0" tIns="0" rIns="0" bIns="0" rtlCol="0" anchor="t"/>
          <a:lstStyle/>
          <a:p>
            <a:pPr marL="0" indent="0" algn="l">
              <a:lnSpc>
                <a:spcPts val="2550"/>
              </a:lnSpc>
              <a:buNone/>
            </a:pPr>
            <a:r>
              <a:rPr lang="en-US" sz="2000" b="1" dirty="0">
                <a:solidFill>
                  <a:srgbClr val="000000"/>
                </a:solidFill>
                <a:latin typeface="Petrona Bold" pitchFamily="34" charset="0"/>
                <a:ea typeface="Petrona Bold" pitchFamily="34" charset="-122"/>
                <a:cs typeface="Petrona Bold" pitchFamily="34" charset="-120"/>
              </a:rPr>
              <a:t>Methodology</a:t>
            </a:r>
            <a:endParaRPr lang="en-US" sz="2000" dirty="0"/>
          </a:p>
        </p:txBody>
      </p:sp>
      <p:sp>
        <p:nvSpPr>
          <p:cNvPr id="3" name="Text 1"/>
          <p:cNvSpPr/>
          <p:nvPr/>
        </p:nvSpPr>
        <p:spPr>
          <a:xfrm>
            <a:off x="674489" y="812155"/>
            <a:ext cx="7794947" cy="142056"/>
          </a:xfrm>
          <a:prstGeom prst="rect">
            <a:avLst/>
          </a:prstGeom>
          <a:noFill/>
          <a:ln/>
        </p:spPr>
        <p:txBody>
          <a:bodyPr wrap="none" lIns="0" tIns="0" rIns="0" bIns="0" rtlCol="0" anchor="t"/>
          <a:lstStyle/>
          <a:p>
            <a:pPr marL="0" indent="0" algn="l">
              <a:lnSpc>
                <a:spcPts val="1100"/>
              </a:lnSpc>
              <a:buNone/>
            </a:pPr>
            <a:r>
              <a:rPr lang="en-US" sz="750" dirty="0">
                <a:solidFill>
                  <a:srgbClr val="272525"/>
                </a:solidFill>
                <a:latin typeface="Inter" pitchFamily="34" charset="0"/>
                <a:ea typeface="Inter" pitchFamily="34" charset="-122"/>
                <a:cs typeface="Inter" pitchFamily="34" charset="-120"/>
              </a:rPr>
              <a:t>A systematic, phased approach ensures MuseCraft meets technical requirements while remaining aligned with user needs throughout development.</a:t>
            </a:r>
            <a:endParaRPr lang="en-US" sz="750" dirty="0"/>
          </a:p>
        </p:txBody>
      </p:sp>
      <p:sp>
        <p:nvSpPr>
          <p:cNvPr id="4" name="Shape 2"/>
          <p:cNvSpPr/>
          <p:nvPr/>
        </p:nvSpPr>
        <p:spPr>
          <a:xfrm>
            <a:off x="773311" y="1190997"/>
            <a:ext cx="98822" cy="542776"/>
          </a:xfrm>
          <a:prstGeom prst="roundRect">
            <a:avLst>
              <a:gd name="adj" fmla="val 42012"/>
            </a:avLst>
          </a:prstGeom>
          <a:solidFill>
            <a:srgbClr val="CCEEFF"/>
          </a:solidFill>
          <a:ln w="4763">
            <a:solidFill>
              <a:srgbClr val="B2D4E5"/>
            </a:solidFill>
            <a:prstDash val="solid"/>
          </a:ln>
        </p:spPr>
      </p:sp>
      <p:sp>
        <p:nvSpPr>
          <p:cNvPr id="5" name="Shape 3"/>
          <p:cNvSpPr/>
          <p:nvPr/>
        </p:nvSpPr>
        <p:spPr>
          <a:xfrm>
            <a:off x="674489" y="1126108"/>
            <a:ext cx="296540" cy="296540"/>
          </a:xfrm>
          <a:prstGeom prst="roundRect">
            <a:avLst>
              <a:gd name="adj" fmla="val 96361"/>
            </a:avLst>
          </a:prstGeom>
          <a:solidFill>
            <a:srgbClr val="CCEEFF"/>
          </a:solidFill>
          <a:ln w="4763">
            <a:solidFill>
              <a:srgbClr val="B2D4E5"/>
            </a:solidFill>
            <a:prstDash val="solid"/>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8605" y="1200299"/>
            <a:ext cx="148233" cy="148233"/>
          </a:xfrm>
          <a:prstGeom prst="rect">
            <a:avLst/>
          </a:prstGeom>
        </p:spPr>
      </p:pic>
      <p:sp>
        <p:nvSpPr>
          <p:cNvPr id="7" name="Text 4"/>
          <p:cNvSpPr/>
          <p:nvPr/>
        </p:nvSpPr>
        <p:spPr>
          <a:xfrm>
            <a:off x="1049759" y="1141586"/>
            <a:ext cx="1406947" cy="162074"/>
          </a:xfrm>
          <a:prstGeom prst="rect">
            <a:avLst/>
          </a:prstGeom>
          <a:noFill/>
          <a:ln/>
        </p:spPr>
        <p:txBody>
          <a:bodyPr wrap="none" lIns="0" tIns="0" rIns="0" bIns="0" rtlCol="0" anchor="t"/>
          <a:lstStyle/>
          <a:p>
            <a:pPr marL="0" indent="0" algn="l">
              <a:lnSpc>
                <a:spcPts val="1250"/>
              </a:lnSpc>
              <a:buNone/>
            </a:pPr>
            <a:r>
              <a:rPr lang="en-US" sz="1000" b="1" dirty="0">
                <a:solidFill>
                  <a:srgbClr val="272525"/>
                </a:solidFill>
                <a:latin typeface="Petrona Bold" pitchFamily="34" charset="0"/>
                <a:ea typeface="Petrona Bold" pitchFamily="34" charset="-122"/>
                <a:cs typeface="Petrona Bold" pitchFamily="34" charset="-120"/>
              </a:rPr>
              <a:t>Requirement Gathering</a:t>
            </a:r>
            <a:endParaRPr lang="en-US" sz="1000" dirty="0"/>
          </a:p>
        </p:txBody>
      </p:sp>
      <p:sp>
        <p:nvSpPr>
          <p:cNvPr id="8" name="Text 5"/>
          <p:cNvSpPr/>
          <p:nvPr/>
        </p:nvSpPr>
        <p:spPr>
          <a:xfrm>
            <a:off x="1049759" y="1350913"/>
            <a:ext cx="7419677" cy="284113"/>
          </a:xfrm>
          <a:prstGeom prst="rect">
            <a:avLst/>
          </a:prstGeom>
          <a:noFill/>
          <a:ln/>
        </p:spPr>
        <p:txBody>
          <a:bodyPr wrap="square" lIns="0" tIns="0" rIns="0" bIns="0" rtlCol="0" anchor="t"/>
          <a:lstStyle/>
          <a:p>
            <a:pPr marL="0" indent="0" algn="l">
              <a:lnSpc>
                <a:spcPts val="1100"/>
              </a:lnSpc>
              <a:buNone/>
            </a:pPr>
            <a:r>
              <a:rPr lang="en-US" sz="750" dirty="0">
                <a:solidFill>
                  <a:srgbClr val="272525"/>
                </a:solidFill>
                <a:latin typeface="Inter" pitchFamily="34" charset="0"/>
                <a:ea typeface="Inter" pitchFamily="34" charset="-122"/>
                <a:cs typeface="Inter" pitchFamily="34" charset="-120"/>
              </a:rPr>
              <a:t>Comprehensive analysis of user needs through surveys, interviews with target users, competitive platform research, and identification of essential features. Documentation includes functional and non-functional requirements.</a:t>
            </a:r>
            <a:endParaRPr lang="en-US" sz="750" dirty="0"/>
          </a:p>
        </p:txBody>
      </p:sp>
      <p:sp>
        <p:nvSpPr>
          <p:cNvPr id="9" name="Shape 6"/>
          <p:cNvSpPr/>
          <p:nvPr/>
        </p:nvSpPr>
        <p:spPr>
          <a:xfrm>
            <a:off x="921544" y="1960811"/>
            <a:ext cx="98822" cy="542776"/>
          </a:xfrm>
          <a:prstGeom prst="roundRect">
            <a:avLst>
              <a:gd name="adj" fmla="val 42012"/>
            </a:avLst>
          </a:prstGeom>
          <a:solidFill>
            <a:srgbClr val="CCEEFF"/>
          </a:solidFill>
          <a:ln w="4763">
            <a:solidFill>
              <a:srgbClr val="B2D4E5"/>
            </a:solidFill>
            <a:prstDash val="solid"/>
          </a:ln>
        </p:spPr>
      </p:sp>
      <p:sp>
        <p:nvSpPr>
          <p:cNvPr id="10" name="Shape 7"/>
          <p:cNvSpPr/>
          <p:nvPr/>
        </p:nvSpPr>
        <p:spPr>
          <a:xfrm>
            <a:off x="822722" y="1895921"/>
            <a:ext cx="296540" cy="296540"/>
          </a:xfrm>
          <a:prstGeom prst="roundRect">
            <a:avLst>
              <a:gd name="adj" fmla="val 96361"/>
            </a:avLst>
          </a:prstGeom>
          <a:solidFill>
            <a:srgbClr val="CCEEFF"/>
          </a:solidFill>
          <a:ln w="4763">
            <a:solidFill>
              <a:srgbClr val="B2D4E5"/>
            </a:solidFill>
            <a:prstDash val="solid"/>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96838" y="1970112"/>
            <a:ext cx="148233" cy="148233"/>
          </a:xfrm>
          <a:prstGeom prst="rect">
            <a:avLst/>
          </a:prstGeom>
        </p:spPr>
      </p:pic>
      <p:sp>
        <p:nvSpPr>
          <p:cNvPr id="12" name="Text 8"/>
          <p:cNvSpPr/>
          <p:nvPr/>
        </p:nvSpPr>
        <p:spPr>
          <a:xfrm>
            <a:off x="1197992" y="1911400"/>
            <a:ext cx="1297335" cy="162074"/>
          </a:xfrm>
          <a:prstGeom prst="rect">
            <a:avLst/>
          </a:prstGeom>
          <a:noFill/>
          <a:ln/>
        </p:spPr>
        <p:txBody>
          <a:bodyPr wrap="none" lIns="0" tIns="0" rIns="0" bIns="0" rtlCol="0" anchor="t"/>
          <a:lstStyle/>
          <a:p>
            <a:pPr marL="0" indent="0" algn="l">
              <a:lnSpc>
                <a:spcPts val="1250"/>
              </a:lnSpc>
              <a:buNone/>
            </a:pPr>
            <a:r>
              <a:rPr lang="en-US" sz="1000" b="1" dirty="0">
                <a:solidFill>
                  <a:srgbClr val="272525"/>
                </a:solidFill>
                <a:latin typeface="Petrona Bold" pitchFamily="34" charset="0"/>
                <a:ea typeface="Petrona Bold" pitchFamily="34" charset="-122"/>
                <a:cs typeface="Petrona Bold" pitchFamily="34" charset="-120"/>
              </a:rPr>
              <a:t>System Design</a:t>
            </a:r>
            <a:endParaRPr lang="en-US" sz="1000" dirty="0"/>
          </a:p>
        </p:txBody>
      </p:sp>
      <p:sp>
        <p:nvSpPr>
          <p:cNvPr id="13" name="Text 9"/>
          <p:cNvSpPr/>
          <p:nvPr/>
        </p:nvSpPr>
        <p:spPr>
          <a:xfrm>
            <a:off x="1197992" y="2120726"/>
            <a:ext cx="7271445" cy="284113"/>
          </a:xfrm>
          <a:prstGeom prst="rect">
            <a:avLst/>
          </a:prstGeom>
          <a:noFill/>
          <a:ln/>
        </p:spPr>
        <p:txBody>
          <a:bodyPr wrap="square" lIns="0" tIns="0" rIns="0" bIns="0" rtlCol="0" anchor="t"/>
          <a:lstStyle/>
          <a:p>
            <a:pPr marL="0" indent="0" algn="l">
              <a:lnSpc>
                <a:spcPts val="1100"/>
              </a:lnSpc>
              <a:buNone/>
            </a:pPr>
            <a:r>
              <a:rPr lang="en-US" sz="750" dirty="0">
                <a:solidFill>
                  <a:srgbClr val="272525"/>
                </a:solidFill>
                <a:latin typeface="Inter" pitchFamily="34" charset="0"/>
                <a:ea typeface="Inter" pitchFamily="34" charset="-122"/>
                <a:cs typeface="Inter" pitchFamily="34" charset="-120"/>
              </a:rPr>
              <a:t>Creation of detailed architectural blueprints using UML class diagrams, sequence diagrams, and activity diagrams. Data flow diagrams map information movement. Interface mockups establish user experience standards.</a:t>
            </a:r>
            <a:endParaRPr lang="en-US" sz="750" dirty="0"/>
          </a:p>
        </p:txBody>
      </p:sp>
      <p:sp>
        <p:nvSpPr>
          <p:cNvPr id="14" name="Shape 10"/>
          <p:cNvSpPr/>
          <p:nvPr/>
        </p:nvSpPr>
        <p:spPr>
          <a:xfrm>
            <a:off x="1069851" y="2730624"/>
            <a:ext cx="98822" cy="542776"/>
          </a:xfrm>
          <a:prstGeom prst="roundRect">
            <a:avLst>
              <a:gd name="adj" fmla="val 42012"/>
            </a:avLst>
          </a:prstGeom>
          <a:solidFill>
            <a:srgbClr val="CCEEFF"/>
          </a:solidFill>
          <a:ln w="4763">
            <a:solidFill>
              <a:srgbClr val="B2D4E5"/>
            </a:solidFill>
            <a:prstDash val="solid"/>
          </a:ln>
        </p:spPr>
      </p:sp>
      <p:sp>
        <p:nvSpPr>
          <p:cNvPr id="15" name="Shape 11"/>
          <p:cNvSpPr/>
          <p:nvPr/>
        </p:nvSpPr>
        <p:spPr>
          <a:xfrm>
            <a:off x="971029" y="2665735"/>
            <a:ext cx="296540" cy="296540"/>
          </a:xfrm>
          <a:prstGeom prst="roundRect">
            <a:avLst>
              <a:gd name="adj" fmla="val 96361"/>
            </a:avLst>
          </a:prstGeom>
          <a:solidFill>
            <a:srgbClr val="CCEEFF"/>
          </a:solidFill>
          <a:ln w="4763">
            <a:solidFill>
              <a:srgbClr val="B2D4E5"/>
            </a:solidFill>
            <a:prstDash val="solid"/>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45146" y="2739926"/>
            <a:ext cx="148233" cy="148233"/>
          </a:xfrm>
          <a:prstGeom prst="rect">
            <a:avLst/>
          </a:prstGeom>
        </p:spPr>
      </p:pic>
      <p:sp>
        <p:nvSpPr>
          <p:cNvPr id="17" name="Text 12"/>
          <p:cNvSpPr/>
          <p:nvPr/>
        </p:nvSpPr>
        <p:spPr>
          <a:xfrm>
            <a:off x="1346299" y="2681213"/>
            <a:ext cx="1297335" cy="162074"/>
          </a:xfrm>
          <a:prstGeom prst="rect">
            <a:avLst/>
          </a:prstGeom>
          <a:noFill/>
          <a:ln/>
        </p:spPr>
        <p:txBody>
          <a:bodyPr wrap="none" lIns="0" tIns="0" rIns="0" bIns="0" rtlCol="0" anchor="t"/>
          <a:lstStyle/>
          <a:p>
            <a:pPr marL="0" indent="0" algn="l">
              <a:lnSpc>
                <a:spcPts val="1250"/>
              </a:lnSpc>
              <a:buNone/>
            </a:pPr>
            <a:r>
              <a:rPr lang="en-US" sz="1000" b="1" dirty="0">
                <a:solidFill>
                  <a:srgbClr val="272525"/>
                </a:solidFill>
                <a:latin typeface="Petrona Bold" pitchFamily="34" charset="0"/>
                <a:ea typeface="Petrona Bold" pitchFamily="34" charset="-122"/>
                <a:cs typeface="Petrona Bold" pitchFamily="34" charset="-120"/>
              </a:rPr>
              <a:t>Development Phase</a:t>
            </a:r>
            <a:endParaRPr lang="en-US" sz="1000" dirty="0"/>
          </a:p>
        </p:txBody>
      </p:sp>
      <p:sp>
        <p:nvSpPr>
          <p:cNvPr id="18" name="Text 13"/>
          <p:cNvSpPr/>
          <p:nvPr/>
        </p:nvSpPr>
        <p:spPr>
          <a:xfrm>
            <a:off x="1346299" y="2890540"/>
            <a:ext cx="7123137" cy="284113"/>
          </a:xfrm>
          <a:prstGeom prst="rect">
            <a:avLst/>
          </a:prstGeom>
          <a:noFill/>
          <a:ln/>
        </p:spPr>
        <p:txBody>
          <a:bodyPr wrap="square" lIns="0" tIns="0" rIns="0" bIns="0" rtlCol="0" anchor="t"/>
          <a:lstStyle/>
          <a:p>
            <a:pPr marL="0" indent="0" algn="l">
              <a:lnSpc>
                <a:spcPts val="1100"/>
              </a:lnSpc>
              <a:buNone/>
            </a:pPr>
            <a:r>
              <a:rPr lang="en-US" sz="750" dirty="0">
                <a:solidFill>
                  <a:srgbClr val="272525"/>
                </a:solidFill>
                <a:latin typeface="Inter" pitchFamily="34" charset="0"/>
                <a:ea typeface="Inter" pitchFamily="34" charset="-122"/>
                <a:cs typeface="Inter" pitchFamily="34" charset="-120"/>
              </a:rPr>
              <a:t>Iterative implementation of frontend interfaces using responsive frameworks and backend services with secure API endpoints. Database schema construction follows normalization principles. Version control manages codebase.</a:t>
            </a:r>
            <a:endParaRPr lang="en-US" sz="750" dirty="0"/>
          </a:p>
        </p:txBody>
      </p:sp>
      <p:sp>
        <p:nvSpPr>
          <p:cNvPr id="19" name="Shape 14"/>
          <p:cNvSpPr/>
          <p:nvPr/>
        </p:nvSpPr>
        <p:spPr>
          <a:xfrm>
            <a:off x="1218084" y="3500438"/>
            <a:ext cx="98822" cy="542776"/>
          </a:xfrm>
          <a:prstGeom prst="roundRect">
            <a:avLst>
              <a:gd name="adj" fmla="val 42012"/>
            </a:avLst>
          </a:prstGeom>
          <a:solidFill>
            <a:srgbClr val="CCEEFF"/>
          </a:solidFill>
          <a:ln w="4763">
            <a:solidFill>
              <a:srgbClr val="B2D4E5"/>
            </a:solidFill>
            <a:prstDash val="solid"/>
          </a:ln>
        </p:spPr>
      </p:sp>
      <p:sp>
        <p:nvSpPr>
          <p:cNvPr id="20" name="Shape 15"/>
          <p:cNvSpPr/>
          <p:nvPr/>
        </p:nvSpPr>
        <p:spPr>
          <a:xfrm>
            <a:off x="1119262" y="3435548"/>
            <a:ext cx="296540" cy="296540"/>
          </a:xfrm>
          <a:prstGeom prst="roundRect">
            <a:avLst>
              <a:gd name="adj" fmla="val 96361"/>
            </a:avLst>
          </a:prstGeom>
          <a:solidFill>
            <a:srgbClr val="CCEEFF"/>
          </a:solidFill>
          <a:ln w="4763">
            <a:solidFill>
              <a:srgbClr val="B2D4E5"/>
            </a:solidFill>
            <a:prstDash val="solid"/>
          </a:ln>
        </p:spPr>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93378" y="3509739"/>
            <a:ext cx="148233" cy="148233"/>
          </a:xfrm>
          <a:prstGeom prst="rect">
            <a:avLst/>
          </a:prstGeom>
        </p:spPr>
      </p:pic>
      <p:sp>
        <p:nvSpPr>
          <p:cNvPr id="22" name="Text 16"/>
          <p:cNvSpPr/>
          <p:nvPr/>
        </p:nvSpPr>
        <p:spPr>
          <a:xfrm>
            <a:off x="1494532" y="3451027"/>
            <a:ext cx="1297335" cy="162074"/>
          </a:xfrm>
          <a:prstGeom prst="rect">
            <a:avLst/>
          </a:prstGeom>
          <a:noFill/>
          <a:ln/>
        </p:spPr>
        <p:txBody>
          <a:bodyPr wrap="none" lIns="0" tIns="0" rIns="0" bIns="0" rtlCol="0" anchor="t"/>
          <a:lstStyle/>
          <a:p>
            <a:pPr marL="0" indent="0" algn="l">
              <a:lnSpc>
                <a:spcPts val="1250"/>
              </a:lnSpc>
              <a:buNone/>
            </a:pPr>
            <a:r>
              <a:rPr lang="en-US" sz="1000" b="1" dirty="0">
                <a:solidFill>
                  <a:srgbClr val="272525"/>
                </a:solidFill>
                <a:latin typeface="Petrona Bold" pitchFamily="34" charset="0"/>
                <a:ea typeface="Petrona Bold" pitchFamily="34" charset="-122"/>
                <a:cs typeface="Petrona Bold" pitchFamily="34" charset="-120"/>
              </a:rPr>
              <a:t>Testing Procedures</a:t>
            </a:r>
            <a:endParaRPr lang="en-US" sz="1000" dirty="0"/>
          </a:p>
        </p:txBody>
      </p:sp>
      <p:sp>
        <p:nvSpPr>
          <p:cNvPr id="23" name="Text 17"/>
          <p:cNvSpPr/>
          <p:nvPr/>
        </p:nvSpPr>
        <p:spPr>
          <a:xfrm>
            <a:off x="1494532" y="3660353"/>
            <a:ext cx="6974904" cy="284113"/>
          </a:xfrm>
          <a:prstGeom prst="rect">
            <a:avLst/>
          </a:prstGeom>
          <a:noFill/>
          <a:ln/>
        </p:spPr>
        <p:txBody>
          <a:bodyPr wrap="square" lIns="0" tIns="0" rIns="0" bIns="0" rtlCol="0" anchor="t"/>
          <a:lstStyle/>
          <a:p>
            <a:pPr marL="0" indent="0" algn="l">
              <a:lnSpc>
                <a:spcPts val="1100"/>
              </a:lnSpc>
              <a:buNone/>
            </a:pPr>
            <a:r>
              <a:rPr lang="en-US" sz="750" dirty="0">
                <a:solidFill>
                  <a:srgbClr val="272525"/>
                </a:solidFill>
                <a:latin typeface="Inter" pitchFamily="34" charset="0"/>
                <a:ea typeface="Inter" pitchFamily="34" charset="-122"/>
                <a:cs typeface="Inter" pitchFamily="34" charset="-120"/>
              </a:rPr>
              <a:t>Unit testing validates individual components. Integration testing ensures modules work together. System testing verifies complete functionality. User acceptance testing confirms platform meets real-world requirements.</a:t>
            </a:r>
            <a:endParaRPr lang="en-US" sz="750" dirty="0"/>
          </a:p>
        </p:txBody>
      </p:sp>
      <p:sp>
        <p:nvSpPr>
          <p:cNvPr id="24" name="Shape 18"/>
          <p:cNvSpPr/>
          <p:nvPr/>
        </p:nvSpPr>
        <p:spPr>
          <a:xfrm>
            <a:off x="1069851" y="4270251"/>
            <a:ext cx="98822" cy="542776"/>
          </a:xfrm>
          <a:prstGeom prst="roundRect">
            <a:avLst>
              <a:gd name="adj" fmla="val 42012"/>
            </a:avLst>
          </a:prstGeom>
          <a:solidFill>
            <a:srgbClr val="CCEEFF"/>
          </a:solidFill>
          <a:ln w="4763">
            <a:solidFill>
              <a:srgbClr val="B2D4E5"/>
            </a:solidFill>
            <a:prstDash val="solid"/>
          </a:ln>
        </p:spPr>
      </p:sp>
      <p:sp>
        <p:nvSpPr>
          <p:cNvPr id="25" name="Shape 19"/>
          <p:cNvSpPr/>
          <p:nvPr/>
        </p:nvSpPr>
        <p:spPr>
          <a:xfrm>
            <a:off x="971029" y="4205362"/>
            <a:ext cx="296540" cy="296540"/>
          </a:xfrm>
          <a:prstGeom prst="roundRect">
            <a:avLst>
              <a:gd name="adj" fmla="val 96361"/>
            </a:avLst>
          </a:prstGeom>
          <a:solidFill>
            <a:srgbClr val="CCEEFF"/>
          </a:solidFill>
          <a:ln w="4763">
            <a:solidFill>
              <a:srgbClr val="B2D4E5"/>
            </a:solidFill>
            <a:prstDash val="solid"/>
          </a:ln>
        </p:spPr>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45146" y="4279553"/>
            <a:ext cx="148233" cy="148233"/>
          </a:xfrm>
          <a:prstGeom prst="rect">
            <a:avLst/>
          </a:prstGeom>
        </p:spPr>
      </p:pic>
      <p:sp>
        <p:nvSpPr>
          <p:cNvPr id="27" name="Text 20"/>
          <p:cNvSpPr/>
          <p:nvPr/>
        </p:nvSpPr>
        <p:spPr>
          <a:xfrm>
            <a:off x="1346299" y="4220840"/>
            <a:ext cx="1297335" cy="162074"/>
          </a:xfrm>
          <a:prstGeom prst="rect">
            <a:avLst/>
          </a:prstGeom>
          <a:noFill/>
          <a:ln/>
        </p:spPr>
        <p:txBody>
          <a:bodyPr wrap="none" lIns="0" tIns="0" rIns="0" bIns="0" rtlCol="0" anchor="t"/>
          <a:lstStyle/>
          <a:p>
            <a:pPr marL="0" indent="0" algn="l">
              <a:lnSpc>
                <a:spcPts val="1250"/>
              </a:lnSpc>
              <a:buNone/>
            </a:pPr>
            <a:r>
              <a:rPr lang="en-US" sz="1000" b="1" dirty="0">
                <a:solidFill>
                  <a:srgbClr val="272525"/>
                </a:solidFill>
                <a:latin typeface="Petrona Bold" pitchFamily="34" charset="0"/>
                <a:ea typeface="Petrona Bold" pitchFamily="34" charset="-122"/>
                <a:cs typeface="Petrona Bold" pitchFamily="34" charset="-120"/>
              </a:rPr>
              <a:t>Deployment</a:t>
            </a:r>
            <a:endParaRPr lang="en-US" sz="1000" dirty="0"/>
          </a:p>
        </p:txBody>
      </p:sp>
      <p:sp>
        <p:nvSpPr>
          <p:cNvPr id="28" name="Text 21"/>
          <p:cNvSpPr/>
          <p:nvPr/>
        </p:nvSpPr>
        <p:spPr>
          <a:xfrm>
            <a:off x="1346299" y="4430167"/>
            <a:ext cx="7123137" cy="284113"/>
          </a:xfrm>
          <a:prstGeom prst="rect">
            <a:avLst/>
          </a:prstGeom>
          <a:noFill/>
          <a:ln/>
        </p:spPr>
        <p:txBody>
          <a:bodyPr wrap="square" lIns="0" tIns="0" rIns="0" bIns="0" rtlCol="0" anchor="t"/>
          <a:lstStyle/>
          <a:p>
            <a:pPr marL="0" indent="0" algn="l">
              <a:lnSpc>
                <a:spcPts val="1100"/>
              </a:lnSpc>
              <a:buNone/>
            </a:pPr>
            <a:r>
              <a:rPr lang="en-US" sz="750" dirty="0">
                <a:solidFill>
                  <a:srgbClr val="272525"/>
                </a:solidFill>
                <a:latin typeface="Inter" pitchFamily="34" charset="0"/>
                <a:ea typeface="Inter" pitchFamily="34" charset="-122"/>
                <a:cs typeface="Inter" pitchFamily="34" charset="-120"/>
              </a:rPr>
              <a:t>Production environment setup with server configuration, domain registration, SSL certificate installation, and initial content population. Monitoring systems track performance and error conditions.</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88379" y="359569"/>
            <a:ext cx="3205311" cy="400571"/>
          </a:xfrm>
          <a:prstGeom prst="rect">
            <a:avLst/>
          </a:prstGeom>
          <a:noFill/>
          <a:ln/>
        </p:spPr>
        <p:txBody>
          <a:bodyPr wrap="none" lIns="0" tIns="0" rIns="0" bIns="0" rtlCol="0" anchor="t"/>
          <a:lstStyle/>
          <a:p>
            <a:pPr marL="0" indent="0" algn="l">
              <a:lnSpc>
                <a:spcPts val="3150"/>
              </a:lnSpc>
              <a:buNone/>
            </a:pPr>
            <a:r>
              <a:rPr lang="en-US" sz="2500" b="1" dirty="0">
                <a:solidFill>
                  <a:srgbClr val="000000"/>
                </a:solidFill>
                <a:latin typeface="Petrona Bold" pitchFamily="34" charset="0"/>
                <a:ea typeface="Petrona Bold" pitchFamily="34" charset="-122"/>
                <a:cs typeface="Petrona Bold" pitchFamily="34" charset="-120"/>
              </a:rPr>
              <a:t>Tools &amp; Technologies</a:t>
            </a:r>
            <a:endParaRPr lang="en-US" sz="2500" dirty="0"/>
          </a:p>
        </p:txBody>
      </p:sp>
      <p:sp>
        <p:nvSpPr>
          <p:cNvPr id="4" name="Text 1"/>
          <p:cNvSpPr/>
          <p:nvPr/>
        </p:nvSpPr>
        <p:spPr>
          <a:xfrm>
            <a:off x="488379" y="1060549"/>
            <a:ext cx="1923157" cy="240357"/>
          </a:xfrm>
          <a:prstGeom prst="rect">
            <a:avLst/>
          </a:prstGeom>
          <a:noFill/>
          <a:ln/>
        </p:spPr>
        <p:txBody>
          <a:bodyPr wrap="none" lIns="0" tIns="0" rIns="0" bIns="0" rtlCol="0" anchor="t"/>
          <a:lstStyle/>
          <a:p>
            <a:pPr marL="0" indent="0" algn="l">
              <a:lnSpc>
                <a:spcPts val="1850"/>
              </a:lnSpc>
              <a:buNone/>
            </a:pPr>
            <a:r>
              <a:rPr lang="en-US" sz="1500" b="1" dirty="0">
                <a:solidFill>
                  <a:srgbClr val="000000"/>
                </a:solidFill>
                <a:latin typeface="Petrona Bold" pitchFamily="34" charset="0"/>
                <a:ea typeface="Petrona Bold" pitchFamily="34" charset="-122"/>
                <a:cs typeface="Petrona Bold" pitchFamily="34" charset="-120"/>
              </a:rPr>
              <a:t>Frontend Stack</a:t>
            </a:r>
            <a:endParaRPr lang="en-US" sz="1500" dirty="0"/>
          </a:p>
        </p:txBody>
      </p:sp>
      <p:sp>
        <p:nvSpPr>
          <p:cNvPr id="5" name="Text 2"/>
          <p:cNvSpPr/>
          <p:nvPr/>
        </p:nvSpPr>
        <p:spPr>
          <a:xfrm>
            <a:off x="488379" y="1421085"/>
            <a:ext cx="2220218" cy="1441028"/>
          </a:xfrm>
          <a:prstGeom prst="rect">
            <a:avLst/>
          </a:prstGeom>
          <a:noFill/>
          <a:ln/>
        </p:spPr>
        <p:txBody>
          <a:bodyPr wrap="square" lIns="0" tIns="0" rIns="0" bIns="0" rtlCol="0" anchor="t"/>
          <a:lstStyle/>
          <a:p>
            <a:pPr marL="342900" indent="-342900" algn="l">
              <a:lnSpc>
                <a:spcPts val="1500"/>
              </a:lnSpc>
              <a:buSzPct val="100000"/>
              <a:buChar char="•"/>
            </a:pPr>
            <a:r>
              <a:rPr lang="en-US" sz="950" b="1" dirty="0">
                <a:solidFill>
                  <a:srgbClr val="272525"/>
                </a:solidFill>
                <a:latin typeface="Inter" pitchFamily="34" charset="0"/>
                <a:ea typeface="Inter" pitchFamily="34" charset="-122"/>
                <a:cs typeface="Inter" pitchFamily="34" charset="-120"/>
              </a:rPr>
              <a:t>HTML5:</a:t>
            </a:r>
            <a:r>
              <a:rPr lang="en-US" sz="950" dirty="0">
                <a:solidFill>
                  <a:srgbClr val="272525"/>
                </a:solidFill>
                <a:latin typeface="Inter" pitchFamily="34" charset="0"/>
                <a:ea typeface="Inter" pitchFamily="34" charset="-122"/>
                <a:cs typeface="Inter" pitchFamily="34" charset="-120"/>
              </a:rPr>
              <a:t> Semantic markup for accessible, SEO-friendly structure</a:t>
            </a:r>
            <a:endParaRPr lang="en-US" sz="950" dirty="0"/>
          </a:p>
          <a:p>
            <a:pPr marL="342900" indent="-342900" algn="l">
              <a:lnSpc>
                <a:spcPts val="1500"/>
              </a:lnSpc>
              <a:buSzPct val="100000"/>
              <a:buChar char="•"/>
            </a:pPr>
            <a:r>
              <a:rPr lang="en-US" sz="950" b="1" dirty="0">
                <a:solidFill>
                  <a:srgbClr val="272525"/>
                </a:solidFill>
                <a:latin typeface="Inter" pitchFamily="34" charset="0"/>
                <a:ea typeface="Inter" pitchFamily="34" charset="-122"/>
                <a:cs typeface="Inter" pitchFamily="34" charset="-120"/>
              </a:rPr>
              <a:t>CSS3:</a:t>
            </a:r>
            <a:r>
              <a:rPr lang="en-US" sz="950" dirty="0">
                <a:solidFill>
                  <a:srgbClr val="272525"/>
                </a:solidFill>
                <a:latin typeface="Inter" pitchFamily="34" charset="0"/>
                <a:ea typeface="Inter" pitchFamily="34" charset="-122"/>
                <a:cs typeface="Inter" pitchFamily="34" charset="-120"/>
              </a:rPr>
              <a:t> Styling with responsive design principles and animations</a:t>
            </a:r>
            <a:endParaRPr lang="en-US" sz="950" dirty="0"/>
          </a:p>
          <a:p>
            <a:pPr marL="342900" indent="-342900" algn="l">
              <a:lnSpc>
                <a:spcPts val="1500"/>
              </a:lnSpc>
              <a:buSzPct val="100000"/>
              <a:buChar char="•"/>
            </a:pPr>
            <a:r>
              <a:rPr lang="en-US" sz="950" b="1" dirty="0">
                <a:solidFill>
                  <a:srgbClr val="272525"/>
                </a:solidFill>
                <a:latin typeface="Inter" pitchFamily="34" charset="0"/>
                <a:ea typeface="Inter" pitchFamily="34" charset="-122"/>
                <a:cs typeface="Inter" pitchFamily="34" charset="-120"/>
              </a:rPr>
              <a:t>JavaScript:</a:t>
            </a:r>
            <a:r>
              <a:rPr lang="en-US" sz="950" dirty="0">
                <a:solidFill>
                  <a:srgbClr val="272525"/>
                </a:solidFill>
                <a:latin typeface="Inter" pitchFamily="34" charset="0"/>
                <a:ea typeface="Inter" pitchFamily="34" charset="-122"/>
                <a:cs typeface="Inter" pitchFamily="34" charset="-120"/>
              </a:rPr>
              <a:t> Interactive functionality with ES6+ features and DOM manipulation</a:t>
            </a:r>
            <a:endParaRPr lang="en-US" sz="950" dirty="0"/>
          </a:p>
        </p:txBody>
      </p:sp>
      <p:sp>
        <p:nvSpPr>
          <p:cNvPr id="6" name="Text 3"/>
          <p:cNvSpPr/>
          <p:nvPr/>
        </p:nvSpPr>
        <p:spPr>
          <a:xfrm>
            <a:off x="488379" y="2982292"/>
            <a:ext cx="2065213" cy="240357"/>
          </a:xfrm>
          <a:prstGeom prst="rect">
            <a:avLst/>
          </a:prstGeom>
          <a:noFill/>
          <a:ln/>
        </p:spPr>
        <p:txBody>
          <a:bodyPr wrap="none" lIns="0" tIns="0" rIns="0" bIns="0" rtlCol="0" anchor="t"/>
          <a:lstStyle/>
          <a:p>
            <a:pPr marL="0" indent="0" algn="l">
              <a:lnSpc>
                <a:spcPts val="1850"/>
              </a:lnSpc>
              <a:buNone/>
            </a:pPr>
            <a:r>
              <a:rPr lang="en-US" sz="1500" b="1" dirty="0">
                <a:solidFill>
                  <a:srgbClr val="000000"/>
                </a:solidFill>
                <a:latin typeface="Petrona Bold" pitchFamily="34" charset="0"/>
                <a:ea typeface="Petrona Bold" pitchFamily="34" charset="-122"/>
                <a:cs typeface="Petrona Bold" pitchFamily="34" charset="-120"/>
              </a:rPr>
              <a:t>Backend Infrastructure</a:t>
            </a:r>
            <a:endParaRPr lang="en-US" sz="1500" dirty="0"/>
          </a:p>
        </p:txBody>
      </p:sp>
      <p:sp>
        <p:nvSpPr>
          <p:cNvPr id="7" name="Text 4"/>
          <p:cNvSpPr/>
          <p:nvPr/>
        </p:nvSpPr>
        <p:spPr>
          <a:xfrm>
            <a:off x="488379" y="3342829"/>
            <a:ext cx="2220218" cy="1398984"/>
          </a:xfrm>
          <a:prstGeom prst="rect">
            <a:avLst/>
          </a:prstGeom>
          <a:noFill/>
          <a:ln/>
        </p:spPr>
        <p:txBody>
          <a:bodyPr wrap="square" lIns="0" tIns="0" rIns="0" bIns="0" rtlCol="0" anchor="t"/>
          <a:lstStyle/>
          <a:p>
            <a:pPr marL="342900" indent="-342900" algn="l">
              <a:lnSpc>
                <a:spcPts val="1500"/>
              </a:lnSpc>
              <a:buSzPct val="100000"/>
              <a:buChar char="•"/>
            </a:pPr>
            <a:r>
              <a:rPr lang="en-US" sz="950" b="1" dirty="0">
                <a:solidFill>
                  <a:srgbClr val="272525"/>
                </a:solidFill>
                <a:latin typeface="Inter" pitchFamily="34" charset="0"/>
                <a:ea typeface="Inter" pitchFamily="34" charset="-122"/>
                <a:cs typeface="Inter" pitchFamily="34" charset="-120"/>
              </a:rPr>
              <a:t>Java/Node.js:</a:t>
            </a:r>
            <a:r>
              <a:rPr lang="en-US" sz="950" dirty="0">
                <a:solidFill>
                  <a:srgbClr val="272525"/>
                </a:solidFill>
                <a:latin typeface="Inter" pitchFamily="34" charset="0"/>
                <a:ea typeface="Inter" pitchFamily="34" charset="-122"/>
                <a:cs typeface="Inter" pitchFamily="34" charset="-120"/>
              </a:rPr>
              <a:t> Server-side logic with robust frameworks for handling requests and business operations</a:t>
            </a:r>
            <a:endParaRPr lang="en-US" sz="950" dirty="0"/>
          </a:p>
          <a:p>
            <a:pPr marL="342900" indent="-342900" algn="l">
              <a:lnSpc>
                <a:spcPts val="1500"/>
              </a:lnSpc>
              <a:buSzPct val="100000"/>
              <a:buChar char="•"/>
            </a:pPr>
            <a:r>
              <a:rPr lang="en-US" sz="950" b="1" dirty="0">
                <a:solidFill>
                  <a:srgbClr val="272525"/>
                </a:solidFill>
                <a:latin typeface="Inter" pitchFamily="34" charset="0"/>
                <a:ea typeface="Inter" pitchFamily="34" charset="-122"/>
                <a:cs typeface="Inter" pitchFamily="34" charset="-120"/>
              </a:rPr>
              <a:t>MySQL:</a:t>
            </a:r>
            <a:r>
              <a:rPr lang="en-US" sz="950" dirty="0">
                <a:solidFill>
                  <a:srgbClr val="272525"/>
                </a:solidFill>
                <a:latin typeface="Inter" pitchFamily="34" charset="0"/>
                <a:ea typeface="Inter" pitchFamily="34" charset="-122"/>
                <a:cs typeface="Inter" pitchFamily="34" charset="-120"/>
              </a:rPr>
              <a:t> Relational database for structured data storage with ACID compliance</a:t>
            </a:r>
            <a:endParaRPr lang="en-US" sz="950" dirty="0"/>
          </a:p>
        </p:txBody>
      </p:sp>
      <p:sp>
        <p:nvSpPr>
          <p:cNvPr id="8" name="Text 5"/>
          <p:cNvSpPr/>
          <p:nvPr/>
        </p:nvSpPr>
        <p:spPr>
          <a:xfrm>
            <a:off x="3011165" y="1060549"/>
            <a:ext cx="2220218" cy="480715"/>
          </a:xfrm>
          <a:prstGeom prst="rect">
            <a:avLst/>
          </a:prstGeom>
          <a:noFill/>
          <a:ln/>
        </p:spPr>
        <p:txBody>
          <a:bodyPr wrap="square" lIns="0" tIns="0" rIns="0" bIns="0" rtlCol="0" anchor="t"/>
          <a:lstStyle/>
          <a:p>
            <a:pPr marL="0" indent="0" algn="l">
              <a:lnSpc>
                <a:spcPts val="1850"/>
              </a:lnSpc>
              <a:buNone/>
            </a:pPr>
            <a:r>
              <a:rPr lang="en-US" sz="1500" b="1" dirty="0">
                <a:solidFill>
                  <a:srgbClr val="000000"/>
                </a:solidFill>
                <a:latin typeface="Petrona Bold" pitchFamily="34" charset="0"/>
                <a:ea typeface="Petrona Bold" pitchFamily="34" charset="-122"/>
                <a:cs typeface="Petrona Bold" pitchFamily="34" charset="-120"/>
              </a:rPr>
              <a:t>Development Environment</a:t>
            </a:r>
            <a:endParaRPr lang="en-US" sz="1500" dirty="0"/>
          </a:p>
        </p:txBody>
      </p:sp>
      <p:sp>
        <p:nvSpPr>
          <p:cNvPr id="9" name="Text 6"/>
          <p:cNvSpPr/>
          <p:nvPr/>
        </p:nvSpPr>
        <p:spPr>
          <a:xfrm>
            <a:off x="3011165" y="1661443"/>
            <a:ext cx="2220218" cy="1205136"/>
          </a:xfrm>
          <a:prstGeom prst="rect">
            <a:avLst/>
          </a:prstGeom>
          <a:noFill/>
          <a:ln/>
        </p:spPr>
        <p:txBody>
          <a:bodyPr wrap="square" lIns="0" tIns="0" rIns="0" bIns="0" rtlCol="0" anchor="t"/>
          <a:lstStyle/>
          <a:p>
            <a:pPr marL="342900" indent="-342900" algn="l">
              <a:lnSpc>
                <a:spcPts val="1500"/>
              </a:lnSpc>
              <a:buSzPct val="100000"/>
              <a:buChar char="•"/>
            </a:pPr>
            <a:r>
              <a:rPr lang="en-US" sz="950" b="1" dirty="0">
                <a:solidFill>
                  <a:srgbClr val="272525"/>
                </a:solidFill>
                <a:latin typeface="Inter" pitchFamily="34" charset="0"/>
                <a:ea typeface="Inter" pitchFamily="34" charset="-122"/>
                <a:cs typeface="Inter" pitchFamily="34" charset="-120"/>
              </a:rPr>
              <a:t>VS Code:</a:t>
            </a:r>
            <a:r>
              <a:rPr lang="en-US" sz="950" dirty="0">
                <a:solidFill>
                  <a:srgbClr val="272525"/>
                </a:solidFill>
                <a:latin typeface="Inter" pitchFamily="34" charset="0"/>
                <a:ea typeface="Inter" pitchFamily="34" charset="-122"/>
                <a:cs typeface="Inter" pitchFamily="34" charset="-120"/>
              </a:rPr>
              <a:t> Primary code editor with extensions for syntax highlighting and debugging</a:t>
            </a:r>
            <a:endParaRPr lang="en-US" sz="950" dirty="0"/>
          </a:p>
          <a:p>
            <a:pPr marL="342900" indent="-342900" algn="l">
              <a:lnSpc>
                <a:spcPts val="1500"/>
              </a:lnSpc>
              <a:buSzPct val="100000"/>
              <a:buChar char="•"/>
            </a:pPr>
            <a:r>
              <a:rPr lang="en-US" sz="950" b="1" dirty="0">
                <a:solidFill>
                  <a:srgbClr val="272525"/>
                </a:solidFill>
                <a:latin typeface="Inter" pitchFamily="34" charset="0"/>
                <a:ea typeface="Inter" pitchFamily="34" charset="-122"/>
                <a:cs typeface="Inter" pitchFamily="34" charset="-120"/>
              </a:rPr>
              <a:t>Git:</a:t>
            </a:r>
            <a:r>
              <a:rPr lang="en-US" sz="950" dirty="0">
                <a:solidFill>
                  <a:srgbClr val="272525"/>
                </a:solidFill>
                <a:latin typeface="Inter" pitchFamily="34" charset="0"/>
                <a:ea typeface="Inter" pitchFamily="34" charset="-122"/>
                <a:cs typeface="Inter" pitchFamily="34" charset="-120"/>
              </a:rPr>
              <a:t> Version control for collaborative development and change tracking</a:t>
            </a:r>
            <a:endParaRPr lang="en-US" sz="950" dirty="0"/>
          </a:p>
        </p:txBody>
      </p:sp>
      <p:sp>
        <p:nvSpPr>
          <p:cNvPr id="10" name="Text 7"/>
          <p:cNvSpPr/>
          <p:nvPr/>
        </p:nvSpPr>
        <p:spPr>
          <a:xfrm>
            <a:off x="3011165" y="2986757"/>
            <a:ext cx="2024211" cy="240357"/>
          </a:xfrm>
          <a:prstGeom prst="rect">
            <a:avLst/>
          </a:prstGeom>
          <a:noFill/>
          <a:ln/>
        </p:spPr>
        <p:txBody>
          <a:bodyPr wrap="none" lIns="0" tIns="0" rIns="0" bIns="0" rtlCol="0" anchor="t"/>
          <a:lstStyle/>
          <a:p>
            <a:pPr marL="0" indent="0" algn="l">
              <a:lnSpc>
                <a:spcPts val="1850"/>
              </a:lnSpc>
              <a:buNone/>
            </a:pPr>
            <a:r>
              <a:rPr lang="en-US" sz="1500" b="1" dirty="0">
                <a:solidFill>
                  <a:srgbClr val="000000"/>
                </a:solidFill>
                <a:latin typeface="Petrona Bold" pitchFamily="34" charset="0"/>
                <a:ea typeface="Petrona Bold" pitchFamily="34" charset="-122"/>
                <a:cs typeface="Petrona Bold" pitchFamily="34" charset="-120"/>
              </a:rPr>
              <a:t>Design Documentation</a:t>
            </a:r>
            <a:endParaRPr lang="en-US" sz="1500" dirty="0"/>
          </a:p>
        </p:txBody>
      </p:sp>
      <p:sp>
        <p:nvSpPr>
          <p:cNvPr id="11" name="Text 8"/>
          <p:cNvSpPr/>
          <p:nvPr/>
        </p:nvSpPr>
        <p:spPr>
          <a:xfrm>
            <a:off x="3011165" y="3347293"/>
            <a:ext cx="2220218" cy="1205136"/>
          </a:xfrm>
          <a:prstGeom prst="rect">
            <a:avLst/>
          </a:prstGeom>
          <a:noFill/>
          <a:ln/>
        </p:spPr>
        <p:txBody>
          <a:bodyPr wrap="square" lIns="0" tIns="0" rIns="0" bIns="0" rtlCol="0" anchor="t"/>
          <a:lstStyle/>
          <a:p>
            <a:pPr marL="342900" indent="-342900" algn="l">
              <a:lnSpc>
                <a:spcPts val="1500"/>
              </a:lnSpc>
              <a:buSzPct val="100000"/>
              <a:buChar char="•"/>
            </a:pPr>
            <a:r>
              <a:rPr lang="en-US" sz="950" b="1" dirty="0">
                <a:solidFill>
                  <a:srgbClr val="272525"/>
                </a:solidFill>
                <a:latin typeface="Inter" pitchFamily="34" charset="0"/>
                <a:ea typeface="Inter" pitchFamily="34" charset="-122"/>
                <a:cs typeface="Inter" pitchFamily="34" charset="-120"/>
              </a:rPr>
              <a:t>UML Diagrams:</a:t>
            </a:r>
            <a:r>
              <a:rPr lang="en-US" sz="950" dirty="0">
                <a:solidFill>
                  <a:srgbClr val="272525"/>
                </a:solidFill>
                <a:latin typeface="Inter" pitchFamily="34" charset="0"/>
                <a:ea typeface="Inter" pitchFamily="34" charset="-122"/>
                <a:cs typeface="Inter" pitchFamily="34" charset="-120"/>
              </a:rPr>
              <a:t> Class, sequence, and component diagrams for system architecture</a:t>
            </a:r>
            <a:endParaRPr lang="en-US" sz="950" dirty="0"/>
          </a:p>
          <a:p>
            <a:pPr marL="342900" indent="-342900" algn="l">
              <a:lnSpc>
                <a:spcPts val="1500"/>
              </a:lnSpc>
              <a:buSzPct val="100000"/>
              <a:buChar char="•"/>
            </a:pPr>
            <a:r>
              <a:rPr lang="en-US" sz="950" b="1" dirty="0">
                <a:solidFill>
                  <a:srgbClr val="272525"/>
                </a:solidFill>
                <a:latin typeface="Inter" pitchFamily="34" charset="0"/>
                <a:ea typeface="Inter" pitchFamily="34" charset="-122"/>
                <a:cs typeface="Inter" pitchFamily="34" charset="-120"/>
              </a:rPr>
              <a:t>DFD:</a:t>
            </a:r>
            <a:r>
              <a:rPr lang="en-US" sz="950" dirty="0">
                <a:solidFill>
                  <a:srgbClr val="272525"/>
                </a:solidFill>
                <a:latin typeface="Inter" pitchFamily="34" charset="0"/>
                <a:ea typeface="Inter" pitchFamily="34" charset="-122"/>
                <a:cs typeface="Inter" pitchFamily="34" charset="-120"/>
              </a:rPr>
              <a:t> Data flow diagrams illustrating information movement between system components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name="Slide 9">
    <p:spTree>
      <p:nvGrpSpPr>
        <p:cNvPr id="1" name=""/>
        <p:cNvGrpSpPr/>
        <p:nvPr/>
      </p:nvGrpSpPr>
      <p:grpSpPr>
        <a:xfrm>
          <a:off x="0" y="0"/>
          <a:ext cx="0" cy="0"/>
          <a:chOff x="0" y="0"/>
          <a:chExt cx="0" cy="0"/>
        </a:xfrm>
      </p:grpSpPr>
      <p:sp>
        <p:nvSpPr>
          <p:cNvPr id="2" name="Text 0"/>
          <p:cNvSpPr/>
          <p:nvPr/>
        </p:nvSpPr>
        <p:spPr>
          <a:xfrm>
            <a:off x="496119" y="683940"/>
            <a:ext cx="3256211" cy="407045"/>
          </a:xfrm>
          <a:prstGeom prst="rect">
            <a:avLst/>
          </a:prstGeom>
          <a:noFill/>
          <a:ln/>
        </p:spPr>
        <p:txBody>
          <a:bodyPr wrap="none" lIns="0" tIns="0" rIns="0" bIns="0" rtlCol="0" anchor="t"/>
          <a:lstStyle/>
          <a:p>
            <a:pPr marL="0" indent="0" algn="l">
              <a:lnSpc>
                <a:spcPts val="3200"/>
              </a:lnSpc>
              <a:buNone/>
            </a:pPr>
            <a:r>
              <a:rPr lang="en-US" sz="2550" b="1" dirty="0">
                <a:solidFill>
                  <a:srgbClr val="000000"/>
                </a:solidFill>
                <a:latin typeface="Petrona Bold" pitchFamily="34" charset="0"/>
                <a:ea typeface="Petrona Bold" pitchFamily="34" charset="-122"/>
                <a:cs typeface="Petrona Bold" pitchFamily="34" charset="-120"/>
              </a:rPr>
              <a:t>Expected Outcomes</a:t>
            </a:r>
            <a:endParaRPr lang="en-US" sz="2550" dirty="0"/>
          </a:p>
        </p:txBody>
      </p:sp>
      <p:sp>
        <p:nvSpPr>
          <p:cNvPr id="3" name="Shape 1"/>
          <p:cNvSpPr/>
          <p:nvPr/>
        </p:nvSpPr>
        <p:spPr>
          <a:xfrm>
            <a:off x="496119" y="1339007"/>
            <a:ext cx="4013895" cy="1130796"/>
          </a:xfrm>
          <a:prstGeom prst="roundRect">
            <a:avLst>
              <a:gd name="adj" fmla="val 4607"/>
            </a:avLst>
          </a:prstGeom>
          <a:solidFill>
            <a:srgbClr val="CCEEFF"/>
          </a:solidFill>
          <a:ln w="4763">
            <a:solidFill>
              <a:srgbClr val="B2D4E5"/>
            </a:solidFill>
            <a:prstDash val="solid"/>
          </a:ln>
        </p:spPr>
      </p:sp>
      <p:sp>
        <p:nvSpPr>
          <p:cNvPr id="4" name="Text 2"/>
          <p:cNvSpPr/>
          <p:nvPr/>
        </p:nvSpPr>
        <p:spPr>
          <a:xfrm>
            <a:off x="624855" y="1467743"/>
            <a:ext cx="2246561" cy="203522"/>
          </a:xfrm>
          <a:prstGeom prst="rect">
            <a:avLst/>
          </a:prstGeom>
          <a:noFill/>
          <a:ln/>
        </p:spPr>
        <p:txBody>
          <a:bodyPr wrap="none" lIns="0" tIns="0" rIns="0" bIns="0" rtlCol="0" anchor="t"/>
          <a:lstStyle/>
          <a:p>
            <a:pPr marL="0" indent="0" algn="l">
              <a:lnSpc>
                <a:spcPts val="1600"/>
              </a:lnSpc>
              <a:buNone/>
            </a:pPr>
            <a:r>
              <a:rPr lang="en-US" sz="1250" b="1" dirty="0">
                <a:solidFill>
                  <a:srgbClr val="272525"/>
                </a:solidFill>
                <a:latin typeface="Petrona Bold" pitchFamily="34" charset="0"/>
                <a:ea typeface="Petrona Bold" pitchFamily="34" charset="-122"/>
                <a:cs typeface="Petrona Bold" pitchFamily="34" charset="-120"/>
              </a:rPr>
              <a:t>Streamlined Content Creation</a:t>
            </a:r>
            <a:endParaRPr lang="en-US" sz="1250" dirty="0"/>
          </a:p>
        </p:txBody>
      </p:sp>
      <p:sp>
        <p:nvSpPr>
          <p:cNvPr id="5" name="Text 3"/>
          <p:cNvSpPr/>
          <p:nvPr/>
        </p:nvSpPr>
        <p:spPr>
          <a:xfrm>
            <a:off x="624855" y="1745679"/>
            <a:ext cx="3756422" cy="595387"/>
          </a:xfrm>
          <a:prstGeom prst="rect">
            <a:avLst/>
          </a:prstGeom>
          <a:noFill/>
          <a:ln/>
        </p:spPr>
        <p:txBody>
          <a:bodyPr wrap="square" lIns="0" tIns="0" rIns="0" bIns="0" rtlCol="0" anchor="t"/>
          <a:lstStyle/>
          <a:p>
            <a:pPr marL="0" indent="0" algn="l">
              <a:lnSpc>
                <a:spcPts val="1550"/>
              </a:lnSpc>
              <a:buNone/>
            </a:pPr>
            <a:r>
              <a:rPr lang="en-US" sz="950" dirty="0">
                <a:solidFill>
                  <a:srgbClr val="272525"/>
                </a:solidFill>
                <a:latin typeface="Inter" pitchFamily="34" charset="0"/>
                <a:ea typeface="Inter" pitchFamily="34" charset="-122"/>
                <a:cs typeface="Inter" pitchFamily="34" charset="-120"/>
              </a:rPr>
              <a:t>Users complete design tasks 30-40% faster by eliminating application switching and file format conversions. Integrated tools reduce repetitive manual operations.</a:t>
            </a:r>
            <a:endParaRPr lang="en-US" sz="950" dirty="0"/>
          </a:p>
        </p:txBody>
      </p:sp>
      <p:sp>
        <p:nvSpPr>
          <p:cNvPr id="6" name="Shape 4"/>
          <p:cNvSpPr/>
          <p:nvPr/>
        </p:nvSpPr>
        <p:spPr>
          <a:xfrm>
            <a:off x="4633987" y="1339007"/>
            <a:ext cx="4013895" cy="1130796"/>
          </a:xfrm>
          <a:prstGeom prst="roundRect">
            <a:avLst>
              <a:gd name="adj" fmla="val 4607"/>
            </a:avLst>
          </a:prstGeom>
          <a:solidFill>
            <a:srgbClr val="CCEEFF"/>
          </a:solidFill>
          <a:ln w="4763">
            <a:solidFill>
              <a:srgbClr val="B2D4E5"/>
            </a:solidFill>
            <a:prstDash val="solid"/>
          </a:ln>
        </p:spPr>
      </p:sp>
      <p:sp>
        <p:nvSpPr>
          <p:cNvPr id="7" name="Text 5"/>
          <p:cNvSpPr/>
          <p:nvPr/>
        </p:nvSpPr>
        <p:spPr>
          <a:xfrm>
            <a:off x="4762723" y="1467743"/>
            <a:ext cx="2258095" cy="203522"/>
          </a:xfrm>
          <a:prstGeom prst="rect">
            <a:avLst/>
          </a:prstGeom>
          <a:noFill/>
          <a:ln/>
        </p:spPr>
        <p:txBody>
          <a:bodyPr wrap="none" lIns="0" tIns="0" rIns="0" bIns="0" rtlCol="0" anchor="t"/>
          <a:lstStyle/>
          <a:p>
            <a:pPr marL="0" indent="0" algn="l">
              <a:lnSpc>
                <a:spcPts val="1600"/>
              </a:lnSpc>
              <a:buNone/>
            </a:pPr>
            <a:r>
              <a:rPr lang="en-US" sz="1250" b="1" dirty="0">
                <a:solidFill>
                  <a:srgbClr val="272525"/>
                </a:solidFill>
                <a:latin typeface="Petrona Bold" pitchFamily="34" charset="0"/>
                <a:ea typeface="Petrona Bold" pitchFamily="34" charset="-122"/>
                <a:cs typeface="Petrona Bold" pitchFamily="34" charset="-120"/>
              </a:rPr>
              <a:t>Enhanced Team Collaboration</a:t>
            </a:r>
            <a:endParaRPr lang="en-US" sz="1250" dirty="0"/>
          </a:p>
        </p:txBody>
      </p:sp>
      <p:sp>
        <p:nvSpPr>
          <p:cNvPr id="8" name="Text 6"/>
          <p:cNvSpPr/>
          <p:nvPr/>
        </p:nvSpPr>
        <p:spPr>
          <a:xfrm>
            <a:off x="4762723" y="1745679"/>
            <a:ext cx="3756422" cy="595387"/>
          </a:xfrm>
          <a:prstGeom prst="rect">
            <a:avLst/>
          </a:prstGeom>
          <a:noFill/>
          <a:ln/>
        </p:spPr>
        <p:txBody>
          <a:bodyPr wrap="square" lIns="0" tIns="0" rIns="0" bIns="0" rtlCol="0" anchor="t"/>
          <a:lstStyle/>
          <a:p>
            <a:pPr marL="0" indent="0" algn="l">
              <a:lnSpc>
                <a:spcPts val="1550"/>
              </a:lnSpc>
              <a:buNone/>
            </a:pPr>
            <a:r>
              <a:rPr lang="en-US" sz="950" dirty="0">
                <a:solidFill>
                  <a:srgbClr val="272525"/>
                </a:solidFill>
                <a:latin typeface="Inter" pitchFamily="34" charset="0"/>
                <a:ea typeface="Inter" pitchFamily="34" charset="-122"/>
                <a:cs typeface="Inter" pitchFamily="34" charset="-120"/>
              </a:rPr>
              <a:t>Real-time editing and commenting reduces project completion time by 25%. Teams achieve alignment faster with shared context and immediate feedback loops.</a:t>
            </a:r>
            <a:endParaRPr lang="en-US" sz="950" dirty="0"/>
          </a:p>
        </p:txBody>
      </p:sp>
      <p:sp>
        <p:nvSpPr>
          <p:cNvPr id="9" name="Shape 7"/>
          <p:cNvSpPr/>
          <p:nvPr/>
        </p:nvSpPr>
        <p:spPr>
          <a:xfrm>
            <a:off x="496119" y="2593777"/>
            <a:ext cx="4013895" cy="1130796"/>
          </a:xfrm>
          <a:prstGeom prst="roundRect">
            <a:avLst>
              <a:gd name="adj" fmla="val 4607"/>
            </a:avLst>
          </a:prstGeom>
          <a:solidFill>
            <a:srgbClr val="CCEEFF"/>
          </a:solidFill>
          <a:ln w="4763">
            <a:solidFill>
              <a:srgbClr val="B2D4E5"/>
            </a:solidFill>
            <a:prstDash val="solid"/>
          </a:ln>
        </p:spPr>
      </p:sp>
      <p:sp>
        <p:nvSpPr>
          <p:cNvPr id="10" name="Text 8"/>
          <p:cNvSpPr/>
          <p:nvPr/>
        </p:nvSpPr>
        <p:spPr>
          <a:xfrm>
            <a:off x="624855" y="2722513"/>
            <a:ext cx="1723504" cy="203522"/>
          </a:xfrm>
          <a:prstGeom prst="rect">
            <a:avLst/>
          </a:prstGeom>
          <a:noFill/>
          <a:ln/>
        </p:spPr>
        <p:txBody>
          <a:bodyPr wrap="none" lIns="0" tIns="0" rIns="0" bIns="0" rtlCol="0" anchor="t"/>
          <a:lstStyle/>
          <a:p>
            <a:pPr marL="0" indent="0" algn="l">
              <a:lnSpc>
                <a:spcPts val="1600"/>
              </a:lnSpc>
              <a:buNone/>
            </a:pPr>
            <a:r>
              <a:rPr lang="en-US" sz="1250" b="1" dirty="0">
                <a:solidFill>
                  <a:srgbClr val="272525"/>
                </a:solidFill>
                <a:latin typeface="Petrona Bold" pitchFamily="34" charset="0"/>
                <a:ea typeface="Petrona Bold" pitchFamily="34" charset="-122"/>
                <a:cs typeface="Petrona Bold" pitchFamily="34" charset="-120"/>
              </a:rPr>
              <a:t>Reduced Manual Effort</a:t>
            </a:r>
            <a:endParaRPr lang="en-US" sz="1250" dirty="0"/>
          </a:p>
        </p:txBody>
      </p:sp>
      <p:sp>
        <p:nvSpPr>
          <p:cNvPr id="11" name="Text 9"/>
          <p:cNvSpPr/>
          <p:nvPr/>
        </p:nvSpPr>
        <p:spPr>
          <a:xfrm>
            <a:off x="624855" y="3000449"/>
            <a:ext cx="3756422" cy="595387"/>
          </a:xfrm>
          <a:prstGeom prst="rect">
            <a:avLst/>
          </a:prstGeom>
          <a:noFill/>
          <a:ln/>
        </p:spPr>
        <p:txBody>
          <a:bodyPr wrap="square" lIns="0" tIns="0" rIns="0" bIns="0" rtlCol="0" anchor="t"/>
          <a:lstStyle/>
          <a:p>
            <a:pPr marL="0" indent="0" algn="l">
              <a:lnSpc>
                <a:spcPts val="1550"/>
              </a:lnSpc>
              <a:buNone/>
            </a:pPr>
            <a:r>
              <a:rPr lang="en-US" sz="950" dirty="0">
                <a:solidFill>
                  <a:srgbClr val="272525"/>
                </a:solidFill>
                <a:latin typeface="Inter" pitchFamily="34" charset="0"/>
                <a:ea typeface="Inter" pitchFamily="34" charset="-122"/>
                <a:cs typeface="Inter" pitchFamily="34" charset="-120"/>
              </a:rPr>
              <a:t>Automated version control, asset organization, and workflow management eliminates 15-20 hours of administrative work per project cycle.</a:t>
            </a:r>
            <a:endParaRPr lang="en-US" sz="950" dirty="0"/>
          </a:p>
        </p:txBody>
      </p:sp>
      <p:sp>
        <p:nvSpPr>
          <p:cNvPr id="12" name="Shape 10"/>
          <p:cNvSpPr/>
          <p:nvPr/>
        </p:nvSpPr>
        <p:spPr>
          <a:xfrm>
            <a:off x="4633987" y="2593777"/>
            <a:ext cx="4013895" cy="1130796"/>
          </a:xfrm>
          <a:prstGeom prst="roundRect">
            <a:avLst>
              <a:gd name="adj" fmla="val 4607"/>
            </a:avLst>
          </a:prstGeom>
          <a:solidFill>
            <a:srgbClr val="CCEEFF"/>
          </a:solidFill>
          <a:ln w="4763">
            <a:solidFill>
              <a:srgbClr val="B2D4E5"/>
            </a:solidFill>
            <a:prstDash val="solid"/>
          </a:ln>
        </p:spPr>
      </p:sp>
      <p:sp>
        <p:nvSpPr>
          <p:cNvPr id="13" name="Text 11"/>
          <p:cNvSpPr/>
          <p:nvPr/>
        </p:nvSpPr>
        <p:spPr>
          <a:xfrm>
            <a:off x="4762723" y="2722513"/>
            <a:ext cx="2303487" cy="203522"/>
          </a:xfrm>
          <a:prstGeom prst="rect">
            <a:avLst/>
          </a:prstGeom>
          <a:noFill/>
          <a:ln/>
        </p:spPr>
        <p:txBody>
          <a:bodyPr wrap="none" lIns="0" tIns="0" rIns="0" bIns="0" rtlCol="0" anchor="t"/>
          <a:lstStyle/>
          <a:p>
            <a:pPr marL="0" indent="0" algn="l">
              <a:lnSpc>
                <a:spcPts val="1600"/>
              </a:lnSpc>
              <a:buNone/>
            </a:pPr>
            <a:r>
              <a:rPr lang="en-US" sz="1250" b="1" dirty="0">
                <a:solidFill>
                  <a:srgbClr val="272525"/>
                </a:solidFill>
                <a:latin typeface="Petrona Bold" pitchFamily="34" charset="0"/>
                <a:ea typeface="Petrona Bold" pitchFamily="34" charset="-122"/>
                <a:cs typeface="Petrona Bold" pitchFamily="34" charset="-120"/>
              </a:rPr>
              <a:t>Improved Project Organization</a:t>
            </a:r>
            <a:endParaRPr lang="en-US" sz="1250" dirty="0"/>
          </a:p>
        </p:txBody>
      </p:sp>
      <p:sp>
        <p:nvSpPr>
          <p:cNvPr id="14" name="Text 12"/>
          <p:cNvSpPr/>
          <p:nvPr/>
        </p:nvSpPr>
        <p:spPr>
          <a:xfrm>
            <a:off x="4762723" y="3000449"/>
            <a:ext cx="3756422" cy="595387"/>
          </a:xfrm>
          <a:prstGeom prst="rect">
            <a:avLst/>
          </a:prstGeom>
          <a:noFill/>
          <a:ln/>
        </p:spPr>
        <p:txBody>
          <a:bodyPr wrap="square" lIns="0" tIns="0" rIns="0" bIns="0" rtlCol="0" anchor="t"/>
          <a:lstStyle/>
          <a:p>
            <a:pPr marL="0" indent="0" algn="l">
              <a:lnSpc>
                <a:spcPts val="1550"/>
              </a:lnSpc>
              <a:buNone/>
            </a:pPr>
            <a:r>
              <a:rPr lang="en-US" sz="950" dirty="0">
                <a:solidFill>
                  <a:srgbClr val="272525"/>
                </a:solidFill>
                <a:latin typeface="Inter" pitchFamily="34" charset="0"/>
                <a:ea typeface="Inter" pitchFamily="34" charset="-122"/>
                <a:cs typeface="Inter" pitchFamily="34" charset="-120"/>
              </a:rPr>
              <a:t>Centralized dashboard provides clear visibility into all active projects, deadlines, and team responsibilities. Search and filtering locate specific assets instantly.</a:t>
            </a:r>
            <a:endParaRPr lang="en-US" sz="950" dirty="0"/>
          </a:p>
        </p:txBody>
      </p:sp>
      <p:sp>
        <p:nvSpPr>
          <p:cNvPr id="15" name="Text 13"/>
          <p:cNvSpPr/>
          <p:nvPr/>
        </p:nvSpPr>
        <p:spPr>
          <a:xfrm>
            <a:off x="496119" y="3864099"/>
            <a:ext cx="8151763" cy="595387"/>
          </a:xfrm>
          <a:prstGeom prst="rect">
            <a:avLst/>
          </a:prstGeom>
          <a:noFill/>
          <a:ln/>
        </p:spPr>
        <p:txBody>
          <a:bodyPr wrap="square" lIns="0" tIns="0" rIns="0" bIns="0" rtlCol="0" anchor="t"/>
          <a:lstStyle/>
          <a:p>
            <a:pPr marL="0" indent="0" algn="l">
              <a:lnSpc>
                <a:spcPts val="1550"/>
              </a:lnSpc>
              <a:buNone/>
            </a:pPr>
            <a:r>
              <a:rPr lang="en-US" sz="950" dirty="0">
                <a:solidFill>
                  <a:srgbClr val="272525"/>
                </a:solidFill>
                <a:latin typeface="Inter" pitchFamily="34" charset="0"/>
                <a:ea typeface="Inter" pitchFamily="34" charset="-122"/>
                <a:cs typeface="Inter" pitchFamily="34" charset="-120"/>
              </a:rPr>
              <a:t>MuseCraft delivers measurable improvements across key performance metrics that matter to creative professionals. By consolidating tools, enabling collaboration, and automating administrative tasks, the platform transforms how teams approach creative work. Users report higher satisfaction, faster delivery times, and reduced frustration with technical obstacles.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name="Slide 10">
    <p:spTree>
      <p:nvGrpSpPr>
        <p:cNvPr id="1" name=""/>
        <p:cNvGrpSpPr/>
        <p:nvPr/>
      </p:nvGrpSpPr>
      <p:grpSpPr>
        <a:xfrm>
          <a:off x="0" y="0"/>
          <a:ext cx="0" cy="0"/>
          <a:chOff x="0" y="0"/>
          <a:chExt cx="0" cy="0"/>
        </a:xfrm>
      </p:grpSpPr>
      <p:sp>
        <p:nvSpPr>
          <p:cNvPr id="2" name="Text 0"/>
          <p:cNvSpPr/>
          <p:nvPr/>
        </p:nvSpPr>
        <p:spPr>
          <a:xfrm>
            <a:off x="496119" y="743099"/>
            <a:ext cx="3256211" cy="407045"/>
          </a:xfrm>
          <a:prstGeom prst="rect">
            <a:avLst/>
          </a:prstGeom>
          <a:noFill/>
          <a:ln/>
        </p:spPr>
        <p:txBody>
          <a:bodyPr wrap="none" lIns="0" tIns="0" rIns="0" bIns="0" rtlCol="0" anchor="t"/>
          <a:lstStyle/>
          <a:p>
            <a:pPr marL="0" indent="0" algn="l">
              <a:lnSpc>
                <a:spcPts val="3200"/>
              </a:lnSpc>
              <a:buNone/>
            </a:pPr>
            <a:r>
              <a:rPr lang="en-US" sz="2550" b="1" dirty="0">
                <a:solidFill>
                  <a:srgbClr val="000000"/>
                </a:solidFill>
                <a:latin typeface="Petrona Bold" pitchFamily="34" charset="0"/>
                <a:ea typeface="Petrona Bold" pitchFamily="34" charset="-122"/>
                <a:cs typeface="Petrona Bold" pitchFamily="34" charset="-120"/>
              </a:rPr>
              <a:t>Conclusion</a:t>
            </a:r>
            <a:endParaRPr lang="en-US" sz="25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413644"/>
            <a:ext cx="123974" cy="123974"/>
          </a:xfrm>
          <a:prstGeom prst="rect">
            <a:avLst/>
          </a:prstGeom>
        </p:spPr>
      </p:pic>
      <p:sp>
        <p:nvSpPr>
          <p:cNvPr id="4" name="Shape 1"/>
          <p:cNvSpPr/>
          <p:nvPr/>
        </p:nvSpPr>
        <p:spPr>
          <a:xfrm>
            <a:off x="496119" y="1594619"/>
            <a:ext cx="2634555" cy="14288"/>
          </a:xfrm>
          <a:prstGeom prst="rect">
            <a:avLst/>
          </a:prstGeom>
          <a:solidFill>
            <a:srgbClr val="007EBD"/>
          </a:solidFill>
          <a:ln/>
        </p:spPr>
      </p:sp>
      <p:sp>
        <p:nvSpPr>
          <p:cNvPr id="5" name="Text 2"/>
          <p:cNvSpPr/>
          <p:nvPr/>
        </p:nvSpPr>
        <p:spPr>
          <a:xfrm>
            <a:off x="496119" y="1685181"/>
            <a:ext cx="2502247" cy="203522"/>
          </a:xfrm>
          <a:prstGeom prst="rect">
            <a:avLst/>
          </a:prstGeom>
          <a:noFill/>
          <a:ln/>
        </p:spPr>
        <p:txBody>
          <a:bodyPr wrap="none" lIns="0" tIns="0" rIns="0" bIns="0" rtlCol="0" anchor="t"/>
          <a:lstStyle/>
          <a:p>
            <a:pPr marL="0" indent="0" algn="l">
              <a:lnSpc>
                <a:spcPts val="1600"/>
              </a:lnSpc>
              <a:buNone/>
            </a:pPr>
            <a:r>
              <a:rPr lang="en-US" sz="1250" b="1" dirty="0">
                <a:solidFill>
                  <a:srgbClr val="272525"/>
                </a:solidFill>
                <a:latin typeface="Petrona Bold" pitchFamily="34" charset="0"/>
                <a:ea typeface="Petrona Bold" pitchFamily="34" charset="-122"/>
                <a:cs typeface="Petrona Bold" pitchFamily="34" charset="-120"/>
              </a:rPr>
              <a:t>Comprehensive Creative Solution</a:t>
            </a:r>
            <a:endParaRPr lang="en-US" sz="1250" dirty="0"/>
          </a:p>
        </p:txBody>
      </p:sp>
      <p:sp>
        <p:nvSpPr>
          <p:cNvPr id="6" name="Text 3"/>
          <p:cNvSpPr/>
          <p:nvPr/>
        </p:nvSpPr>
        <p:spPr>
          <a:xfrm>
            <a:off x="496119" y="1963117"/>
            <a:ext cx="2634555" cy="793849"/>
          </a:xfrm>
          <a:prstGeom prst="rect">
            <a:avLst/>
          </a:prstGeom>
          <a:noFill/>
          <a:ln/>
        </p:spPr>
        <p:txBody>
          <a:bodyPr wrap="square" lIns="0" tIns="0" rIns="0" bIns="0" rtlCol="0" anchor="t"/>
          <a:lstStyle/>
          <a:p>
            <a:pPr marL="0" indent="0" algn="l">
              <a:lnSpc>
                <a:spcPts val="1550"/>
              </a:lnSpc>
              <a:buNone/>
            </a:pPr>
            <a:r>
              <a:rPr lang="en-US" sz="950" dirty="0">
                <a:solidFill>
                  <a:srgbClr val="272525"/>
                </a:solidFill>
                <a:latin typeface="Inter" pitchFamily="34" charset="0"/>
                <a:ea typeface="Inter" pitchFamily="34" charset="-122"/>
                <a:cs typeface="Inter" pitchFamily="34" charset="-120"/>
              </a:rPr>
              <a:t>MuseCraft integrates all essential design tools, collaboration features, and project management capabilities into a single, cohesive platform</a:t>
            </a:r>
            <a:endParaRPr lang="en-US" sz="9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54648" y="1413644"/>
            <a:ext cx="123974" cy="123974"/>
          </a:xfrm>
          <a:prstGeom prst="rect">
            <a:avLst/>
          </a:prstGeom>
        </p:spPr>
      </p:pic>
      <p:sp>
        <p:nvSpPr>
          <p:cNvPr id="8" name="Shape 4"/>
          <p:cNvSpPr/>
          <p:nvPr/>
        </p:nvSpPr>
        <p:spPr>
          <a:xfrm>
            <a:off x="3254648" y="1594619"/>
            <a:ext cx="2634630" cy="14288"/>
          </a:xfrm>
          <a:prstGeom prst="rect">
            <a:avLst/>
          </a:prstGeom>
          <a:solidFill>
            <a:srgbClr val="007EBD"/>
          </a:solidFill>
          <a:ln/>
        </p:spPr>
      </p:sp>
      <p:sp>
        <p:nvSpPr>
          <p:cNvPr id="9" name="Text 5"/>
          <p:cNvSpPr/>
          <p:nvPr/>
        </p:nvSpPr>
        <p:spPr>
          <a:xfrm>
            <a:off x="3254648" y="1685181"/>
            <a:ext cx="2014314" cy="203522"/>
          </a:xfrm>
          <a:prstGeom prst="rect">
            <a:avLst/>
          </a:prstGeom>
          <a:noFill/>
          <a:ln/>
        </p:spPr>
        <p:txBody>
          <a:bodyPr wrap="none" lIns="0" tIns="0" rIns="0" bIns="0" rtlCol="0" anchor="t"/>
          <a:lstStyle/>
          <a:p>
            <a:pPr marL="0" indent="0" algn="l">
              <a:lnSpc>
                <a:spcPts val="1600"/>
              </a:lnSpc>
              <a:buNone/>
            </a:pPr>
            <a:r>
              <a:rPr lang="en-US" sz="1250" b="1" dirty="0">
                <a:solidFill>
                  <a:srgbClr val="272525"/>
                </a:solidFill>
                <a:latin typeface="Petrona Bold" pitchFamily="34" charset="0"/>
                <a:ea typeface="Petrona Bold" pitchFamily="34" charset="-122"/>
                <a:cs typeface="Petrona Bold" pitchFamily="34" charset="-120"/>
              </a:rPr>
              <a:t>Real-World Problem Solver</a:t>
            </a:r>
            <a:endParaRPr lang="en-US" sz="1250" dirty="0"/>
          </a:p>
        </p:txBody>
      </p:sp>
      <p:sp>
        <p:nvSpPr>
          <p:cNvPr id="10" name="Text 6"/>
          <p:cNvSpPr/>
          <p:nvPr/>
        </p:nvSpPr>
        <p:spPr>
          <a:xfrm>
            <a:off x="3254648" y="1963117"/>
            <a:ext cx="2634630" cy="595387"/>
          </a:xfrm>
          <a:prstGeom prst="rect">
            <a:avLst/>
          </a:prstGeom>
          <a:noFill/>
          <a:ln/>
        </p:spPr>
        <p:txBody>
          <a:bodyPr wrap="square" lIns="0" tIns="0" rIns="0" bIns="0" rtlCol="0" anchor="t"/>
          <a:lstStyle/>
          <a:p>
            <a:pPr marL="0" indent="0" algn="l">
              <a:lnSpc>
                <a:spcPts val="1550"/>
              </a:lnSpc>
              <a:buNone/>
            </a:pPr>
            <a:r>
              <a:rPr lang="en-US" sz="950" dirty="0">
                <a:solidFill>
                  <a:srgbClr val="272525"/>
                </a:solidFill>
                <a:latin typeface="Inter" pitchFamily="34" charset="0"/>
                <a:ea typeface="Inter" pitchFamily="34" charset="-122"/>
                <a:cs typeface="Inter" pitchFamily="34" charset="-120"/>
              </a:rPr>
              <a:t>Addresses genuine pain points in creative workflows: fragmented tools, collaboration barriers, and organizational chaos</a:t>
            </a:r>
            <a:endParaRPr lang="en-US" sz="95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13252" y="1413644"/>
            <a:ext cx="123974" cy="123974"/>
          </a:xfrm>
          <a:prstGeom prst="rect">
            <a:avLst/>
          </a:prstGeom>
        </p:spPr>
      </p:pic>
      <p:sp>
        <p:nvSpPr>
          <p:cNvPr id="12" name="Shape 7"/>
          <p:cNvSpPr/>
          <p:nvPr/>
        </p:nvSpPr>
        <p:spPr>
          <a:xfrm>
            <a:off x="6013252" y="1594619"/>
            <a:ext cx="2634555" cy="14288"/>
          </a:xfrm>
          <a:prstGeom prst="rect">
            <a:avLst/>
          </a:prstGeom>
          <a:solidFill>
            <a:srgbClr val="007EBD"/>
          </a:solidFill>
          <a:ln/>
        </p:spPr>
      </p:sp>
      <p:sp>
        <p:nvSpPr>
          <p:cNvPr id="13" name="Text 8"/>
          <p:cNvSpPr/>
          <p:nvPr/>
        </p:nvSpPr>
        <p:spPr>
          <a:xfrm>
            <a:off x="6013252" y="1685181"/>
            <a:ext cx="1628105" cy="203522"/>
          </a:xfrm>
          <a:prstGeom prst="rect">
            <a:avLst/>
          </a:prstGeom>
          <a:noFill/>
          <a:ln/>
        </p:spPr>
        <p:txBody>
          <a:bodyPr wrap="none" lIns="0" tIns="0" rIns="0" bIns="0" rtlCol="0" anchor="t"/>
          <a:lstStyle/>
          <a:p>
            <a:pPr marL="0" indent="0" algn="l">
              <a:lnSpc>
                <a:spcPts val="1600"/>
              </a:lnSpc>
              <a:buNone/>
            </a:pPr>
            <a:r>
              <a:rPr lang="en-US" sz="1250" b="1" dirty="0">
                <a:solidFill>
                  <a:srgbClr val="272525"/>
                </a:solidFill>
                <a:latin typeface="Petrona Bold" pitchFamily="34" charset="0"/>
                <a:ea typeface="Petrona Bold" pitchFamily="34" charset="-122"/>
                <a:cs typeface="Petrona Bold" pitchFamily="34" charset="-120"/>
              </a:rPr>
              <a:t>Scalable Architecture</a:t>
            </a:r>
            <a:endParaRPr lang="en-US" sz="1250" dirty="0"/>
          </a:p>
        </p:txBody>
      </p:sp>
      <p:sp>
        <p:nvSpPr>
          <p:cNvPr id="14" name="Text 9"/>
          <p:cNvSpPr/>
          <p:nvPr/>
        </p:nvSpPr>
        <p:spPr>
          <a:xfrm>
            <a:off x="6013252" y="1963117"/>
            <a:ext cx="2634555" cy="793849"/>
          </a:xfrm>
          <a:prstGeom prst="rect">
            <a:avLst/>
          </a:prstGeom>
          <a:noFill/>
          <a:ln/>
        </p:spPr>
        <p:txBody>
          <a:bodyPr wrap="square" lIns="0" tIns="0" rIns="0" bIns="0" rtlCol="0" anchor="t"/>
          <a:lstStyle/>
          <a:p>
            <a:pPr marL="0" indent="0" algn="l">
              <a:lnSpc>
                <a:spcPts val="1550"/>
              </a:lnSpc>
              <a:buNone/>
            </a:pPr>
            <a:r>
              <a:rPr lang="en-US" sz="950" dirty="0">
                <a:solidFill>
                  <a:srgbClr val="272525"/>
                </a:solidFill>
                <a:latin typeface="Inter" pitchFamily="34" charset="0"/>
                <a:ea typeface="Inter" pitchFamily="34" charset="-122"/>
                <a:cs typeface="Inter" pitchFamily="34" charset="-120"/>
              </a:rPr>
              <a:t>Modular design accommodates growing user bases, expanding feature sets, and future technology integrations including AI and mobile platforms</a:t>
            </a:r>
            <a:endParaRPr lang="en-US" sz="950" dirty="0"/>
          </a:p>
        </p:txBody>
      </p:sp>
      <p:sp>
        <p:nvSpPr>
          <p:cNvPr id="15" name="Text 10"/>
          <p:cNvSpPr/>
          <p:nvPr/>
        </p:nvSpPr>
        <p:spPr>
          <a:xfrm>
            <a:off x="682154" y="3129037"/>
            <a:ext cx="7965728" cy="396925"/>
          </a:xfrm>
          <a:prstGeom prst="rect">
            <a:avLst/>
          </a:prstGeom>
          <a:noFill/>
          <a:ln/>
        </p:spPr>
        <p:txBody>
          <a:bodyPr wrap="square" lIns="0" tIns="0" rIns="0" bIns="0" rtlCol="0" anchor="t"/>
          <a:lstStyle/>
          <a:p>
            <a:pPr marL="0" indent="0" algn="l">
              <a:lnSpc>
                <a:spcPts val="1550"/>
              </a:lnSpc>
              <a:buNone/>
            </a:pPr>
            <a:r>
              <a:rPr lang="en-US" sz="950" i="1" dirty="0">
                <a:solidFill>
                  <a:srgbClr val="272525"/>
                </a:solidFill>
                <a:latin typeface="Inter" pitchFamily="34" charset="0"/>
                <a:ea typeface="Inter" pitchFamily="34" charset="-122"/>
                <a:cs typeface="Inter" pitchFamily="34" charset="-120"/>
              </a:rPr>
              <a:t>"MuseCraft represents a complete creative solution that solves real-world design workflow problems with a scalable and future-ready system."</a:t>
            </a:r>
            <a:endParaRPr lang="en-US" sz="950" dirty="0"/>
          </a:p>
        </p:txBody>
      </p:sp>
      <p:sp>
        <p:nvSpPr>
          <p:cNvPr id="16" name="Shape 11"/>
          <p:cNvSpPr/>
          <p:nvPr/>
        </p:nvSpPr>
        <p:spPr>
          <a:xfrm>
            <a:off x="496119" y="2989511"/>
            <a:ext cx="14288" cy="675977"/>
          </a:xfrm>
          <a:prstGeom prst="rect">
            <a:avLst/>
          </a:prstGeom>
          <a:solidFill>
            <a:srgbClr val="007EBD"/>
          </a:solidFill>
          <a:ln/>
        </p:spPr>
      </p:sp>
      <p:sp>
        <p:nvSpPr>
          <p:cNvPr id="17" name="Text 12"/>
          <p:cNvSpPr/>
          <p:nvPr/>
        </p:nvSpPr>
        <p:spPr>
          <a:xfrm>
            <a:off x="496119" y="3805014"/>
            <a:ext cx="8151763" cy="595387"/>
          </a:xfrm>
          <a:prstGeom prst="rect">
            <a:avLst/>
          </a:prstGeom>
          <a:noFill/>
          <a:ln/>
        </p:spPr>
        <p:txBody>
          <a:bodyPr wrap="square" lIns="0" tIns="0" rIns="0" bIns="0" rtlCol="0" anchor="t"/>
          <a:lstStyle/>
          <a:p>
            <a:pPr marL="0" indent="0" algn="l">
              <a:lnSpc>
                <a:spcPts val="1550"/>
              </a:lnSpc>
              <a:buNone/>
            </a:pPr>
            <a:r>
              <a:rPr lang="en-US" sz="950" dirty="0">
                <a:solidFill>
                  <a:srgbClr val="272525"/>
                </a:solidFill>
                <a:latin typeface="Inter" pitchFamily="34" charset="0"/>
                <a:ea typeface="Inter" pitchFamily="34" charset="-122"/>
                <a:cs typeface="Inter" pitchFamily="34" charset="-120"/>
              </a:rPr>
              <a:t>The platform successfully bridges the gap between powerful creative tools and accessible, collaborative workflows. By focusing on user needs, implementing robust technical architecture, and planning for future expansion, MuseCraft positions itself as a valuable resource for students, freelancers, and professional designers seeking efficiency and quality in their creative work.</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1392</Words>
  <Application>Microsoft Office PowerPoint</Application>
  <PresentationFormat>On-screen Show (16:9)</PresentationFormat>
  <Paragraphs>105</Paragraphs>
  <Slides>11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Times New Roman</vt:lpstr>
      <vt:lpstr>Inter</vt:lpstr>
      <vt:lpstr>Petrona Bold</vt:lpstr>
      <vt:lpstr>Arial</vt:lpstr>
      <vt:lpstr>Office Theme</vt:lpstr>
      <vt:lpstr>Major Project -II(CA401P) Even Semester Session 2025-26  “MuseCrafts”   Ayush Saini (202410116100046) Ashish Yadav (202410116100041) Anubhav Vaish(202410116100037)  Session:2025-2026 (IV Semester) Under the supervision of  Mr. Roshan Kumar Gupta, Mrs. Anita Yadav Department Of Computer Applications KIET GROUP OF INSTITUTIONS, DELHI-NCR, GHAZIABAD-201206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Shivani saini</dc:creator>
  <cp:lastModifiedBy>Shivani saini</cp:lastModifiedBy>
  <cp:revision>2</cp:revision>
  <dcterms:created xsi:type="dcterms:W3CDTF">2026-05-11T17:23:45Z</dcterms:created>
  <dcterms:modified xsi:type="dcterms:W3CDTF">2026-05-11T17:25:26Z</dcterms:modified>
</cp:coreProperties>
</file>